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>
  <p:sldMasterIdLst>
    <p:sldMasterId id="2147483648" r:id="rId1"/>
    <p:sldMasterId id="2147483649" r:id="rId2"/>
  </p:sldMasterIdLst>
  <p:notesMasterIdLst>
    <p:notesMasterId r:id="rId37"/>
  </p:notesMasterIdLst>
  <p:handoutMasterIdLst>
    <p:handoutMasterId r:id="rId38"/>
  </p:handoutMasterIdLst>
  <p:sldIdLst>
    <p:sldId id="256" r:id="rId3"/>
    <p:sldId id="258" r:id="rId4"/>
    <p:sldId id="287" r:id="rId5"/>
    <p:sldId id="263" r:id="rId6"/>
    <p:sldId id="264" r:id="rId7"/>
    <p:sldId id="265" r:id="rId8"/>
    <p:sldId id="266" r:id="rId9"/>
    <p:sldId id="267" r:id="rId10"/>
    <p:sldId id="288" r:id="rId11"/>
    <p:sldId id="260" r:id="rId12"/>
    <p:sldId id="261" r:id="rId13"/>
    <p:sldId id="262" r:id="rId14"/>
    <p:sldId id="268" r:id="rId15"/>
    <p:sldId id="269" r:id="rId16"/>
    <p:sldId id="289" r:id="rId17"/>
    <p:sldId id="272" r:id="rId18"/>
    <p:sldId id="270" r:id="rId19"/>
    <p:sldId id="278" r:id="rId20"/>
    <p:sldId id="273" r:id="rId21"/>
    <p:sldId id="271" r:id="rId22"/>
    <p:sldId id="274" r:id="rId23"/>
    <p:sldId id="275" r:id="rId24"/>
    <p:sldId id="276" r:id="rId25"/>
    <p:sldId id="277" r:id="rId26"/>
    <p:sldId id="279" r:id="rId27"/>
    <p:sldId id="291" r:id="rId28"/>
    <p:sldId id="282" r:id="rId29"/>
    <p:sldId id="280" r:id="rId30"/>
    <p:sldId id="281" r:id="rId31"/>
    <p:sldId id="283" r:id="rId32"/>
    <p:sldId id="284" r:id="rId33"/>
    <p:sldId id="285" r:id="rId34"/>
    <p:sldId id="286" r:id="rId35"/>
    <p:sldId id="290" r:id="rId36"/>
  </p:sldIdLst>
  <p:sldSz cx="10080625" cy="7559675"/>
  <p:notesSz cx="7772400" cy="100584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14"/>
    <p:restoredTop sz="94521"/>
  </p:normalViewPr>
  <p:slideViewPr>
    <p:cSldViewPr>
      <p:cViewPr varScale="1">
        <p:scale>
          <a:sx n="109" d="100"/>
          <a:sy n="109" d="100"/>
        </p:scale>
        <p:origin x="1072" y="18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372" y="9225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899FBA-3470-7A49-83C3-583546865B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3C047F-F5AE-2B4C-838A-3646BFBC49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92412AB5-1499-D14B-AC3A-AB4F428220B9}" type="datetimeFigureOut">
              <a:rPr lang="en-US"/>
              <a:pPr>
                <a:defRPr/>
              </a:pPr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FF2E6D-54A9-CE4F-9D08-026D948946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FD31AC-A1D7-B247-9118-E830C6E48AA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200"/>
            </a:lvl1pPr>
          </a:lstStyle>
          <a:p>
            <a:fld id="{C079702A-07E9-E54C-913C-9FCB314FA20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1">
            <a:extLst>
              <a:ext uri="{FF2B5EF4-FFF2-40B4-BE49-F238E27FC236}">
                <a16:creationId xmlns:a16="http://schemas.microsoft.com/office/drawing/2014/main" id="{D538B7E1-2DAC-7FD4-41F1-7A2B442E8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A522524B-BE49-979C-C6D9-72168A742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33686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14340" name="Text Box 3">
            <a:extLst>
              <a:ext uri="{FF2B5EF4-FFF2-40B4-BE49-F238E27FC236}">
                <a16:creationId xmlns:a16="http://schemas.microsoft.com/office/drawing/2014/main" id="{F96BA76C-3ECD-393C-B711-195EE4D46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0"/>
            <a:ext cx="33686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5E7451B3-B0D0-1B21-5DA0-0CF6B4E4DCE8}"/>
              </a:ext>
            </a:extLst>
          </p:cNvPr>
          <p:cNvSpPr>
            <a:spLocks noGrp="1" noChangeArrowheads="1"/>
          </p:cNvSpPr>
          <p:nvPr>
            <p:ph type="sldImg"/>
          </p:nvPr>
        </p:nvSpPr>
        <p:spPr bwMode="auto">
          <a:xfrm>
            <a:off x="1295400" y="754063"/>
            <a:ext cx="5180013" cy="377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C094D98A-3B8E-7E4A-ABB9-AA2438E427C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1036638" y="4776788"/>
            <a:ext cx="5697537" cy="4524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nl-BE" noProof="0"/>
          </a:p>
        </p:txBody>
      </p:sp>
      <p:sp>
        <p:nvSpPr>
          <p:cNvPr id="14343" name="Text Box 6">
            <a:extLst>
              <a:ext uri="{FF2B5EF4-FFF2-40B4-BE49-F238E27FC236}">
                <a16:creationId xmlns:a16="http://schemas.microsoft.com/office/drawing/2014/main" id="{BDFC9779-13DB-9AF8-01EB-0B8A9EDEA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555163"/>
            <a:ext cx="33686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CE5BA325-8B0C-8E4F-8DF9-33D2F033957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403725" y="9555163"/>
            <a:ext cx="3367088" cy="5016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fld id="{93E486BA-29BF-DE4A-9F41-B66EEE63D45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ＭＳ Ｐゴシック" charset="0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DE8EC3DA-E3AA-BF95-9A47-D7B7971FCC9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itchFamily="2" charset="2"/>
              <a:buNone/>
            </a:pPr>
            <a:fld id="{18913C88-13B4-484D-B945-85532BC6210E}" type="slidenum">
              <a:rPr lang="en-US" altLang="en-US"/>
              <a:pPr>
                <a:spcBef>
                  <a:spcPct val="0"/>
                </a:spcBef>
                <a:buSzPct val="45000"/>
                <a:buFont typeface="Wingdings" pitchFamily="2" charset="2"/>
                <a:buNone/>
              </a:pPr>
              <a:t>1</a:t>
            </a:fld>
            <a:endParaRPr lang="en-US" altLang="en-US"/>
          </a:p>
        </p:txBody>
      </p:sp>
      <p:sp>
        <p:nvSpPr>
          <p:cNvPr id="17411" name="Text Box 1">
            <a:extLst>
              <a:ext uri="{FF2B5EF4-FFF2-40B4-BE49-F238E27FC236}">
                <a16:creationId xmlns:a16="http://schemas.microsoft.com/office/drawing/2014/main" id="{6CAF82F9-0932-E7FC-5DB4-13C8CB154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86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spcBef>
                <a:spcPct val="0"/>
              </a:spcBef>
              <a:buSzPct val="45000"/>
              <a:buFont typeface="Wingdings" pitchFamily="2" charset="2"/>
              <a:buNone/>
            </a:pPr>
            <a:fld id="{A15A819A-C0A0-1C4B-ADDB-55A997975F2F}" type="slidenum">
              <a:rPr lang="en-US" altLang="en-US">
                <a:latin typeface="Arial" panose="020B0604020202020204" pitchFamily="34" charset="0"/>
              </a:rPr>
              <a:pPr algn="r" eaLnBrk="1">
                <a:spcBef>
                  <a:spcPct val="0"/>
                </a:spcBef>
                <a:buSzPct val="45000"/>
                <a:buFont typeface="Wingdings" pitchFamily="2" charset="2"/>
                <a:buNone/>
              </a:pPr>
              <a:t>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32752AB6-CCB1-0FFC-32A7-1004F7C62BC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371600" y="754063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F09B0088-95B6-9D0A-B567-BA72B49E235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1036638" y="4776788"/>
            <a:ext cx="5699125" cy="45275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nl-BE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>
            <a:extLst>
              <a:ext uri="{FF2B5EF4-FFF2-40B4-BE49-F238E27FC236}">
                <a16:creationId xmlns:a16="http://schemas.microsoft.com/office/drawing/2014/main" id="{FED00B6D-4D28-D224-7C36-E7B9817DAA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54063"/>
            <a:ext cx="5027613" cy="3770312"/>
          </a:xfrm>
        </p:spPr>
      </p:sp>
      <p:sp>
        <p:nvSpPr>
          <p:cNvPr id="53250" name="Notes Placeholder 2">
            <a:extLst>
              <a:ext uri="{FF2B5EF4-FFF2-40B4-BE49-F238E27FC236}">
                <a16:creationId xmlns:a16="http://schemas.microsoft.com/office/drawing/2014/main" id="{F6397CD3-41C0-6D8B-7BCA-BB5D96676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TODO: Aanpassen zoals formule op p 21. V=RotatieZ RotatieX Translatie</a:t>
            </a:r>
          </a:p>
        </p:txBody>
      </p:sp>
      <p:sp>
        <p:nvSpPr>
          <p:cNvPr id="53251" name="Slide Number Placeholder 3">
            <a:extLst>
              <a:ext uri="{FF2B5EF4-FFF2-40B4-BE49-F238E27FC236}">
                <a16:creationId xmlns:a16="http://schemas.microsoft.com/office/drawing/2014/main" id="{AB4385BE-8937-5244-B211-084E468ED68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B6B21D0-7A2F-524E-A348-AF3E3A41CA0E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C6A59D-A197-1B6F-41C0-EE70F38F49A1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B2BC7B-72AE-4166-0D60-223BB513145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891AC80-74C7-FCCB-6148-2EA93D47FCDF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470816-8DAA-4B44-A47A-A6E488245B9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60290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BE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393211-7BF0-B5BF-B356-0146C482649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D71C5B-C2A8-8D81-80A1-CEC6BC6A3C93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xfrm>
            <a:off x="4319588" y="7199313"/>
            <a:ext cx="5221287" cy="35877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E49E1E4-3334-71A5-DF24-678F2BEF2307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2BF0CD6-2E6E-8445-8006-4FE84F72891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82877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032" y="3005120"/>
            <a:ext cx="8567738" cy="1501775"/>
          </a:xfrm>
        </p:spPr>
        <p:txBody>
          <a:bodyPr anchor="t"/>
          <a:lstStyle>
            <a:lvl1pPr algn="l">
              <a:defRPr sz="3200" b="1" cap="none" baseline="0"/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032" y="135094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8FDED1-F23F-03F6-8939-B089949659F4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8F5F9B7-B736-5734-6B3E-09B34CA88490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2F275E-5EE6-C411-7344-C10FC6D27918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213C67-1620-7E46-83D7-DAA6ECE0EFB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885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260475"/>
            <a:ext cx="4440237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5875" y="1260475"/>
            <a:ext cx="4441825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216103-1865-B30E-CFE8-4A0BC9295D5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DDC272-A63F-3745-AA51-FE2383370156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C9F963-FA06-8FC0-61E2-D4E428ADB4B7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8B30C9-2153-0042-993E-1B08E6C6441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18765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04A8002-EFB7-4FEC-1106-E45767885CB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1EF7760-9413-A275-A9EE-5343576442DE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0EDD9A3-B7B8-348A-C517-752243A93E4E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00C7D1-65A7-0E4B-B422-3247F60F4CD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90408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2E9A5D0-E2D9-F5B7-BB42-A9E9013BF8A4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2C505AB-66A1-24E0-6AB3-14BC79B82FF4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E0D41B3-2D2F-C990-C407-81D018DDE553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96C0C2-9FB0-B245-A19E-74BEB68982C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85563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7367736-178D-1218-941E-79FF1669E86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0BCDA9A-214F-418A-908F-BDD53C91A7D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10AA702-D73F-7250-08DC-547ECDC4304C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ABD2E2-6EBB-7F4B-A5F3-3D5CBD3E227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89160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C9D2D1-A25F-E818-11C7-31CF4025B9E3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8F57D2-23C8-9718-E196-F33CA8CE7783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C5D67D-7F95-9029-A630-11D7EE2E030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1003F3-34A2-F64E-8500-CFFFA001954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07897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B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F92E04-DAB7-63E6-69FF-3C9853EFD873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C9811B-D35C-8887-F8AE-F7572F1D48EE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ADD07C-4710-9FD9-2A47-82C96784C5F0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D090B1-70A0-2D42-B7D9-09E296BD173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3702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7B911BA-B8B9-B9FF-94E3-B20625EBBDB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307D8F-5B1E-9C16-F181-1C51A4BC466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EA1BCDA-CAF6-5CA6-9D8A-9EBBB8292028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BC692A-46A8-D84F-B6B1-243C6C38AD8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74035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80275" y="179388"/>
            <a:ext cx="2259013" cy="6069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179388"/>
            <a:ext cx="6624637" cy="6069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9B694A0-229C-0276-9F6E-9D33149AEFAF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2B4724-64F6-9653-D524-7BFDFF5A767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A0D70E-FC8C-EF18-D5A6-E8746AABB7AF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81A795-A125-884C-9CFE-D03CB5C0386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66562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860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81078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0611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181100"/>
            <a:ext cx="4260850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1750" y="1181100"/>
            <a:ext cx="4262438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4078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53994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407707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2993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3870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B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7667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546981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600" y="76200"/>
            <a:ext cx="2170113" cy="60928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76200"/>
            <a:ext cx="6362700" cy="60928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344639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175" y="76200"/>
            <a:ext cx="7729538" cy="1174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564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72D3CF10-969E-7E11-B649-347B75995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40538"/>
            <a:ext cx="100806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D5C4BC0A-8E5F-9128-FBA3-9C7F6A76F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179388"/>
            <a:ext cx="82788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D8893CC6-8742-72B8-B0EC-9A81B451A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260475"/>
            <a:ext cx="9034462" cy="498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57456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E3C0F906-1064-0742-BACB-EA8833A1E76C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2332038" y="7380288"/>
            <a:ext cx="2346325" cy="5191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10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+mn-lt"/>
                <a:ea typeface="+mn-ea"/>
                <a:cs typeface="DejaVu Sans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566AFB-8564-0144-8AE2-CF688778E4F6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4319588" y="7199313"/>
            <a:ext cx="4992687" cy="358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eaLnBrk="1">
              <a:lnSpc>
                <a:spcPct val="10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1400" i="1">
                <a:solidFill>
                  <a:srgbClr val="FFFFFF"/>
                </a:solidFill>
                <a:latin typeface="+mn-lt"/>
                <a:ea typeface="+mn-ea"/>
                <a:cs typeface="DejaVu Sans" charset="0"/>
              </a:defRPr>
            </a:lvl1pPr>
          </a:lstStyle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CB9C56-4A66-B14F-A4FE-2D833035D79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9720263" y="7199313"/>
            <a:ext cx="1068387" cy="358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10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400">
                <a:solidFill>
                  <a:srgbClr val="FFFFFF"/>
                </a:solidFill>
                <a:latin typeface="FreeSans" pitchFamily="32" charset="0"/>
              </a:defRPr>
            </a:lvl1pPr>
          </a:lstStyle>
          <a:p>
            <a:fld id="{8B34A766-7BF8-2C4E-AB06-34125B49489F}" type="slidenum">
              <a:rPr lang="en-GB" altLang="en-US"/>
              <a:pPr/>
              <a:t>‹#›</a:t>
            </a:fld>
            <a:endParaRPr lang="en-GB" altLang="en-US"/>
          </a:p>
        </p:txBody>
      </p:sp>
      <p:pic>
        <p:nvPicPr>
          <p:cNvPr id="1032" name="Picture 7">
            <a:extLst>
              <a:ext uri="{FF2B5EF4-FFF2-40B4-BE49-F238E27FC236}">
                <a16:creationId xmlns:a16="http://schemas.microsoft.com/office/drawing/2014/main" id="{2E580B39-24CC-4FBB-9FFE-520B620F4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921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033" name="Picture 8">
            <a:extLst>
              <a:ext uri="{FF2B5EF4-FFF2-40B4-BE49-F238E27FC236}">
                <a16:creationId xmlns:a16="http://schemas.microsoft.com/office/drawing/2014/main" id="{60E47C02-646C-8E59-01FD-837E2C485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2300" y="4843463"/>
            <a:ext cx="1322388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02" r:id="rId1"/>
    <p:sldLayoutId id="2147484224" r:id="rId2"/>
    <p:sldLayoutId id="2147484203" r:id="rId3"/>
    <p:sldLayoutId id="2147484204" r:id="rId4"/>
    <p:sldLayoutId id="2147484205" r:id="rId5"/>
    <p:sldLayoutId id="2147484206" r:id="rId6"/>
    <p:sldLayoutId id="2147484207" r:id="rId7"/>
    <p:sldLayoutId id="2147484208" r:id="rId8"/>
    <p:sldLayoutId id="2147484209" r:id="rId9"/>
    <p:sldLayoutId id="2147484210" r:id="rId10"/>
    <p:sldLayoutId id="2147484211" r:id="rId11"/>
  </p:sldLayoutIdLst>
  <p:hf hdr="0" dt="0"/>
  <p:txStyles>
    <p:titleStyle>
      <a:lvl1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+mj-lt"/>
          <a:ea typeface="ＭＳ Ｐゴシック" charset="0"/>
          <a:cs typeface="+mj-cs"/>
        </a:defRPr>
      </a:lvl1pPr>
      <a:lvl2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2pPr>
      <a:lvl3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3pPr>
      <a:lvl4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4pPr>
      <a:lvl5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5pPr>
      <a:lvl6pPr marL="25146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6pPr>
      <a:lvl7pPr marL="29718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7pPr>
      <a:lvl8pPr marL="34290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8pPr>
      <a:lvl9pPr marL="38862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9pPr>
    </p:titleStyle>
    <p:bodyStyle>
      <a:lvl1pPr marL="342900" indent="-342900" algn="l" defTabSz="449263" rtl="0" eaLnBrk="0" fontAlgn="base" hangingPunct="0">
        <a:lnSpc>
          <a:spcPct val="81000"/>
        </a:lnSpc>
        <a:spcBef>
          <a:spcPct val="0"/>
        </a:spcBef>
        <a:spcAft>
          <a:spcPts val="1413"/>
        </a:spcAft>
        <a:buClr>
          <a:srgbClr val="053A60"/>
        </a:buClr>
        <a:buSzPct val="100000"/>
        <a:buFont typeface="Arial" panose="020B0604020202020204" pitchFamily="34" charset="0"/>
        <a:buChar char="•"/>
        <a:defRPr sz="2400" b="1">
          <a:solidFill>
            <a:srgbClr val="003D64"/>
          </a:solidFill>
          <a:latin typeface="+mn-lt"/>
          <a:ea typeface="ＭＳ Ｐゴシック" charset="0"/>
          <a:cs typeface="+mn-cs"/>
        </a:defRPr>
      </a:lvl1pPr>
      <a:lvl2pPr marL="742950" indent="-285750" algn="l" defTabSz="449263" rtl="0" eaLnBrk="0" fontAlgn="base" hangingPunct="0">
        <a:lnSpc>
          <a:spcPct val="81000"/>
        </a:lnSpc>
        <a:spcBef>
          <a:spcPct val="0"/>
        </a:spcBef>
        <a:spcAft>
          <a:spcPts val="1138"/>
        </a:spcAft>
        <a:buClr>
          <a:srgbClr val="053A60"/>
        </a:buClr>
        <a:buSzPct val="100000"/>
        <a:buFont typeface="Times New Roman" panose="02020603050405020304" pitchFamily="18" charset="0"/>
        <a:buChar char="–"/>
        <a:defRPr sz="2200">
          <a:solidFill>
            <a:srgbClr val="003D64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81000"/>
        </a:lnSpc>
        <a:spcBef>
          <a:spcPct val="0"/>
        </a:spcBef>
        <a:spcAft>
          <a:spcPts val="850"/>
        </a:spcAft>
        <a:buClr>
          <a:srgbClr val="053A60"/>
        </a:buClr>
        <a:buSzPct val="100000"/>
        <a:buFont typeface="Times New Roman" panose="02020603050405020304" pitchFamily="18" charset="0"/>
        <a:buChar char="•"/>
        <a:defRPr sz="2000">
          <a:solidFill>
            <a:srgbClr val="003D64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81000"/>
        </a:lnSpc>
        <a:spcBef>
          <a:spcPct val="0"/>
        </a:spcBef>
        <a:spcAft>
          <a:spcPts val="575"/>
        </a:spcAft>
        <a:buClr>
          <a:srgbClr val="053A60"/>
        </a:buClr>
        <a:buSzPct val="100000"/>
        <a:buFont typeface="Times New Roman" panose="02020603050405020304" pitchFamily="18" charset="0"/>
        <a:buChar char="–"/>
        <a:defRPr sz="2000">
          <a:solidFill>
            <a:srgbClr val="003D64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53A60"/>
        </a:buClr>
        <a:buSzPct val="100000"/>
        <a:buFont typeface="Times New Roman" panose="02020603050405020304" pitchFamily="18" charset="0"/>
        <a:buChar char="»"/>
        <a:defRPr sz="2000">
          <a:solidFill>
            <a:srgbClr val="003D64"/>
          </a:solidFill>
          <a:latin typeface="+mn-lt"/>
          <a:ea typeface="+mn-ea"/>
          <a:cs typeface="+mn-cs"/>
        </a:defRPr>
      </a:lvl5pPr>
      <a:lvl6pPr marL="25146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6pPr>
      <a:lvl7pPr marL="29718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7pPr>
      <a:lvl8pPr marL="34290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8pPr>
      <a:lvl9pPr marL="38862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">
            <a:extLst>
              <a:ext uri="{FF2B5EF4-FFF2-40B4-BE49-F238E27FC236}">
                <a16:creationId xmlns:a16="http://schemas.microsoft.com/office/drawing/2014/main" id="{AA03D6A8-8774-A97C-EC77-479DD8BEC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6929438"/>
            <a:ext cx="91662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3315" name="Rectangle 2">
            <a:extLst>
              <a:ext uri="{FF2B5EF4-FFF2-40B4-BE49-F238E27FC236}">
                <a16:creationId xmlns:a16="http://schemas.microsoft.com/office/drawing/2014/main" id="{BF95B9C9-D2B5-272D-7C3E-DD4D16FE14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54175" y="76200"/>
            <a:ext cx="7729538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859C6121-A2E0-FBBA-F982-C9B476109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8500" y="1181100"/>
            <a:ext cx="8675688" cy="498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2" r:id="rId1"/>
    <p:sldLayoutId id="2147484213" r:id="rId2"/>
    <p:sldLayoutId id="2147484214" r:id="rId3"/>
    <p:sldLayoutId id="2147484215" r:id="rId4"/>
    <p:sldLayoutId id="2147484216" r:id="rId5"/>
    <p:sldLayoutId id="2147484217" r:id="rId6"/>
    <p:sldLayoutId id="2147484218" r:id="rId7"/>
    <p:sldLayoutId id="2147484219" r:id="rId8"/>
    <p:sldLayoutId id="2147484220" r:id="rId9"/>
    <p:sldLayoutId id="2147484221" r:id="rId10"/>
    <p:sldLayoutId id="2147484222" r:id="rId11"/>
    <p:sldLayoutId id="2147484223" r:id="rId12"/>
  </p:sldLayoutIdLst>
  <p:hf hdr="0" dt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+mj-lt"/>
          <a:ea typeface="ＭＳ Ｐゴシック" charset="0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5pPr>
      <a:lvl6pPr marL="25146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6pPr>
      <a:lvl7pPr marL="29718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7pPr>
      <a:lvl8pPr marL="34290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8pPr>
      <a:lvl9pPr marL="38862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spcBef>
          <a:spcPts val="68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800">
          <a:solidFill>
            <a:srgbClr val="003D62"/>
          </a:solidFill>
          <a:latin typeface="+mn-lt"/>
          <a:ea typeface="ＭＳ Ｐゴシック" charset="0"/>
          <a:cs typeface="+mn-cs"/>
        </a:defRPr>
      </a:lvl1pPr>
      <a:lvl2pPr marL="742950" indent="-285750" algn="l" defTabSz="449263" rtl="0" eaLnBrk="0" fontAlgn="base" hangingPunct="0">
        <a:spcBef>
          <a:spcPts val="613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400">
          <a:solidFill>
            <a:srgbClr val="003D62"/>
          </a:solidFill>
          <a:latin typeface="+mn-lt"/>
          <a:ea typeface="DejaVu Sans" charset="0"/>
          <a:cs typeface="+mn-cs"/>
        </a:defRPr>
      </a:lvl2pPr>
      <a:lvl3pPr marL="1143000" indent="-228600" algn="l" defTabSz="449263" rtl="0" eaLnBrk="0" fontAlgn="base" hangingPunct="0">
        <a:spcBef>
          <a:spcPts val="663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700">
          <a:solidFill>
            <a:srgbClr val="003D62"/>
          </a:solidFill>
          <a:latin typeface="+mn-lt"/>
          <a:ea typeface="DejaVu Sans" charset="0"/>
          <a:cs typeface="+mn-cs"/>
        </a:defRPr>
      </a:lvl3pPr>
      <a:lvl4pPr marL="1600200" indent="-228600" algn="l" defTabSz="449263" rtl="0" eaLnBrk="0" fontAlgn="base" hangingPunct="0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3D62"/>
          </a:solidFill>
          <a:latin typeface="+mn-lt"/>
          <a:ea typeface="DejaVu Sans" charset="0"/>
          <a:cs typeface="+mn-cs"/>
        </a:defRPr>
      </a:lvl4pPr>
      <a:lvl5pPr marL="2057400" indent="-228600" algn="l" defTabSz="449263" rtl="0" eaLnBrk="0" fontAlgn="base" hangingPunct="0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3D62"/>
          </a:solidFill>
          <a:latin typeface="+mn-lt"/>
          <a:ea typeface="DejaVu Sans" charset="0"/>
          <a:cs typeface="+mn-cs"/>
        </a:defRPr>
      </a:lvl5pPr>
      <a:lvl6pPr marL="25146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6pPr>
      <a:lvl7pPr marL="29718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7pPr>
      <a:lvl8pPr marL="34290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8pPr>
      <a:lvl9pPr marL="38862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file:////Users/bartsas/Courses/Graphics/SVN/documents/slides/eyepoint.mpg" TargetMode="External"/><Relationship Id="rId1" Type="http://schemas.microsoft.com/office/2007/relationships/media" Target="file:////Users/bartsas/Courses/Graphics/SVN/documents/slides/eyepoint.mpg" TargetMode="Externa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CBD9BA6C-3F2C-5BAE-21B2-32CF2AC9F2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2625" y="1422400"/>
            <a:ext cx="8677275" cy="571500"/>
          </a:xfrm>
        </p:spPr>
        <p:txBody>
          <a:bodyPr anchor="b"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3600" b="1">
                <a:ea typeface="ＭＳ Ｐゴシック" panose="020B0600070205080204" pitchFamily="34" charset="-128"/>
              </a:rPr>
              <a:t>Opdracht 3D-Lijntekeningen</a:t>
            </a:r>
          </a:p>
        </p:txBody>
      </p:sp>
      <p:sp>
        <p:nvSpPr>
          <p:cNvPr id="16386" name="Text Box 2">
            <a:extLst>
              <a:ext uri="{FF2B5EF4-FFF2-40B4-BE49-F238E27FC236}">
                <a16:creationId xmlns:a16="http://schemas.microsoft.com/office/drawing/2014/main" id="{98BEE8AE-16E5-6809-4681-701B6A90D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1993900"/>
            <a:ext cx="8677275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ts val="6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3D62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DejaVu Sans" charset="0"/>
              </a:defRPr>
            </a:lvl1pPr>
            <a:lvl2pPr>
              <a:spcBef>
                <a:spcPts val="6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2pPr>
            <a:lvl3pPr>
              <a:spcBef>
                <a:spcPts val="6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7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3pPr>
            <a:lvl4pPr>
              <a:spcBef>
                <a:spcPts val="4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4pPr>
            <a:lvl5pPr>
              <a:spcBef>
                <a:spcPts val="4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9pPr>
          </a:lstStyle>
          <a:p>
            <a:pPr eaLnBrk="1" hangingPunct="1">
              <a:spcBef>
                <a:spcPts val="500"/>
              </a:spcBef>
              <a:buClrTx/>
              <a:buFontTx/>
              <a:buNone/>
            </a:pPr>
            <a:r>
              <a:rPr lang="en-GB" altLang="en-US" sz="2000" dirty="0">
                <a:solidFill>
                  <a:srgbClr val="7E002F"/>
                </a:solidFill>
              </a:rPr>
              <a:t>Tim Apers</a:t>
            </a:r>
          </a:p>
        </p:txBody>
      </p:sp>
      <p:pic>
        <p:nvPicPr>
          <p:cNvPr id="16387" name="Picture 5">
            <a:extLst>
              <a:ext uri="{FF2B5EF4-FFF2-40B4-BE49-F238E27FC236}">
                <a16:creationId xmlns:a16="http://schemas.microsoft.com/office/drawing/2014/main" id="{CE6D9558-913C-F11A-1E66-AB2F3CBAD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" y="136525"/>
            <a:ext cx="1338263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6388" name="Picture 5" descr="2_linedrawings.bmp">
            <a:extLst>
              <a:ext uri="{FF2B5EF4-FFF2-40B4-BE49-F238E27FC236}">
                <a16:creationId xmlns:a16="http://schemas.microsoft.com/office/drawing/2014/main" id="{E190144F-206D-622F-BADD-892AD69DE2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0" y="1993900"/>
            <a:ext cx="5275263" cy="466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BC1E262F-99AD-7E0A-892E-3F73A035F9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3D-Lijntekeningen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E48B048F-893E-D9E8-E995-E384E146F9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Inhoud</a:t>
            </a:r>
          </a:p>
          <a:p>
            <a:pPr lvl="1"/>
            <a:r>
              <a:rPr lang="nl-BE" altLang="en-US"/>
              <a:t>Voorstelling van Punten &amp; Vectoren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De Matrix &amp; Vector Library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Opdracht 3D Lijntekeningen</a:t>
            </a:r>
          </a:p>
          <a:p>
            <a:pPr lvl="2"/>
            <a:r>
              <a:rPr lang="nl-BE" altLang="en-US"/>
              <a:t>Transformaties</a:t>
            </a:r>
          </a:p>
          <a:p>
            <a:pPr lvl="2"/>
            <a:r>
              <a:rPr lang="nl-BE" altLang="en-US"/>
              <a:t>Eye-point transformatie</a:t>
            </a:r>
          </a:p>
          <a:p>
            <a:pPr lvl="2"/>
            <a:r>
              <a:rPr lang="nl-BE" altLang="en-US"/>
              <a:t>Perspectiefprojectie</a:t>
            </a:r>
          </a:p>
          <a:p>
            <a:pPr lvl="2"/>
            <a:endParaRPr lang="nl-BE" altLang="en-US"/>
          </a:p>
          <a:p>
            <a:pPr lvl="2"/>
            <a:endParaRPr lang="nl-B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BF402C-432B-6948-BA63-C96CF820A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18436" name="Slide Number Placeholder 4">
            <a:extLst>
              <a:ext uri="{FF2B5EF4-FFF2-40B4-BE49-F238E27FC236}">
                <a16:creationId xmlns:a16="http://schemas.microsoft.com/office/drawing/2014/main" id="{2EEF9163-2440-F2AB-8493-7E89DF623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CB847981-C925-F14D-8304-802574AB41F2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2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003637-DDB1-A64F-AD2C-23CD7105A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19458" name="Slide Number Placeholder 4">
            <a:extLst>
              <a:ext uri="{FF2B5EF4-FFF2-40B4-BE49-F238E27FC236}">
                <a16:creationId xmlns:a16="http://schemas.microsoft.com/office/drawing/2014/main" id="{4C042F46-2E3E-5AC7-8144-E82B86BF4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8177EDF5-EA18-8A4A-B773-DBBF41A88F3B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3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19459" name="Title 9">
            <a:extLst>
              <a:ext uri="{FF2B5EF4-FFF2-40B4-BE49-F238E27FC236}">
                <a16:creationId xmlns:a16="http://schemas.microsoft.com/office/drawing/2014/main" id="{7596EE41-3E6A-83D4-0D0B-48DFAF09DD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4063" y="3005138"/>
            <a:ext cx="8567737" cy="1501775"/>
          </a:xfrm>
        </p:spPr>
        <p:txBody>
          <a:bodyPr/>
          <a:lstStyle/>
          <a:p>
            <a:pPr algn="ctr"/>
            <a:r>
              <a:rPr lang="nl-BE" altLang="en-US">
                <a:ea typeface="ＭＳ Ｐゴシック" panose="020B0600070205080204" pitchFamily="34" charset="-128"/>
              </a:rPr>
              <a:t>Voorstelling van Punten &amp; Vectoren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C7E54436-BF01-9DDC-95C3-1DC83A82F5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Voorstelling van Punten &amp; Vectoren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0152E3F3-29CE-97C7-AB01-E02EB66553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9034462" cy="2019300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Punten en Vectoren worden met </a:t>
            </a:r>
            <a:r>
              <a:rPr lang="nl-BE" altLang="en-US" i="1">
                <a:ea typeface="ＭＳ Ｐゴシック" panose="020B0600070205080204" pitchFamily="34" charset="-128"/>
              </a:rPr>
              <a:t>homogene</a:t>
            </a:r>
            <a:r>
              <a:rPr lang="nl-BE" altLang="en-US">
                <a:ea typeface="ＭＳ Ｐゴシック" panose="020B0600070205080204" pitchFamily="34" charset="-128"/>
              </a:rPr>
              <a:t> coördinaten voorgesteld</a:t>
            </a:r>
          </a:p>
          <a:p>
            <a:pPr lvl="1"/>
            <a:r>
              <a:rPr lang="nl-BE" altLang="en-US"/>
              <a:t>Punt  						</a:t>
            </a:r>
            <a:r>
              <a:rPr lang="nl-BE" altLang="en-US" sz="1600"/>
              <a:t>bij een punt is de 4</a:t>
            </a:r>
            <a:r>
              <a:rPr lang="nl-BE" altLang="en-US" sz="1600" baseline="30000"/>
              <a:t>e</a:t>
            </a:r>
            <a:r>
              <a:rPr lang="nl-BE" altLang="en-US" sz="1600"/>
              <a:t> coördinaat </a:t>
            </a:r>
            <a:r>
              <a:rPr lang="nl-BE" altLang="en-US" sz="1600" b="1"/>
              <a:t>altijd </a:t>
            </a:r>
            <a:r>
              <a:rPr lang="nl-BE" altLang="en-US" sz="1600"/>
              <a:t>gelijk aan 1</a:t>
            </a:r>
          </a:p>
          <a:p>
            <a:pPr lvl="1"/>
            <a:r>
              <a:rPr lang="nl-BE" altLang="en-US"/>
              <a:t>Vector 						</a:t>
            </a:r>
            <a:r>
              <a:rPr lang="nl-BE" altLang="en-US" sz="1600"/>
              <a:t>bij een vector is de 4</a:t>
            </a:r>
            <a:r>
              <a:rPr lang="nl-BE" altLang="en-US" sz="1600" baseline="30000"/>
              <a:t>e</a:t>
            </a:r>
            <a:r>
              <a:rPr lang="nl-BE" altLang="en-US" sz="1600"/>
              <a:t> coördinaat </a:t>
            </a:r>
            <a:r>
              <a:rPr lang="nl-BE" altLang="en-US" sz="1600" b="1"/>
              <a:t>altijd </a:t>
            </a:r>
            <a:r>
              <a:rPr lang="nl-BE" altLang="en-US" sz="1600"/>
              <a:t>gelijk aan 0</a:t>
            </a:r>
          </a:p>
          <a:p>
            <a:endParaRPr lang="nl-BE" altLang="en-US" sz="2600">
              <a:ea typeface="ＭＳ Ｐゴシック" panose="020B0600070205080204" pitchFamily="34" charset="-128"/>
            </a:endParaRPr>
          </a:p>
          <a:p>
            <a:pPr lvl="1"/>
            <a:endParaRPr lang="nl-BE" altLang="en-US"/>
          </a:p>
          <a:p>
            <a:pPr lvl="1"/>
            <a:endParaRPr lang="nl-B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BF006E-A4C0-FA43-A65F-A4B6A6C54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20484" name="Slide Number Placeholder 4">
            <a:extLst>
              <a:ext uri="{FF2B5EF4-FFF2-40B4-BE49-F238E27FC236}">
                <a16:creationId xmlns:a16="http://schemas.microsoft.com/office/drawing/2014/main" id="{91C5FDE5-BB9B-C148-7ABE-89B88A1D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4713A0FB-B421-E24C-B1A2-C0C880691E22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4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D1A87681-31DA-C649-656F-499822A23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5D233BE6-FFAF-FE9C-F457-E7E450748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20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0487" name="Rectangle 5">
            <a:extLst>
              <a:ext uri="{FF2B5EF4-FFF2-40B4-BE49-F238E27FC236}">
                <a16:creationId xmlns:a16="http://schemas.microsoft.com/office/drawing/2014/main" id="{CE9FC965-8315-FB09-F0BE-B3422B5F5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6153" name="Picture 4">
            <a:extLst>
              <a:ext uri="{FF2B5EF4-FFF2-40B4-BE49-F238E27FC236}">
                <a16:creationId xmlns:a16="http://schemas.microsoft.com/office/drawing/2014/main" id="{4C174FBD-6537-5700-D5ED-16A911CA2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0" y="1993900"/>
            <a:ext cx="205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9" name="Rectangle 6">
            <a:extLst>
              <a:ext uri="{FF2B5EF4-FFF2-40B4-BE49-F238E27FC236}">
                <a16:creationId xmlns:a16="http://schemas.microsoft.com/office/drawing/2014/main" id="{DC917529-FDAE-9B3D-E373-970D65EC6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0490" name="Rectangle 8">
            <a:extLst>
              <a:ext uri="{FF2B5EF4-FFF2-40B4-BE49-F238E27FC236}">
                <a16:creationId xmlns:a16="http://schemas.microsoft.com/office/drawing/2014/main" id="{5668FEB9-811C-271E-D3EB-02B51D2AD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6156" name="Picture 7">
            <a:extLst>
              <a:ext uri="{FF2B5EF4-FFF2-40B4-BE49-F238E27FC236}">
                <a16:creationId xmlns:a16="http://schemas.microsoft.com/office/drawing/2014/main" id="{C26133D9-39F8-260C-2FDE-1457BE3BC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813" y="2422525"/>
            <a:ext cx="20669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2" name="Rectangle 10">
            <a:extLst>
              <a:ext uri="{FF2B5EF4-FFF2-40B4-BE49-F238E27FC236}">
                <a16:creationId xmlns:a16="http://schemas.microsoft.com/office/drawing/2014/main" id="{E0F10DB3-A02C-19E3-0855-2AD0D2AD6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grpSp>
        <p:nvGrpSpPr>
          <p:cNvPr id="2" name="Group 29">
            <a:extLst>
              <a:ext uri="{FF2B5EF4-FFF2-40B4-BE49-F238E27FC236}">
                <a16:creationId xmlns:a16="http://schemas.microsoft.com/office/drawing/2014/main" id="{FD6FE531-6EB1-3661-9D88-B45832B89725}"/>
              </a:ext>
            </a:extLst>
          </p:cNvPr>
          <p:cNvGrpSpPr>
            <a:grpSpLocks/>
          </p:cNvGrpSpPr>
          <p:nvPr/>
        </p:nvGrpSpPr>
        <p:grpSpPr bwMode="auto">
          <a:xfrm>
            <a:off x="2897188" y="4351338"/>
            <a:ext cx="285750" cy="452437"/>
            <a:chOff x="2754296" y="4422779"/>
            <a:chExt cx="285752" cy="452438"/>
          </a:xfrm>
        </p:grpSpPr>
        <p:sp>
          <p:nvSpPr>
            <p:cNvPr id="20498" name="Oval 13">
              <a:extLst>
                <a:ext uri="{FF2B5EF4-FFF2-40B4-BE49-F238E27FC236}">
                  <a16:creationId xmlns:a16="http://schemas.microsoft.com/office/drawing/2014/main" id="{DFE55EF4-AD09-16B7-8FCC-A884CB13F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7172" y="4422779"/>
              <a:ext cx="142876" cy="14287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pic>
          <p:nvPicPr>
            <p:cNvPr id="20499" name="Picture 9">
              <a:extLst>
                <a:ext uri="{FF2B5EF4-FFF2-40B4-BE49-F238E27FC236}">
                  <a16:creationId xmlns:a16="http://schemas.microsoft.com/office/drawing/2014/main" id="{B577CB27-A598-0AD2-A1EF-C0BC0CC990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4296" y="4494217"/>
              <a:ext cx="16192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494" name="Rectangle 12">
            <a:extLst>
              <a:ext uri="{FF2B5EF4-FFF2-40B4-BE49-F238E27FC236}">
                <a16:creationId xmlns:a16="http://schemas.microsoft.com/office/drawing/2014/main" id="{C195738E-EA77-E806-2856-50AE33C1B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grpSp>
        <p:nvGrpSpPr>
          <p:cNvPr id="3" name="Group 36">
            <a:extLst>
              <a:ext uri="{FF2B5EF4-FFF2-40B4-BE49-F238E27FC236}">
                <a16:creationId xmlns:a16="http://schemas.microsoft.com/office/drawing/2014/main" id="{FC1F877B-35DA-B811-6994-0923EB93328F}"/>
              </a:ext>
            </a:extLst>
          </p:cNvPr>
          <p:cNvGrpSpPr>
            <a:grpSpLocks/>
          </p:cNvGrpSpPr>
          <p:nvPr/>
        </p:nvGrpSpPr>
        <p:grpSpPr bwMode="auto">
          <a:xfrm>
            <a:off x="4111625" y="3994150"/>
            <a:ext cx="1857375" cy="642938"/>
            <a:chOff x="3754428" y="4065589"/>
            <a:chExt cx="1857388" cy="642942"/>
          </a:xfrm>
        </p:grpSpPr>
        <p:cxnSp>
          <p:nvCxnSpPr>
            <p:cNvPr id="20496" name="Straight Arrow Connector 31">
              <a:extLst>
                <a:ext uri="{FF2B5EF4-FFF2-40B4-BE49-F238E27FC236}">
                  <a16:creationId xmlns:a16="http://schemas.microsoft.com/office/drawing/2014/main" id="{4D4FE3E4-E941-245B-2249-337FE37CA3E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754428" y="4065589"/>
              <a:ext cx="1857388" cy="64294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20497" name="Picture 11">
              <a:extLst>
                <a:ext uri="{FF2B5EF4-FFF2-40B4-BE49-F238E27FC236}">
                  <a16:creationId xmlns:a16="http://schemas.microsoft.com/office/drawing/2014/main" id="{BEC83BE1-2D1E-13AB-467B-5C84401498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7370" y="4065589"/>
              <a:ext cx="16192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D742BB16-4D06-DB02-775F-2CB1F78511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Voorstelling van Punten &amp; Vectoren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5F063C40-95D2-B4F4-93E3-CA951F52BA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9034462" cy="2662238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Eigenschappen van homogene coördinaten</a:t>
            </a:r>
          </a:p>
          <a:p>
            <a:pPr lvl="1"/>
            <a:r>
              <a:rPr lang="nl-BE" altLang="en-US"/>
              <a:t>De som van een punt en een vector is een punt</a:t>
            </a:r>
          </a:p>
          <a:p>
            <a:pPr lvl="2"/>
            <a:r>
              <a:rPr lang="nl-BE" altLang="en-US"/>
              <a:t>Punt  </a:t>
            </a:r>
          </a:p>
          <a:p>
            <a:pPr lvl="2"/>
            <a:r>
              <a:rPr lang="nl-BE" altLang="en-US"/>
              <a:t>Vector</a:t>
            </a:r>
          </a:p>
          <a:p>
            <a:pPr lvl="2"/>
            <a:r>
              <a:rPr lang="nl-BE" altLang="en-US"/>
              <a:t> </a:t>
            </a:r>
          </a:p>
          <a:p>
            <a:pPr lvl="2"/>
            <a:endParaRPr lang="nl-BE" altLang="en-US"/>
          </a:p>
          <a:p>
            <a:pPr lvl="3"/>
            <a:endParaRPr lang="nl-BE" altLang="en-US"/>
          </a:p>
          <a:p>
            <a:pPr lvl="3"/>
            <a:r>
              <a:rPr lang="nl-BE" altLang="en-US"/>
              <a:t>Dit is het punt dat we krijgen door    over de vector     te verschuiven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A457D8-7B9A-B24A-A061-4F93C31DD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21508" name="Slide Number Placeholder 4">
            <a:extLst>
              <a:ext uri="{FF2B5EF4-FFF2-40B4-BE49-F238E27FC236}">
                <a16:creationId xmlns:a16="http://schemas.microsoft.com/office/drawing/2014/main" id="{6D6E3FBA-81AA-5378-366A-9EC60CD3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E47F93D8-4D75-2E41-9A89-6F00C4E00D9D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5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37FAA7BB-32CD-94A9-40BE-396D81B4A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7175" name="Picture 1">
            <a:extLst>
              <a:ext uri="{FF2B5EF4-FFF2-40B4-BE49-F238E27FC236}">
                <a16:creationId xmlns:a16="http://schemas.microsoft.com/office/drawing/2014/main" id="{4E424131-FB82-E91A-F764-755C951A6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2851150"/>
            <a:ext cx="5972175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Picture 4">
            <a:extLst>
              <a:ext uri="{FF2B5EF4-FFF2-40B4-BE49-F238E27FC236}">
                <a16:creationId xmlns:a16="http://schemas.microsoft.com/office/drawing/2014/main" id="{C268C602-765D-2C23-DCC1-217DC47EC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688" y="2136775"/>
            <a:ext cx="205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7" name="Picture 7">
            <a:extLst>
              <a:ext uri="{FF2B5EF4-FFF2-40B4-BE49-F238E27FC236}">
                <a16:creationId xmlns:a16="http://schemas.microsoft.com/office/drawing/2014/main" id="{A881E697-3EAC-DB15-4184-55672850F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2493963"/>
            <a:ext cx="20669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9">
            <a:extLst>
              <a:ext uri="{FF2B5EF4-FFF2-40B4-BE49-F238E27FC236}">
                <a16:creationId xmlns:a16="http://schemas.microsoft.com/office/drawing/2014/main" id="{3CE956F3-F8C9-39EB-3CE0-0AE10234733D}"/>
              </a:ext>
            </a:extLst>
          </p:cNvPr>
          <p:cNvGrpSpPr>
            <a:grpSpLocks/>
          </p:cNvGrpSpPr>
          <p:nvPr/>
        </p:nvGrpSpPr>
        <p:grpSpPr bwMode="auto">
          <a:xfrm>
            <a:off x="2825750" y="5708650"/>
            <a:ext cx="285750" cy="452438"/>
            <a:chOff x="2754296" y="4422779"/>
            <a:chExt cx="285752" cy="452438"/>
          </a:xfrm>
        </p:grpSpPr>
        <p:sp>
          <p:nvSpPr>
            <p:cNvPr id="21524" name="Oval 10">
              <a:extLst>
                <a:ext uri="{FF2B5EF4-FFF2-40B4-BE49-F238E27FC236}">
                  <a16:creationId xmlns:a16="http://schemas.microsoft.com/office/drawing/2014/main" id="{414818C8-472D-A48A-9868-532DA5B9F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7172" y="4422779"/>
              <a:ext cx="142876" cy="14287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pic>
          <p:nvPicPr>
            <p:cNvPr id="21525" name="Picture 9">
              <a:extLst>
                <a:ext uri="{FF2B5EF4-FFF2-40B4-BE49-F238E27FC236}">
                  <a16:creationId xmlns:a16="http://schemas.microsoft.com/office/drawing/2014/main" id="{75863E36-302E-9418-097F-097CB565E4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4296" y="4494217"/>
              <a:ext cx="16192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Group 15">
            <a:extLst>
              <a:ext uri="{FF2B5EF4-FFF2-40B4-BE49-F238E27FC236}">
                <a16:creationId xmlns:a16="http://schemas.microsoft.com/office/drawing/2014/main" id="{2076B099-02EC-4EA0-1983-6C6A6EC8BB55}"/>
              </a:ext>
            </a:extLst>
          </p:cNvPr>
          <p:cNvGrpSpPr>
            <a:grpSpLocks/>
          </p:cNvGrpSpPr>
          <p:nvPr/>
        </p:nvGrpSpPr>
        <p:grpSpPr bwMode="auto">
          <a:xfrm>
            <a:off x="3040063" y="5137150"/>
            <a:ext cx="1857375" cy="642938"/>
            <a:chOff x="3754428" y="4065589"/>
            <a:chExt cx="1857388" cy="642942"/>
          </a:xfrm>
        </p:grpSpPr>
        <p:cxnSp>
          <p:nvCxnSpPr>
            <p:cNvPr id="21522" name="Straight Arrow Connector 16">
              <a:extLst>
                <a:ext uri="{FF2B5EF4-FFF2-40B4-BE49-F238E27FC236}">
                  <a16:creationId xmlns:a16="http://schemas.microsoft.com/office/drawing/2014/main" id="{B4F3E2FC-D008-11C4-37C2-1AB9E382379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754428" y="4065589"/>
              <a:ext cx="1857388" cy="64294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21523" name="Picture 11">
              <a:extLst>
                <a:ext uri="{FF2B5EF4-FFF2-40B4-BE49-F238E27FC236}">
                  <a16:creationId xmlns:a16="http://schemas.microsoft.com/office/drawing/2014/main" id="{AD8C909C-E5AD-8AEA-4D6D-9CECF2498E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7370" y="4065589"/>
              <a:ext cx="16192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515" name="Rectangle 4">
            <a:extLst>
              <a:ext uri="{FF2B5EF4-FFF2-40B4-BE49-F238E27FC236}">
                <a16:creationId xmlns:a16="http://schemas.microsoft.com/office/drawing/2014/main" id="{79971A32-14AD-4B37-551E-93C7AFB5A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grpSp>
        <p:nvGrpSpPr>
          <p:cNvPr id="6" name="Group 23">
            <a:extLst>
              <a:ext uri="{FF2B5EF4-FFF2-40B4-BE49-F238E27FC236}">
                <a16:creationId xmlns:a16="http://schemas.microsoft.com/office/drawing/2014/main" id="{CB789841-5C31-FED8-496F-9168B6FBBB1E}"/>
              </a:ext>
            </a:extLst>
          </p:cNvPr>
          <p:cNvGrpSpPr>
            <a:grpSpLocks/>
          </p:cNvGrpSpPr>
          <p:nvPr/>
        </p:nvGrpSpPr>
        <p:grpSpPr bwMode="auto">
          <a:xfrm>
            <a:off x="4897438" y="5065713"/>
            <a:ext cx="728662" cy="523875"/>
            <a:chOff x="5326064" y="5565787"/>
            <a:chExt cx="728663" cy="523876"/>
          </a:xfrm>
        </p:grpSpPr>
        <p:sp>
          <p:nvSpPr>
            <p:cNvPr id="21520" name="Oval 19">
              <a:extLst>
                <a:ext uri="{FF2B5EF4-FFF2-40B4-BE49-F238E27FC236}">
                  <a16:creationId xmlns:a16="http://schemas.microsoft.com/office/drawing/2014/main" id="{D5D6C993-BAF8-F2AD-2D95-7FB1C09BA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6064" y="5565787"/>
              <a:ext cx="142876" cy="14287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pic>
          <p:nvPicPr>
            <p:cNvPr id="21521" name="Picture 3">
              <a:extLst>
                <a:ext uri="{FF2B5EF4-FFF2-40B4-BE49-F238E27FC236}">
                  <a16:creationId xmlns:a16="http://schemas.microsoft.com/office/drawing/2014/main" id="{45EE6670-BB81-A8BB-15B8-1EBDF5CE04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7502" y="5708663"/>
              <a:ext cx="65722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Group 21">
            <a:extLst>
              <a:ext uri="{FF2B5EF4-FFF2-40B4-BE49-F238E27FC236}">
                <a16:creationId xmlns:a16="http://schemas.microsoft.com/office/drawing/2014/main" id="{0E12F5E8-C6DE-4E52-20FD-E8F4C17297E9}"/>
              </a:ext>
            </a:extLst>
          </p:cNvPr>
          <p:cNvGrpSpPr>
            <a:grpSpLocks/>
          </p:cNvGrpSpPr>
          <p:nvPr/>
        </p:nvGrpSpPr>
        <p:grpSpPr bwMode="auto">
          <a:xfrm>
            <a:off x="5626100" y="3898900"/>
            <a:ext cx="1955800" cy="381000"/>
            <a:chOff x="5897563" y="3922713"/>
            <a:chExt cx="1955800" cy="381000"/>
          </a:xfrm>
        </p:grpSpPr>
        <p:pic>
          <p:nvPicPr>
            <p:cNvPr id="21518" name="Picture 9">
              <a:extLst>
                <a:ext uri="{FF2B5EF4-FFF2-40B4-BE49-F238E27FC236}">
                  <a16:creationId xmlns:a16="http://schemas.microsoft.com/office/drawing/2014/main" id="{9E2AC150-1CFF-8A34-C882-BFE2BA7EC6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7563" y="3922713"/>
              <a:ext cx="16192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9" name="Picture 11">
              <a:extLst>
                <a:ext uri="{FF2B5EF4-FFF2-40B4-BE49-F238E27FC236}">
                  <a16:creationId xmlns:a16="http://schemas.microsoft.com/office/drawing/2014/main" id="{737B9523-5566-600A-5B4B-926193C52E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1438" y="3922713"/>
              <a:ext cx="16192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040177DE-C40E-331B-BA36-255AF99B88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Voorstelling van Punten &amp; Vectoren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2DAE4AB1-1A5B-06F8-4328-94341B08EF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9034462" cy="2662238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Eigenschappen van homogene coördinaten</a:t>
            </a:r>
          </a:p>
          <a:p>
            <a:pPr lvl="1"/>
            <a:r>
              <a:rPr lang="nl-BE" altLang="en-US"/>
              <a:t>De som van twee vectoren blijft een vector</a:t>
            </a:r>
          </a:p>
          <a:p>
            <a:pPr lvl="2"/>
            <a:r>
              <a:rPr lang="nl-BE" altLang="en-US"/>
              <a:t>Vector</a:t>
            </a:r>
          </a:p>
          <a:p>
            <a:pPr lvl="2"/>
            <a:r>
              <a:rPr lang="nl-BE" altLang="en-US"/>
              <a:t>Vector</a:t>
            </a:r>
          </a:p>
          <a:p>
            <a:pPr lvl="2"/>
            <a:r>
              <a:rPr lang="nl-BE" altLang="en-US"/>
              <a:t> </a:t>
            </a:r>
          </a:p>
          <a:p>
            <a:pPr lvl="2"/>
            <a:endParaRPr lang="nl-BE" altLang="en-US"/>
          </a:p>
          <a:p>
            <a:pPr lvl="3"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7E408-5238-1540-B243-DDACCE570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22532" name="Slide Number Placeholder 4">
            <a:extLst>
              <a:ext uri="{FF2B5EF4-FFF2-40B4-BE49-F238E27FC236}">
                <a16:creationId xmlns:a16="http://schemas.microsoft.com/office/drawing/2014/main" id="{9222BF62-F8AA-3039-1D47-DCC5DA5ED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2E7D085C-8063-C345-8F21-A98DA347C27C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6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22533" name="Rectangle 2">
            <a:extLst>
              <a:ext uri="{FF2B5EF4-FFF2-40B4-BE49-F238E27FC236}">
                <a16:creationId xmlns:a16="http://schemas.microsoft.com/office/drawing/2014/main" id="{3E692EC3-7134-ED4C-EF52-68DCDDECC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8199" name="Picture 7">
            <a:extLst>
              <a:ext uri="{FF2B5EF4-FFF2-40B4-BE49-F238E27FC236}">
                <a16:creationId xmlns:a16="http://schemas.microsoft.com/office/drawing/2014/main" id="{CA58D923-98C0-50B7-BF7D-F711EC693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2493963"/>
            <a:ext cx="20669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5">
            <a:extLst>
              <a:ext uri="{FF2B5EF4-FFF2-40B4-BE49-F238E27FC236}">
                <a16:creationId xmlns:a16="http://schemas.microsoft.com/office/drawing/2014/main" id="{D7056ED4-D7D6-5F1A-6632-ED19E2CF35C6}"/>
              </a:ext>
            </a:extLst>
          </p:cNvPr>
          <p:cNvGrpSpPr>
            <a:grpSpLocks/>
          </p:cNvGrpSpPr>
          <p:nvPr/>
        </p:nvGrpSpPr>
        <p:grpSpPr bwMode="auto">
          <a:xfrm>
            <a:off x="4325938" y="4779963"/>
            <a:ext cx="1857375" cy="738187"/>
            <a:chOff x="3754428" y="4065589"/>
            <a:chExt cx="1857388" cy="738190"/>
          </a:xfrm>
        </p:grpSpPr>
        <p:cxnSp>
          <p:nvCxnSpPr>
            <p:cNvPr id="22553" name="Straight Arrow Connector 16">
              <a:extLst>
                <a:ext uri="{FF2B5EF4-FFF2-40B4-BE49-F238E27FC236}">
                  <a16:creationId xmlns:a16="http://schemas.microsoft.com/office/drawing/2014/main" id="{3A0C1987-6293-6D1B-09B5-A3078135EF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754428" y="4065589"/>
              <a:ext cx="1857388" cy="64294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22554" name="Picture 11">
              <a:extLst>
                <a:ext uri="{FF2B5EF4-FFF2-40B4-BE49-F238E27FC236}">
                  <a16:creationId xmlns:a16="http://schemas.microsoft.com/office/drawing/2014/main" id="{2E0BBAC7-EAAA-A4AB-8326-C3756DF05B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7436" y="4422779"/>
              <a:ext cx="16192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536" name="Rectangle 4">
            <a:extLst>
              <a:ext uri="{FF2B5EF4-FFF2-40B4-BE49-F238E27FC236}">
                <a16:creationId xmlns:a16="http://schemas.microsoft.com/office/drawing/2014/main" id="{0053C0D8-2D19-3C41-5663-E65387392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2537" name="Rectangle 2">
            <a:extLst>
              <a:ext uri="{FF2B5EF4-FFF2-40B4-BE49-F238E27FC236}">
                <a16:creationId xmlns:a16="http://schemas.microsoft.com/office/drawing/2014/main" id="{760E51A3-7A33-AF53-935C-6528F517B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8203" name="Picture 1">
            <a:extLst>
              <a:ext uri="{FF2B5EF4-FFF2-40B4-BE49-F238E27FC236}">
                <a16:creationId xmlns:a16="http://schemas.microsoft.com/office/drawing/2014/main" id="{E4C0E3F6-95AB-1915-0EC9-3708A385E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2136775"/>
            <a:ext cx="20764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9" name="Rectangle 3">
            <a:extLst>
              <a:ext uri="{FF2B5EF4-FFF2-40B4-BE49-F238E27FC236}">
                <a16:creationId xmlns:a16="http://schemas.microsoft.com/office/drawing/2014/main" id="{928650E8-73CD-BDB4-E535-1C200C4EE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953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2540" name="Rectangle 5">
            <a:extLst>
              <a:ext uri="{FF2B5EF4-FFF2-40B4-BE49-F238E27FC236}">
                <a16:creationId xmlns:a16="http://schemas.microsoft.com/office/drawing/2014/main" id="{69ACC20E-5EDB-1A03-1066-30F27CD3C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2541" name="Rectangle 6">
            <a:extLst>
              <a:ext uri="{FF2B5EF4-FFF2-40B4-BE49-F238E27FC236}">
                <a16:creationId xmlns:a16="http://schemas.microsoft.com/office/drawing/2014/main" id="{4131E1E6-C237-6D17-A492-2E3999933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2397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2542" name="Rectangle 8">
            <a:extLst>
              <a:ext uri="{FF2B5EF4-FFF2-40B4-BE49-F238E27FC236}">
                <a16:creationId xmlns:a16="http://schemas.microsoft.com/office/drawing/2014/main" id="{94D397E8-C170-271F-2405-82A6B8D56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DDF92CAD-833F-C07B-6CFF-EAC3D321E6A8}"/>
              </a:ext>
            </a:extLst>
          </p:cNvPr>
          <p:cNvGrpSpPr>
            <a:grpSpLocks/>
          </p:cNvGrpSpPr>
          <p:nvPr/>
        </p:nvGrpSpPr>
        <p:grpSpPr bwMode="auto">
          <a:xfrm>
            <a:off x="2111375" y="4851400"/>
            <a:ext cx="2214563" cy="738188"/>
            <a:chOff x="2754296" y="5565787"/>
            <a:chExt cx="2214578" cy="738190"/>
          </a:xfrm>
        </p:grpSpPr>
        <p:cxnSp>
          <p:nvCxnSpPr>
            <p:cNvPr id="22551" name="Straight Arrow Connector 28">
              <a:extLst>
                <a:ext uri="{FF2B5EF4-FFF2-40B4-BE49-F238E27FC236}">
                  <a16:creationId xmlns:a16="http://schemas.microsoft.com/office/drawing/2014/main" id="{34B219AA-43C3-0C98-6808-F2F9523A97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54296" y="5565787"/>
              <a:ext cx="2214578" cy="57150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22552" name="Picture 7">
              <a:extLst>
                <a:ext uri="{FF2B5EF4-FFF2-40B4-BE49-F238E27FC236}">
                  <a16:creationId xmlns:a16="http://schemas.microsoft.com/office/drawing/2014/main" id="{5C13FCA7-51D3-1AE7-6B44-0BCA873EFB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0114" y="5922977"/>
              <a:ext cx="16192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544" name="Rectangle 10">
            <a:extLst>
              <a:ext uri="{FF2B5EF4-FFF2-40B4-BE49-F238E27FC236}">
                <a16:creationId xmlns:a16="http://schemas.microsoft.com/office/drawing/2014/main" id="{B9F0F703-C03E-C625-E893-1AD49F8A9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grpSp>
        <p:nvGrpSpPr>
          <p:cNvPr id="6" name="Group 39">
            <a:extLst>
              <a:ext uri="{FF2B5EF4-FFF2-40B4-BE49-F238E27FC236}">
                <a16:creationId xmlns:a16="http://schemas.microsoft.com/office/drawing/2014/main" id="{586CF4DC-B81B-A8B0-E0A1-41167187DBFA}"/>
              </a:ext>
            </a:extLst>
          </p:cNvPr>
          <p:cNvGrpSpPr>
            <a:grpSpLocks/>
          </p:cNvGrpSpPr>
          <p:nvPr/>
        </p:nvGrpSpPr>
        <p:grpSpPr bwMode="auto">
          <a:xfrm>
            <a:off x="2111375" y="4422775"/>
            <a:ext cx="4071938" cy="428625"/>
            <a:chOff x="2754296" y="5137159"/>
            <a:chExt cx="4071966" cy="428628"/>
          </a:xfrm>
        </p:grpSpPr>
        <p:cxnSp>
          <p:nvCxnSpPr>
            <p:cNvPr id="22549" name="Straight Arrow Connector 37">
              <a:extLst>
                <a:ext uri="{FF2B5EF4-FFF2-40B4-BE49-F238E27FC236}">
                  <a16:creationId xmlns:a16="http://schemas.microsoft.com/office/drawing/2014/main" id="{C88935A0-5761-C3B5-BF8F-2A1A38F18E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754296" y="5494349"/>
              <a:ext cx="4071966" cy="7143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prstDash val="lg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22550" name="Picture 9">
              <a:extLst>
                <a:ext uri="{FF2B5EF4-FFF2-40B4-BE49-F238E27FC236}">
                  <a16:creationId xmlns:a16="http://schemas.microsoft.com/office/drawing/2014/main" id="{21C746EC-D345-07DA-45FB-4291C8073C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8808" y="5137159"/>
              <a:ext cx="6477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546" name="Rectangle 12">
            <a:extLst>
              <a:ext uri="{FF2B5EF4-FFF2-40B4-BE49-F238E27FC236}">
                <a16:creationId xmlns:a16="http://schemas.microsoft.com/office/drawing/2014/main" id="{25FD6442-051D-4857-E59B-9E79B0FB4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8212" name="Picture 11">
            <a:extLst>
              <a:ext uri="{FF2B5EF4-FFF2-40B4-BE49-F238E27FC236}">
                <a16:creationId xmlns:a16="http://schemas.microsoft.com/office/drawing/2014/main" id="{A861752B-D7F0-B1F5-4499-0A5010AF6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0" y="2851150"/>
            <a:ext cx="5972175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8" name="Rectangle 13">
            <a:extLst>
              <a:ext uri="{FF2B5EF4-FFF2-40B4-BE49-F238E27FC236}">
                <a16:creationId xmlns:a16="http://schemas.microsoft.com/office/drawing/2014/main" id="{BAE8090D-3640-85B9-BB5F-F502B18B7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2397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A263A53F-A411-5E78-02FC-7A17B3CEEA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Voorstelling van Punten &amp; Vectoren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78190A73-31A2-B5D5-6F83-C6D5819E44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9034462" cy="3090863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Eigenschappen van homogene coördinaten</a:t>
            </a:r>
          </a:p>
          <a:p>
            <a:pPr lvl="1"/>
            <a:r>
              <a:rPr lang="nl-BE" altLang="en-US"/>
              <a:t>Het verschil van twee punten is een vector</a:t>
            </a:r>
          </a:p>
          <a:p>
            <a:pPr lvl="2"/>
            <a:r>
              <a:rPr lang="nl-BE" altLang="en-US"/>
              <a:t>Punt  </a:t>
            </a:r>
          </a:p>
          <a:p>
            <a:pPr lvl="2"/>
            <a:r>
              <a:rPr lang="nl-BE" altLang="en-US"/>
              <a:t>Punt</a:t>
            </a:r>
          </a:p>
          <a:p>
            <a:pPr lvl="2"/>
            <a:r>
              <a:rPr lang="nl-BE" altLang="en-US"/>
              <a:t> </a:t>
            </a:r>
          </a:p>
          <a:p>
            <a:pPr lvl="2"/>
            <a:endParaRPr lang="nl-BE" altLang="en-US"/>
          </a:p>
          <a:p>
            <a:pPr lvl="3"/>
            <a:endParaRPr lang="nl-BE" altLang="en-US"/>
          </a:p>
          <a:p>
            <a:pPr lvl="3"/>
            <a:r>
              <a:rPr lang="nl-BE" altLang="en-US"/>
              <a:t>Dit is de vector die     en     verbindt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3CA323-5BC0-FB4E-B5B5-A45C25A8B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23556" name="Slide Number Placeholder 4">
            <a:extLst>
              <a:ext uri="{FF2B5EF4-FFF2-40B4-BE49-F238E27FC236}">
                <a16:creationId xmlns:a16="http://schemas.microsoft.com/office/drawing/2014/main" id="{1C7EA096-5634-CBA3-B166-04C01FB9B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5E2FC3A7-B12A-4F4E-AD10-DCCFD89E9637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7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23557" name="Rectangle 2">
            <a:extLst>
              <a:ext uri="{FF2B5EF4-FFF2-40B4-BE49-F238E27FC236}">
                <a16:creationId xmlns:a16="http://schemas.microsoft.com/office/drawing/2014/main" id="{5ADA1600-9962-2F0D-2D84-05AA826BD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9223" name="Picture 4">
            <a:extLst>
              <a:ext uri="{FF2B5EF4-FFF2-40B4-BE49-F238E27FC236}">
                <a16:creationId xmlns:a16="http://schemas.microsoft.com/office/drawing/2014/main" id="{6719A270-EB08-97E9-81D2-D8265679E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688" y="2136775"/>
            <a:ext cx="205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Rectangle 4">
            <a:extLst>
              <a:ext uri="{FF2B5EF4-FFF2-40B4-BE49-F238E27FC236}">
                <a16:creationId xmlns:a16="http://schemas.microsoft.com/office/drawing/2014/main" id="{B8D5343B-8D34-0E85-25F3-132D1BF1C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3560" name="Rectangle 2">
            <a:extLst>
              <a:ext uri="{FF2B5EF4-FFF2-40B4-BE49-F238E27FC236}">
                <a16:creationId xmlns:a16="http://schemas.microsoft.com/office/drawing/2014/main" id="{6CE3F391-242C-ECA2-66A5-23B3D6FB3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9226" name="Picture 1">
            <a:extLst>
              <a:ext uri="{FF2B5EF4-FFF2-40B4-BE49-F238E27FC236}">
                <a16:creationId xmlns:a16="http://schemas.microsoft.com/office/drawing/2014/main" id="{EC208A4A-BF62-1E47-C89C-63BB8C551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688" y="2493963"/>
            <a:ext cx="205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2" name="Rectangle 3">
            <a:extLst>
              <a:ext uri="{FF2B5EF4-FFF2-40B4-BE49-F238E27FC236}">
                <a16:creationId xmlns:a16="http://schemas.microsoft.com/office/drawing/2014/main" id="{153EDB36-B22F-20F4-BEC2-37C2D13F7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3563" name="Rectangle 5">
            <a:extLst>
              <a:ext uri="{FF2B5EF4-FFF2-40B4-BE49-F238E27FC236}">
                <a16:creationId xmlns:a16="http://schemas.microsoft.com/office/drawing/2014/main" id="{CD725099-AA11-135B-BBE4-F5734B8E0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9229" name="Picture 4">
            <a:extLst>
              <a:ext uri="{FF2B5EF4-FFF2-40B4-BE49-F238E27FC236}">
                <a16:creationId xmlns:a16="http://schemas.microsoft.com/office/drawing/2014/main" id="{43F53FD3-E078-78BC-2991-284CB8395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0" y="2851150"/>
            <a:ext cx="597217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5" name="Rectangle 6">
            <a:extLst>
              <a:ext uri="{FF2B5EF4-FFF2-40B4-BE49-F238E27FC236}">
                <a16:creationId xmlns:a16="http://schemas.microsoft.com/office/drawing/2014/main" id="{B5E0CD3C-881F-8253-A8E4-5567E8A7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6682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grpSp>
        <p:nvGrpSpPr>
          <p:cNvPr id="2" name="Group 27">
            <a:extLst>
              <a:ext uri="{FF2B5EF4-FFF2-40B4-BE49-F238E27FC236}">
                <a16:creationId xmlns:a16="http://schemas.microsoft.com/office/drawing/2014/main" id="{681D1FE0-2E6D-61A1-1A0B-195360D3DDA7}"/>
              </a:ext>
            </a:extLst>
          </p:cNvPr>
          <p:cNvGrpSpPr>
            <a:grpSpLocks/>
          </p:cNvGrpSpPr>
          <p:nvPr/>
        </p:nvGrpSpPr>
        <p:grpSpPr bwMode="auto">
          <a:xfrm>
            <a:off x="2254250" y="5494338"/>
            <a:ext cx="285750" cy="452437"/>
            <a:chOff x="2754296" y="4422779"/>
            <a:chExt cx="285752" cy="452438"/>
          </a:xfrm>
        </p:grpSpPr>
        <p:sp>
          <p:nvSpPr>
            <p:cNvPr id="23581" name="Oval 28">
              <a:extLst>
                <a:ext uri="{FF2B5EF4-FFF2-40B4-BE49-F238E27FC236}">
                  <a16:creationId xmlns:a16="http://schemas.microsoft.com/office/drawing/2014/main" id="{4D25CD8B-7D5C-E59A-C32A-7F1CFC826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7172" y="4422779"/>
              <a:ext cx="142876" cy="14287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pic>
          <p:nvPicPr>
            <p:cNvPr id="23582" name="Picture 9">
              <a:extLst>
                <a:ext uri="{FF2B5EF4-FFF2-40B4-BE49-F238E27FC236}">
                  <a16:creationId xmlns:a16="http://schemas.microsoft.com/office/drawing/2014/main" id="{68B90BD1-C3EB-FDC1-330C-A1498739BC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4296" y="4494217"/>
              <a:ext cx="16192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567" name="Rectangle 8">
            <a:extLst>
              <a:ext uri="{FF2B5EF4-FFF2-40B4-BE49-F238E27FC236}">
                <a16:creationId xmlns:a16="http://schemas.microsoft.com/office/drawing/2014/main" id="{C0B231B7-9C47-9454-46A0-7881CD8EB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BFB0BBF5-6F3B-3D4C-3024-44AD495377EE}"/>
              </a:ext>
            </a:extLst>
          </p:cNvPr>
          <p:cNvGrpSpPr>
            <a:grpSpLocks/>
          </p:cNvGrpSpPr>
          <p:nvPr/>
        </p:nvGrpSpPr>
        <p:grpSpPr bwMode="auto">
          <a:xfrm>
            <a:off x="4826000" y="5280025"/>
            <a:ext cx="295275" cy="523875"/>
            <a:chOff x="4825998" y="5280035"/>
            <a:chExt cx="295276" cy="523876"/>
          </a:xfrm>
        </p:grpSpPr>
        <p:sp>
          <p:nvSpPr>
            <p:cNvPr id="23579" name="Oval 31">
              <a:extLst>
                <a:ext uri="{FF2B5EF4-FFF2-40B4-BE49-F238E27FC236}">
                  <a16:creationId xmlns:a16="http://schemas.microsoft.com/office/drawing/2014/main" id="{CA540EE4-0CAA-0C87-F4B3-4A5B68BDC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5998" y="5280035"/>
              <a:ext cx="142876" cy="14287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pic>
          <p:nvPicPr>
            <p:cNvPr id="23580" name="Picture 7">
              <a:extLst>
                <a:ext uri="{FF2B5EF4-FFF2-40B4-BE49-F238E27FC236}">
                  <a16:creationId xmlns:a16="http://schemas.microsoft.com/office/drawing/2014/main" id="{9C7C1D5A-82B4-EF2E-71F8-B7CC5CC488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8874" y="5422911"/>
              <a:ext cx="1524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569" name="Rectangle 10">
            <a:extLst>
              <a:ext uri="{FF2B5EF4-FFF2-40B4-BE49-F238E27FC236}">
                <a16:creationId xmlns:a16="http://schemas.microsoft.com/office/drawing/2014/main" id="{16A51D39-EE6B-DF2E-45BB-69C1723A9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grpSp>
        <p:nvGrpSpPr>
          <p:cNvPr id="6" name="Group 42">
            <a:extLst>
              <a:ext uri="{FF2B5EF4-FFF2-40B4-BE49-F238E27FC236}">
                <a16:creationId xmlns:a16="http://schemas.microsoft.com/office/drawing/2014/main" id="{8D58DE8B-0B9C-ACC5-874E-7CDAE4134EA7}"/>
              </a:ext>
            </a:extLst>
          </p:cNvPr>
          <p:cNvGrpSpPr>
            <a:grpSpLocks/>
          </p:cNvGrpSpPr>
          <p:nvPr/>
        </p:nvGrpSpPr>
        <p:grpSpPr bwMode="auto">
          <a:xfrm>
            <a:off x="2468563" y="5065713"/>
            <a:ext cx="2357437" cy="500062"/>
            <a:chOff x="2468544" y="5065721"/>
            <a:chExt cx="2357454" cy="500066"/>
          </a:xfrm>
        </p:grpSpPr>
        <p:cxnSp>
          <p:nvCxnSpPr>
            <p:cNvPr id="23577" name="Straight Arrow Connector 37">
              <a:extLst>
                <a:ext uri="{FF2B5EF4-FFF2-40B4-BE49-F238E27FC236}">
                  <a16:creationId xmlns:a16="http://schemas.microsoft.com/office/drawing/2014/main" id="{8A383338-827A-0499-754E-82343551B318}"/>
                </a:ext>
              </a:extLst>
            </p:cNvPr>
            <p:cNvCxnSpPr>
              <a:cxnSpLocks noChangeShapeType="1"/>
              <a:endCxn id="23579" idx="2"/>
            </p:cNvCxnSpPr>
            <p:nvPr/>
          </p:nvCxnSpPr>
          <p:spPr bwMode="auto">
            <a:xfrm flipV="1">
              <a:off x="2468544" y="5351473"/>
              <a:ext cx="2357454" cy="21431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23578" name="Picture 9">
              <a:extLst>
                <a:ext uri="{FF2B5EF4-FFF2-40B4-BE49-F238E27FC236}">
                  <a16:creationId xmlns:a16="http://schemas.microsoft.com/office/drawing/2014/main" id="{AB40B770-1EF9-BD76-77CC-9321013439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8676" y="5065721"/>
              <a:ext cx="31432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571" name="Rectangle 12">
            <a:extLst>
              <a:ext uri="{FF2B5EF4-FFF2-40B4-BE49-F238E27FC236}">
                <a16:creationId xmlns:a16="http://schemas.microsoft.com/office/drawing/2014/main" id="{0AA24E38-1516-0760-B9A2-EFC1DF23B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3572" name="Rectangle 14">
            <a:extLst>
              <a:ext uri="{FF2B5EF4-FFF2-40B4-BE49-F238E27FC236}">
                <a16:creationId xmlns:a16="http://schemas.microsoft.com/office/drawing/2014/main" id="{AD6991B3-E2F5-9A98-B1E6-B52EA58DA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3573" name="Rectangle 16">
            <a:extLst>
              <a:ext uri="{FF2B5EF4-FFF2-40B4-BE49-F238E27FC236}">
                <a16:creationId xmlns:a16="http://schemas.microsoft.com/office/drawing/2014/main" id="{E1939275-D158-4F08-0EE3-2FB83D7CF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grpSp>
        <p:nvGrpSpPr>
          <p:cNvPr id="7" name="Group 30">
            <a:extLst>
              <a:ext uri="{FF2B5EF4-FFF2-40B4-BE49-F238E27FC236}">
                <a16:creationId xmlns:a16="http://schemas.microsoft.com/office/drawing/2014/main" id="{FC7E2F36-33A1-678D-FCF0-22848AEC69A0}"/>
              </a:ext>
            </a:extLst>
          </p:cNvPr>
          <p:cNvGrpSpPr>
            <a:grpSpLocks/>
          </p:cNvGrpSpPr>
          <p:nvPr/>
        </p:nvGrpSpPr>
        <p:grpSpPr bwMode="auto">
          <a:xfrm>
            <a:off x="4086225" y="3902075"/>
            <a:ext cx="738188" cy="396875"/>
            <a:chOff x="4254500" y="3922713"/>
            <a:chExt cx="738793" cy="397070"/>
          </a:xfrm>
        </p:grpSpPr>
        <p:pic>
          <p:nvPicPr>
            <p:cNvPr id="23575" name="Picture 13">
              <a:extLst>
                <a:ext uri="{FF2B5EF4-FFF2-40B4-BE49-F238E27FC236}">
                  <a16:creationId xmlns:a16="http://schemas.microsoft.com/office/drawing/2014/main" id="{291DAFEE-5DD5-DD43-B609-C187C07A2F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4500" y="3922713"/>
              <a:ext cx="16192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76" name="Picture 15">
              <a:extLst>
                <a:ext uri="{FF2B5EF4-FFF2-40B4-BE49-F238E27FC236}">
                  <a16:creationId xmlns:a16="http://schemas.microsoft.com/office/drawing/2014/main" id="{879812AC-50D6-1865-033F-D001932953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0893" y="3938783"/>
              <a:ext cx="1524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99835D98-D90D-948E-B332-D6B18B8C49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Voorstellingen van Punten &amp; Vectoren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986B37A9-A07E-3A2D-E371-55993F3A02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Matrices worden gebruikt om transformaties voor te stellen</a:t>
            </a:r>
          </a:p>
          <a:p>
            <a:pPr lvl="1"/>
            <a:r>
              <a:rPr lang="nl-BE" altLang="en-US"/>
              <a:t>Punt </a:t>
            </a:r>
          </a:p>
          <a:p>
            <a:pPr lvl="1"/>
            <a:endParaRPr lang="nl-BE" altLang="en-US" sz="600"/>
          </a:p>
          <a:p>
            <a:pPr lvl="1"/>
            <a:r>
              <a:rPr lang="nl-BE" altLang="en-US"/>
              <a:t>Vb: Transformatiematrix</a:t>
            </a:r>
          </a:p>
          <a:p>
            <a:pPr lvl="1"/>
            <a:endParaRPr lang="nl-BE" altLang="en-US"/>
          </a:p>
          <a:p>
            <a:pPr lvl="1"/>
            <a:endParaRPr lang="nl-BE" altLang="en-US" sz="1200"/>
          </a:p>
          <a:p>
            <a:pPr lvl="1"/>
            <a:endParaRPr lang="nl-BE" altLang="en-US"/>
          </a:p>
          <a:p>
            <a:pPr lvl="1"/>
            <a:r>
              <a:rPr lang="nl-BE" altLang="en-US"/>
              <a:t>Punt na transformatie</a:t>
            </a:r>
          </a:p>
          <a:p>
            <a:pPr lvl="1"/>
            <a:endParaRPr lang="nl-BE" altLang="en-US"/>
          </a:p>
          <a:p>
            <a:pPr lvl="1"/>
            <a:endParaRPr lang="nl-BE" altLang="en-US"/>
          </a:p>
          <a:p>
            <a:pPr lvl="1"/>
            <a:r>
              <a:rPr lang="nl-BE" altLang="en-US"/>
              <a:t>Bij gebruik van homogene coördinaten kunnen verschuivingen ook als matrices worden voorgesteld !!</a:t>
            </a:r>
          </a:p>
          <a:p>
            <a:endParaRPr lang="nl-BE" altLang="en-US">
              <a:ea typeface="ＭＳ Ｐゴシック" panose="020B0600070205080204" pitchFamily="34" charset="-128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006A52-BD13-534E-A03C-A9EAFF20C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24580" name="Slide Number Placeholder 4">
            <a:extLst>
              <a:ext uri="{FF2B5EF4-FFF2-40B4-BE49-F238E27FC236}">
                <a16:creationId xmlns:a16="http://schemas.microsoft.com/office/drawing/2014/main" id="{9CC6EED9-EDA2-DE64-4CFD-06DB003C2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B80D523C-4AA4-4F42-8785-BFB0BCC37877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8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pic>
        <p:nvPicPr>
          <p:cNvPr id="10246" name="Picture 4">
            <a:extLst>
              <a:ext uri="{FF2B5EF4-FFF2-40B4-BE49-F238E27FC236}">
                <a16:creationId xmlns:a16="http://schemas.microsoft.com/office/drawing/2014/main" id="{1AC7200D-F971-0FEF-094F-AB0E13EF0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0" y="1708150"/>
            <a:ext cx="205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Rectangle 2">
            <a:extLst>
              <a:ext uri="{FF2B5EF4-FFF2-40B4-BE49-F238E27FC236}">
                <a16:creationId xmlns:a16="http://schemas.microsoft.com/office/drawing/2014/main" id="{D8ABB68C-EE2A-134D-501F-F7F964A20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4583" name="Rectangle 3">
            <a:extLst>
              <a:ext uri="{FF2B5EF4-FFF2-40B4-BE49-F238E27FC236}">
                <a16:creationId xmlns:a16="http://schemas.microsoft.com/office/drawing/2014/main" id="{A8EBB006-54AA-5061-AF3D-8380872A1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764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4584" name="Rectangle 5">
            <a:extLst>
              <a:ext uri="{FF2B5EF4-FFF2-40B4-BE49-F238E27FC236}">
                <a16:creationId xmlns:a16="http://schemas.microsoft.com/office/drawing/2014/main" id="{8B55EA6F-CA2C-2E50-77E3-69134FFDD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4585" name="Rectangle 6">
            <a:extLst>
              <a:ext uri="{FF2B5EF4-FFF2-40B4-BE49-F238E27FC236}">
                <a16:creationId xmlns:a16="http://schemas.microsoft.com/office/drawing/2014/main" id="{58CAE27F-9EBA-7AC8-468C-E424EAE14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764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4586" name="Rectangle 8">
            <a:extLst>
              <a:ext uri="{FF2B5EF4-FFF2-40B4-BE49-F238E27FC236}">
                <a16:creationId xmlns:a16="http://schemas.microsoft.com/office/drawing/2014/main" id="{D3871517-0B97-C15A-3BCC-28A630C1C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10252" name="Picture 7">
            <a:extLst>
              <a:ext uri="{FF2B5EF4-FFF2-40B4-BE49-F238E27FC236}">
                <a16:creationId xmlns:a16="http://schemas.microsoft.com/office/drawing/2014/main" id="{A3075D68-4CD5-773E-9AD1-007EC8DC6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75" y="1993900"/>
            <a:ext cx="244792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8" name="Rectangle 9">
            <a:extLst>
              <a:ext uri="{FF2B5EF4-FFF2-40B4-BE49-F238E27FC236}">
                <a16:creationId xmlns:a16="http://schemas.microsoft.com/office/drawing/2014/main" id="{E62F2C6E-515D-62BB-FBB1-DD6D7CB41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11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4589" name="Rectangle 11">
            <a:extLst>
              <a:ext uri="{FF2B5EF4-FFF2-40B4-BE49-F238E27FC236}">
                <a16:creationId xmlns:a16="http://schemas.microsoft.com/office/drawing/2014/main" id="{ECE0C1D4-8D02-4AF2-FF70-895E03386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4590" name="Rectangle 12">
            <a:extLst>
              <a:ext uri="{FF2B5EF4-FFF2-40B4-BE49-F238E27FC236}">
                <a16:creationId xmlns:a16="http://schemas.microsoft.com/office/drawing/2014/main" id="{D3BB2D1E-E59F-58BF-1095-EF84B3E1D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11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4591" name="Rectangle 18">
            <a:extLst>
              <a:ext uri="{FF2B5EF4-FFF2-40B4-BE49-F238E27FC236}">
                <a16:creationId xmlns:a16="http://schemas.microsoft.com/office/drawing/2014/main" id="{7A90BF41-9383-361E-A43B-1B0806B0F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4592" name="Rectangle 19">
            <a:extLst>
              <a:ext uri="{FF2B5EF4-FFF2-40B4-BE49-F238E27FC236}">
                <a16:creationId xmlns:a16="http://schemas.microsoft.com/office/drawing/2014/main" id="{22023A95-3B18-1FD2-5B39-AF1636869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83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24593" name="Rectangle 21">
            <a:extLst>
              <a:ext uri="{FF2B5EF4-FFF2-40B4-BE49-F238E27FC236}">
                <a16:creationId xmlns:a16="http://schemas.microsoft.com/office/drawing/2014/main" id="{4466271B-448E-A025-CEE4-A6089F661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11284" name="Picture 20">
            <a:extLst>
              <a:ext uri="{FF2B5EF4-FFF2-40B4-BE49-F238E27FC236}">
                <a16:creationId xmlns:a16="http://schemas.microsoft.com/office/drawing/2014/main" id="{FC6E7184-E203-FBCC-D746-2D0B4040C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188" y="3494088"/>
            <a:ext cx="3876675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95" name="Rectangle 22">
            <a:extLst>
              <a:ext uri="{FF2B5EF4-FFF2-40B4-BE49-F238E27FC236}">
                <a16:creationId xmlns:a16="http://schemas.microsoft.com/office/drawing/2014/main" id="{B6A5A4BA-4DE7-E689-61A9-42CF689B0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83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autoUpdateAnimBg="0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38ACA-707E-3D47-A71A-71F7482B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25602" name="Slide Number Placeholder 4">
            <a:extLst>
              <a:ext uri="{FF2B5EF4-FFF2-40B4-BE49-F238E27FC236}">
                <a16:creationId xmlns:a16="http://schemas.microsoft.com/office/drawing/2014/main" id="{EE73E2D2-639F-1673-AEA1-1F6D4CF1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B01641C4-070B-DE42-B6DA-26758075C80B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9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25603" name="Title 9">
            <a:extLst>
              <a:ext uri="{FF2B5EF4-FFF2-40B4-BE49-F238E27FC236}">
                <a16:creationId xmlns:a16="http://schemas.microsoft.com/office/drawing/2014/main" id="{547A68D2-EAD2-5BA1-8CA3-5A808DD9D0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4063" y="3005138"/>
            <a:ext cx="8567737" cy="1501775"/>
          </a:xfrm>
        </p:spPr>
        <p:txBody>
          <a:bodyPr/>
          <a:lstStyle/>
          <a:p>
            <a:pPr algn="ctr"/>
            <a:r>
              <a:rPr lang="nl-BE" altLang="en-US">
                <a:ea typeface="ＭＳ Ｐゴシック" panose="020B0600070205080204" pitchFamily="34" charset="-128"/>
              </a:rPr>
              <a:t>Matrix &amp; Vector Library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0">
            <a:extLst>
              <a:ext uri="{FF2B5EF4-FFF2-40B4-BE49-F238E27FC236}">
                <a16:creationId xmlns:a16="http://schemas.microsoft.com/office/drawing/2014/main" id="{FA73B8D1-0781-36FC-6D85-330B4AA194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Matrix &amp; Vector Library</a:t>
            </a:r>
          </a:p>
        </p:txBody>
      </p:sp>
      <p:sp>
        <p:nvSpPr>
          <p:cNvPr id="26626" name="Content Placeholder 11">
            <a:extLst>
              <a:ext uri="{FF2B5EF4-FFF2-40B4-BE49-F238E27FC236}">
                <a16:creationId xmlns:a16="http://schemas.microsoft.com/office/drawing/2014/main" id="{203E9CFB-9B3E-6C01-5D21-D28530E3E46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03238" y="1260475"/>
            <a:ext cx="4440237" cy="519113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4x4 Matrices</a:t>
            </a:r>
          </a:p>
        </p:txBody>
      </p:sp>
      <p:sp>
        <p:nvSpPr>
          <p:cNvPr id="26627" name="Content Placeholder 12">
            <a:extLst>
              <a:ext uri="{FF2B5EF4-FFF2-40B4-BE49-F238E27FC236}">
                <a16:creationId xmlns:a16="http://schemas.microsoft.com/office/drawing/2014/main" id="{18C80713-C36F-1B9E-6486-DFD425C825F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468938" y="1922463"/>
            <a:ext cx="4441825" cy="519112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nl-BE" altLang="en-US" sz="2200">
                <a:ea typeface="ＭＳ Ｐゴシック" panose="020B0600070205080204" pitchFamily="34" charset="-128"/>
              </a:rPr>
              <a:t>Output: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E22F5-8D6D-7240-A7CB-22315446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26629" name="Slide Number Placeholder 4">
            <a:extLst>
              <a:ext uri="{FF2B5EF4-FFF2-40B4-BE49-F238E27FC236}">
                <a16:creationId xmlns:a16="http://schemas.microsoft.com/office/drawing/2014/main" id="{B145D871-C8D6-5207-EDFD-85A445B17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05401DC6-02E7-BF40-93D9-4E50BB5353FF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10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26630" name="TextBox 13">
            <a:extLst>
              <a:ext uri="{FF2B5EF4-FFF2-40B4-BE49-F238E27FC236}">
                <a16:creationId xmlns:a16="http://schemas.microsoft.com/office/drawing/2014/main" id="{012CB8B8-2DD3-98B2-E32E-4BBC4A720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708150"/>
            <a:ext cx="4505325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#include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&lt;iostream&gt;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#include</a:t>
            </a:r>
            <a:r>
              <a:rPr lang="nl-BE" altLang="en-US" sz="1400">
                <a:latin typeface="Courier New" panose="02070309020205020404" pitchFamily="49" charset="0"/>
              </a:rPr>
              <a:t>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“vector.hh”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nl-BE" altLang="en-US" sz="1400">
                <a:latin typeface="Courier New" panose="02070309020205020404" pitchFamily="49" charset="0"/>
              </a:rPr>
              <a:t> </a:t>
            </a:r>
            <a:r>
              <a:rPr lang="nl-BE" altLang="en-US" sz="1400" b="1">
                <a:latin typeface="Courier New" panose="02070309020205020404" pitchFamily="49" charset="0"/>
              </a:rPr>
              <a:t>main</a:t>
            </a:r>
            <a:r>
              <a:rPr lang="nl-BE" altLang="en-US" sz="1400">
                <a:latin typeface="Courier New" panose="02070309020205020404" pitchFamily="49" charset="0"/>
              </a:rPr>
              <a:t>()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{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</a:t>
            </a: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//Matrices worden geïnitialiseerd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	//op de eenheidsmatrix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</a:t>
            </a: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Matrix</a:t>
            </a:r>
            <a:r>
              <a:rPr lang="nl-BE" altLang="en-US" sz="1400">
                <a:latin typeface="Courier New" panose="02070309020205020404" pitchFamily="49" charset="0"/>
              </a:rPr>
              <a:t> rot_z;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std::cout &lt;&lt;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“Unity: ”</a:t>
            </a:r>
            <a:r>
              <a:rPr lang="nl-BE" altLang="ja-JP" sz="1400">
                <a:latin typeface="Courier New" panose="02070309020205020404" pitchFamily="49" charset="0"/>
              </a:rPr>
              <a:t> &lt;&lt; std::endl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		&lt;&lt; rot_z &lt;&lt; std::endl;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	//Elementen kunnen individueel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	//aangepast worden en worden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	//vanaf 1 geïndexeerd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rot_z(1,1) = 0;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rot_z(1,2) = -1;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rot_z(2,1) = 1;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rot_z(2,2) = 0;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std::cout &lt;&lt;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“Z-axis Rotation”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			</a:t>
            </a:r>
            <a:r>
              <a:rPr lang="nl-BE" altLang="en-US" sz="1400">
                <a:latin typeface="Courier New" panose="02070309020205020404" pitchFamily="49" charset="0"/>
              </a:rPr>
              <a:t>&lt;&lt; rot_z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		&lt;&lt; std::endl;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</a:t>
            </a: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return</a:t>
            </a:r>
            <a:r>
              <a:rPr lang="nl-BE" altLang="en-US" sz="1400">
                <a:latin typeface="Courier New" panose="02070309020205020404" pitchFamily="49" charset="0"/>
              </a:rPr>
              <a:t> 0;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6631" name="Rectangle 14">
            <a:extLst>
              <a:ext uri="{FF2B5EF4-FFF2-40B4-BE49-F238E27FC236}">
                <a16:creationId xmlns:a16="http://schemas.microsoft.com/office/drawing/2014/main" id="{4E1C1F5F-C879-FC45-7509-70C04ED95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2422525"/>
            <a:ext cx="3214688" cy="229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Unity: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/    1    0    0    0\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|    0    1    0    0|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|    0    0    1    0|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\    0    0    0    1/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 i="1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Z-axis Rotation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/    0   -1    0    0\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|    1    0    0    0|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|    0    0    1    0|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\    0    0    0    1/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89103F3F-2907-92AE-8DBA-F403881DD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Matrix &amp; Vector Library</a:t>
            </a:r>
          </a:p>
        </p:txBody>
      </p:sp>
      <p:sp>
        <p:nvSpPr>
          <p:cNvPr id="27650" name="Content Placeholder 2">
            <a:extLst>
              <a:ext uri="{FF2B5EF4-FFF2-40B4-BE49-F238E27FC236}">
                <a16:creationId xmlns:a16="http://schemas.microsoft.com/office/drawing/2014/main" id="{4E4234C1-A506-918C-13B6-84E00D2F133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03238" y="1260475"/>
            <a:ext cx="4440237" cy="519113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4x4 Matrices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C0054-AE84-6F48-88E4-BEB3842FD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27652" name="Slide Number Placeholder 5">
            <a:extLst>
              <a:ext uri="{FF2B5EF4-FFF2-40B4-BE49-F238E27FC236}">
                <a16:creationId xmlns:a16="http://schemas.microsoft.com/office/drawing/2014/main" id="{C3A404DC-08CF-4EC6-8AEA-97B777CED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548BEC43-A829-8146-B066-C1138CFAB5B2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11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27653" name="TextBox 6">
            <a:extLst>
              <a:ext uri="{FF2B5EF4-FFF2-40B4-BE49-F238E27FC236}">
                <a16:creationId xmlns:a16="http://schemas.microsoft.com/office/drawing/2014/main" id="{052B06E8-D0AC-B241-90C1-1B81746E9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708150"/>
            <a:ext cx="4572000" cy="430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#include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&lt;iostream&gt;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#include</a:t>
            </a:r>
            <a:r>
              <a:rPr lang="nl-BE" altLang="en-US" sz="1400">
                <a:latin typeface="Courier New" panose="02070309020205020404" pitchFamily="49" charset="0"/>
              </a:rPr>
              <a:t>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“vector.hh”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nl-BE" altLang="en-US" sz="1400">
                <a:latin typeface="Courier New" panose="02070309020205020404" pitchFamily="49" charset="0"/>
              </a:rPr>
              <a:t> </a:t>
            </a:r>
            <a:r>
              <a:rPr lang="nl-BE" altLang="en-US" sz="1400" b="1">
                <a:latin typeface="Courier New" panose="02070309020205020404" pitchFamily="49" charset="0"/>
              </a:rPr>
              <a:t>main</a:t>
            </a:r>
            <a:r>
              <a:rPr lang="nl-BE" altLang="en-US" sz="1400">
                <a:latin typeface="Courier New" panose="02070309020205020404" pitchFamily="49" charset="0"/>
              </a:rPr>
              <a:t>()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{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</a:t>
            </a: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Matrix</a:t>
            </a:r>
            <a:r>
              <a:rPr lang="nl-BE" altLang="en-US" sz="1400">
                <a:latin typeface="Courier New" panose="02070309020205020404" pitchFamily="49" charset="0"/>
              </a:rPr>
              <a:t> a,b,c;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a(1,1) = 2.0;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b(2,2) = 3.0;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</a:t>
            </a: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//Matrices kunnen met elkaar worden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	//vermenigvuldigd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c = a*b;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std::cout &lt;&lt;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“Matrix A:”</a:t>
            </a:r>
            <a:r>
              <a:rPr lang="nl-BE" altLang="ja-JP" sz="1400">
                <a:latin typeface="Courier New" panose="02070309020205020404" pitchFamily="49" charset="0"/>
              </a:rPr>
              <a:t> &lt;&lt; std::endl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		&lt;&lt; a &lt;&lt; std::endl;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std::cout &lt;&lt;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“Matrix B:”</a:t>
            </a:r>
            <a:r>
              <a:rPr lang="nl-BE" altLang="ja-JP" sz="1400">
                <a:latin typeface="Courier New" panose="02070309020205020404" pitchFamily="49" charset="0"/>
              </a:rPr>
              <a:t> &lt;&lt; std::endl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		&lt;&lt; b &lt;&lt; std::endl;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std::cout &lt;&lt;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“Matrix C:”</a:t>
            </a:r>
            <a:r>
              <a:rPr lang="nl-BE" altLang="ja-JP" sz="1400">
                <a:latin typeface="Courier New" panose="02070309020205020404" pitchFamily="49" charset="0"/>
              </a:rPr>
              <a:t> &lt;&lt; std::endl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		&lt;&lt; c &lt;&lt; std::endl;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</a:t>
            </a: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return</a:t>
            </a:r>
            <a:r>
              <a:rPr lang="nl-BE" altLang="en-US" sz="1400">
                <a:latin typeface="Courier New" panose="02070309020205020404" pitchFamily="49" charset="0"/>
              </a:rPr>
              <a:t> 0;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7654" name="Content Placeholder 12">
            <a:extLst>
              <a:ext uri="{FF2B5EF4-FFF2-40B4-BE49-F238E27FC236}">
                <a16:creationId xmlns:a16="http://schemas.microsoft.com/office/drawing/2014/main" id="{AC46B8D1-0593-6368-2AC7-96BCF0DD898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468938" y="1922463"/>
            <a:ext cx="4441825" cy="519112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nl-BE" altLang="en-US" sz="2200">
                <a:ea typeface="ＭＳ Ｐゴシック" panose="020B0600070205080204" pitchFamily="34" charset="-128"/>
              </a:rPr>
              <a:t>Output:</a:t>
            </a:r>
          </a:p>
        </p:txBody>
      </p:sp>
      <p:sp>
        <p:nvSpPr>
          <p:cNvPr id="27655" name="Rectangle 10">
            <a:extLst>
              <a:ext uri="{FF2B5EF4-FFF2-40B4-BE49-F238E27FC236}">
                <a16:creationId xmlns:a16="http://schemas.microsoft.com/office/drawing/2014/main" id="{EC24ED42-4A16-FE10-0658-9F20CB2BC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2422525"/>
            <a:ext cx="3214688" cy="350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Matrix A: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/    2    0    0    0\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|    0    1    0    0|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|    0    0    1    0|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\    0    0    0    1/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 i="1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Matrix B: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/    1    0    0    0\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|    0    3    0    0|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|    0    0    1    0|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\    0    0    0    1/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 i="1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Matrix C: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/    2    0    0    0\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|    0    3    0    0|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|    0    0    1    0|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i="1">
                <a:latin typeface="Courier New" panose="02070309020205020404" pitchFamily="49" charset="0"/>
              </a:rPr>
              <a:t>\    0    0    0    1/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2FB38015-1FB9-FD0A-88F5-697C6B18C7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Matrix &amp; Vector Library</a:t>
            </a:r>
          </a:p>
        </p:txBody>
      </p:sp>
      <p:sp>
        <p:nvSpPr>
          <p:cNvPr id="28674" name="Content Placeholder 2">
            <a:extLst>
              <a:ext uri="{FF2B5EF4-FFF2-40B4-BE49-F238E27FC236}">
                <a16:creationId xmlns:a16="http://schemas.microsoft.com/office/drawing/2014/main" id="{D853A450-F2F5-2086-0032-8528E981E5D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03238" y="1260475"/>
            <a:ext cx="4440237" cy="447675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Vector3D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31733-BC45-1D4C-801C-C6309812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28676" name="Slide Number Placeholder 5">
            <a:extLst>
              <a:ext uri="{FF2B5EF4-FFF2-40B4-BE49-F238E27FC236}">
                <a16:creationId xmlns:a16="http://schemas.microsoft.com/office/drawing/2014/main" id="{578F4F2E-1D3C-C4D0-E75A-A30FBC6D5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4D98E565-2EBB-6A48-BF74-1DDFD14D3B57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12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28677" name="Rectangle 6">
            <a:extLst>
              <a:ext uri="{FF2B5EF4-FFF2-40B4-BE49-F238E27FC236}">
                <a16:creationId xmlns:a16="http://schemas.microsoft.com/office/drawing/2014/main" id="{1BC301F2-4333-01AD-5F39-595A66EAE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779588"/>
            <a:ext cx="4857750" cy="570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#include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&lt;iostream&gt;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#include</a:t>
            </a:r>
            <a:r>
              <a:rPr lang="nl-BE" altLang="en-US" sz="1400">
                <a:latin typeface="Courier New" panose="02070309020205020404" pitchFamily="49" charset="0"/>
              </a:rPr>
              <a:t>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“vector.hh”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nl-BE" altLang="en-US" sz="1400">
                <a:latin typeface="Courier New" panose="02070309020205020404" pitchFamily="49" charset="0"/>
              </a:rPr>
              <a:t> </a:t>
            </a:r>
            <a:r>
              <a:rPr lang="nl-BE" altLang="en-US" sz="1400" b="1">
                <a:latin typeface="Courier New" panose="02070309020205020404" pitchFamily="49" charset="0"/>
              </a:rPr>
              <a:t>main</a:t>
            </a:r>
            <a:r>
              <a:rPr lang="nl-BE" altLang="en-US" sz="1400">
                <a:latin typeface="Courier New" panose="02070309020205020404" pitchFamily="49" charset="0"/>
              </a:rPr>
              <a:t>()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{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</a:t>
            </a: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//Zo maak je een punt aan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	Vector3D</a:t>
            </a:r>
            <a:r>
              <a:rPr lang="nl-BE" altLang="en-US" sz="1400">
                <a:latin typeface="Courier New" panose="02070309020205020404" pitchFamily="49" charset="0"/>
              </a:rPr>
              <a:t> a =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	</a:t>
            </a: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Vector3D</a:t>
            </a:r>
            <a:r>
              <a:rPr lang="nl-BE" altLang="en-US" sz="1400">
                <a:latin typeface="Courier New" panose="02070309020205020404" pitchFamily="49" charset="0"/>
              </a:rPr>
              <a:t>::point(1.0, 2.0, 1.5);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</a:t>
            </a: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//Zo maak je een vector aan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	Vector3D </a:t>
            </a:r>
            <a:r>
              <a:rPr lang="nl-BE" altLang="en-US" sz="1400">
                <a:latin typeface="Courier New" panose="02070309020205020404" pitchFamily="49" charset="0"/>
              </a:rPr>
              <a:t>q =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	</a:t>
            </a: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Vector3D</a:t>
            </a:r>
            <a:r>
              <a:rPr lang="nl-BE" altLang="en-US" sz="1400">
                <a:latin typeface="Courier New" panose="02070309020205020404" pitchFamily="49" charset="0"/>
              </a:rPr>
              <a:t>::vector(1.0, 2.0, 1.5);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std::cout &lt;&lt;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“This is a point:”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	&lt;&lt; std::endl &lt;&lt; a &lt;&lt; std::endl;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std::cout &lt;&lt;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“This is a vector:”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	 &lt;&lt; std::endl &lt;&lt; q &lt;&lt; std::endl;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	//Zo pas je de coördinaten van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	//een punt/vector aan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a.x = 5.0;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a.y = 4.0;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a.z = 3.0;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std::cout &lt;&lt;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“Point a:”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	 &lt;&lt; std::endl &lt;&lt; a &lt;&lt; std::endl;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</a:t>
            </a: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return</a:t>
            </a:r>
            <a:r>
              <a:rPr lang="nl-BE" altLang="en-US" sz="1400">
                <a:latin typeface="Courier New" panose="02070309020205020404" pitchFamily="49" charset="0"/>
              </a:rPr>
              <a:t> 0;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8678" name="Content Placeholder 12">
            <a:extLst>
              <a:ext uri="{FF2B5EF4-FFF2-40B4-BE49-F238E27FC236}">
                <a16:creationId xmlns:a16="http://schemas.microsoft.com/office/drawing/2014/main" id="{3E76FBBE-9982-0902-FDAB-8FA5D534D79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468938" y="1922463"/>
            <a:ext cx="4441825" cy="519112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nl-BE" altLang="en-US" sz="2200">
                <a:ea typeface="ＭＳ Ｐゴシック" panose="020B0600070205080204" pitchFamily="34" charset="-128"/>
              </a:rPr>
              <a:t>Output:</a:t>
            </a:r>
          </a:p>
        </p:txBody>
      </p:sp>
      <p:sp>
        <p:nvSpPr>
          <p:cNvPr id="28679" name="Rectangle 8">
            <a:extLst>
              <a:ext uri="{FF2B5EF4-FFF2-40B4-BE49-F238E27FC236}">
                <a16:creationId xmlns:a16="http://schemas.microsoft.com/office/drawing/2014/main" id="{B6E9AE6C-67BA-B3B3-0F7C-E0ACE243C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2422525"/>
            <a:ext cx="3214688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1400" i="1">
                <a:latin typeface="Courier New" panose="02070309020205020404" pitchFamily="49" charset="0"/>
              </a:rPr>
              <a:t>This is a point: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1400" i="1">
                <a:latin typeface="Courier New" panose="02070309020205020404" pitchFamily="49" charset="0"/>
              </a:rPr>
              <a:t>(   1,    2,  1.5,    1)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1400" i="1">
                <a:latin typeface="Courier New" panose="02070309020205020404" pitchFamily="49" charset="0"/>
              </a:rPr>
              <a:t>This is a vector: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1400" i="1">
                <a:latin typeface="Courier New" panose="02070309020205020404" pitchFamily="49" charset="0"/>
              </a:rPr>
              <a:t>(   1,    2,  1.5,    0)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1400" i="1">
                <a:latin typeface="Courier New" panose="02070309020205020404" pitchFamily="49" charset="0"/>
              </a:rPr>
              <a:t>Point a: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1400" i="1">
                <a:latin typeface="Courier New" panose="02070309020205020404" pitchFamily="49" charset="0"/>
              </a:rPr>
              <a:t>(   5,    4,    3,    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5DF74281-7281-13FD-1370-3BE004775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Matrix &amp; Vector Library</a:t>
            </a:r>
          </a:p>
        </p:txBody>
      </p:sp>
      <p:sp>
        <p:nvSpPr>
          <p:cNvPr id="29698" name="Content Placeholder 2">
            <a:extLst>
              <a:ext uri="{FF2B5EF4-FFF2-40B4-BE49-F238E27FC236}">
                <a16:creationId xmlns:a16="http://schemas.microsoft.com/office/drawing/2014/main" id="{8E0D71EE-8935-99A4-735A-4EF31CABC18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03238" y="1260475"/>
            <a:ext cx="4440237" cy="447675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Vector3D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DA4D7-8E86-BE4C-81A6-5AFCC54D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29700" name="Slide Number Placeholder 5">
            <a:extLst>
              <a:ext uri="{FF2B5EF4-FFF2-40B4-BE49-F238E27FC236}">
                <a16:creationId xmlns:a16="http://schemas.microsoft.com/office/drawing/2014/main" id="{82E1AC52-F500-2168-CF40-DDD58D2B2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B888442E-0B0F-AF4A-816B-18E6FC036689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13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29701" name="Rectangle 6">
            <a:extLst>
              <a:ext uri="{FF2B5EF4-FFF2-40B4-BE49-F238E27FC236}">
                <a16:creationId xmlns:a16="http://schemas.microsoft.com/office/drawing/2014/main" id="{227A5B81-F691-B825-FAA5-487083484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779588"/>
            <a:ext cx="5214937" cy="570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#include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&lt;iostream&gt;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#include</a:t>
            </a:r>
            <a:r>
              <a:rPr lang="nl-BE" altLang="en-US" sz="1400">
                <a:latin typeface="Courier New" panose="02070309020205020404" pitchFamily="49" charset="0"/>
              </a:rPr>
              <a:t>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“vector.hh”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nl-BE" altLang="en-US" sz="1400">
                <a:latin typeface="Courier New" panose="02070309020205020404" pitchFamily="49" charset="0"/>
              </a:rPr>
              <a:t> </a:t>
            </a:r>
            <a:r>
              <a:rPr lang="nl-BE" altLang="en-US" sz="1400" b="1">
                <a:latin typeface="Courier New" panose="02070309020205020404" pitchFamily="49" charset="0"/>
              </a:rPr>
              <a:t>main</a:t>
            </a:r>
            <a:r>
              <a:rPr lang="nl-BE" altLang="en-US" sz="1400">
                <a:latin typeface="Courier New" panose="02070309020205020404" pitchFamily="49" charset="0"/>
              </a:rPr>
              <a:t>()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{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	Vector3D</a:t>
            </a:r>
            <a:r>
              <a:rPr lang="nl-BE" altLang="en-US" sz="1400">
                <a:latin typeface="Courier New" panose="02070309020205020404" pitchFamily="49" charset="0"/>
              </a:rPr>
              <a:t> a =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	</a:t>
            </a: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Vector3D</a:t>
            </a:r>
            <a:r>
              <a:rPr lang="nl-BE" altLang="en-US" sz="1400">
                <a:latin typeface="Courier New" panose="02070309020205020404" pitchFamily="49" charset="0"/>
              </a:rPr>
              <a:t>::point(1.0, 2.0, 1.5);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</a:t>
            </a: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Vector3D</a:t>
            </a:r>
            <a:r>
              <a:rPr lang="nl-BE" altLang="en-US" sz="1400">
                <a:latin typeface="Courier New" panose="02070309020205020404" pitchFamily="49" charset="0"/>
              </a:rPr>
              <a:t> b = a;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	Vector3D </a:t>
            </a:r>
            <a:r>
              <a:rPr lang="nl-BE" altLang="en-US" sz="1400">
                <a:latin typeface="Courier New" panose="02070309020205020404" pitchFamily="49" charset="0"/>
              </a:rPr>
              <a:t>q =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	</a:t>
            </a: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Vector3D</a:t>
            </a:r>
            <a:r>
              <a:rPr lang="nl-BE" altLang="en-US" sz="1400">
                <a:latin typeface="Courier New" panose="02070309020205020404" pitchFamily="49" charset="0"/>
              </a:rPr>
              <a:t>::vector(2.0, 1.0, 3.5);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</a:t>
            </a: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Vector3D</a:t>
            </a:r>
            <a:r>
              <a:rPr lang="nl-BE" altLang="en-US" sz="1400">
                <a:latin typeface="Courier New" panose="02070309020205020404" pitchFamily="49" charset="0"/>
              </a:rPr>
              <a:t> p = q;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</a:t>
            </a: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//Vector3D zorgt voor de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	//Correcte punt &lt;-&gt; vector omzetting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std::cout &lt;&lt;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“a+q=” </a:t>
            </a:r>
            <a:r>
              <a:rPr lang="nl-BE" altLang="en-US" sz="1400">
                <a:latin typeface="Courier New" panose="02070309020205020404" pitchFamily="49" charset="0"/>
              </a:rPr>
              <a:t>&lt;&lt; a+q &lt;&lt; std::endl;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std::cout &lt;&lt;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“p+q=” </a:t>
            </a:r>
            <a:r>
              <a:rPr lang="nl-BE" altLang="en-US" sz="1400">
                <a:latin typeface="Courier New" panose="02070309020205020404" pitchFamily="49" charset="0"/>
              </a:rPr>
              <a:t>&lt;&lt; p+q &lt;&lt; std::endl;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std::cout &lt;&lt;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“b-a=” </a:t>
            </a:r>
            <a:r>
              <a:rPr lang="nl-BE" altLang="en-US" sz="1400">
                <a:latin typeface="Courier New" panose="02070309020205020404" pitchFamily="49" charset="0"/>
              </a:rPr>
              <a:t>&lt;&lt; b-a &lt;&lt; std::endl;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std::cout &lt;&lt; std::endl;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</a:t>
            </a: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//Punten en vectoren blijven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	//Punten en vectoren wanneer ze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	//Geschaald worden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std::cout &lt;&lt;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“2*a=” </a:t>
            </a:r>
            <a:r>
              <a:rPr lang="nl-BE" altLang="en-US" sz="1400">
                <a:latin typeface="Courier New" panose="02070309020205020404" pitchFamily="49" charset="0"/>
              </a:rPr>
              <a:t>&lt;&lt; 2*a &lt;&lt; std::endl;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std::cout &lt;&lt;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“2*q=” </a:t>
            </a:r>
            <a:r>
              <a:rPr lang="nl-BE" altLang="en-US" sz="1400">
                <a:latin typeface="Courier New" panose="02070309020205020404" pitchFamily="49" charset="0"/>
              </a:rPr>
              <a:t>&lt;&lt; 2*q &lt;&lt; std::endl;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</a:t>
            </a: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return</a:t>
            </a:r>
            <a:r>
              <a:rPr lang="nl-BE" altLang="en-US" sz="1400">
                <a:latin typeface="Courier New" panose="02070309020205020404" pitchFamily="49" charset="0"/>
              </a:rPr>
              <a:t> 0;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9702" name="Content Placeholder 12">
            <a:extLst>
              <a:ext uri="{FF2B5EF4-FFF2-40B4-BE49-F238E27FC236}">
                <a16:creationId xmlns:a16="http://schemas.microsoft.com/office/drawing/2014/main" id="{92B7FDEE-98B0-5EEF-98DD-632B9BCE1E7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468938" y="1922463"/>
            <a:ext cx="4441825" cy="519112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nl-BE" altLang="en-US" sz="2200">
                <a:ea typeface="ＭＳ Ｐゴシック" panose="020B0600070205080204" pitchFamily="34" charset="-128"/>
              </a:rPr>
              <a:t>Output:</a:t>
            </a:r>
          </a:p>
        </p:txBody>
      </p:sp>
      <p:sp>
        <p:nvSpPr>
          <p:cNvPr id="29703" name="Rectangle 8">
            <a:extLst>
              <a:ext uri="{FF2B5EF4-FFF2-40B4-BE49-F238E27FC236}">
                <a16:creationId xmlns:a16="http://schemas.microsoft.com/office/drawing/2014/main" id="{B50A0202-D76B-0539-885B-9F0109654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2422525"/>
            <a:ext cx="3214688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pt-BR" altLang="en-US" sz="1400" i="1">
                <a:latin typeface="Courier New" panose="02070309020205020404" pitchFamily="49" charset="0"/>
              </a:rPr>
              <a:t>a+q=(   3,    3,    5,    1)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pt-BR" altLang="en-US" sz="1400" i="1">
                <a:latin typeface="Courier New" panose="02070309020205020404" pitchFamily="49" charset="0"/>
              </a:rPr>
              <a:t>p+q=(   4,    2,    7,    0)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pt-BR" altLang="en-US" sz="1400" i="1">
                <a:latin typeface="Courier New" panose="02070309020205020404" pitchFamily="49" charset="0"/>
              </a:rPr>
              <a:t>b-a=(   0,    0,    0,    0)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en-US" sz="1400" i="1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pt-BR" altLang="en-US" sz="1400" i="1">
                <a:latin typeface="Courier New" panose="02070309020205020404" pitchFamily="49" charset="0"/>
              </a:rPr>
              <a:t>2*a=(   2,    4,    3,    1)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pt-BR" altLang="en-US" sz="1400" i="1">
                <a:latin typeface="Courier New" panose="02070309020205020404" pitchFamily="49" charset="0"/>
              </a:rPr>
              <a:t>2*q=(   4,    2,    7,    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6">
            <a:extLst>
              <a:ext uri="{FF2B5EF4-FFF2-40B4-BE49-F238E27FC236}">
                <a16:creationId xmlns:a16="http://schemas.microsoft.com/office/drawing/2014/main" id="{ACE62DD5-B1FD-6E24-327E-75CD1D8853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Matrix &amp; Vector Library</a:t>
            </a:r>
          </a:p>
        </p:txBody>
      </p:sp>
      <p:sp>
        <p:nvSpPr>
          <p:cNvPr id="30722" name="Content Placeholder 7">
            <a:extLst>
              <a:ext uri="{FF2B5EF4-FFF2-40B4-BE49-F238E27FC236}">
                <a16:creationId xmlns:a16="http://schemas.microsoft.com/office/drawing/2014/main" id="{E5DA7EC6-F803-C4FE-56C6-B5E4457ECD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Enkele andere interessante operaties:</a:t>
            </a:r>
          </a:p>
          <a:p>
            <a:pPr lvl="1"/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Vector3D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::normalise()</a:t>
            </a:r>
          </a:p>
          <a:p>
            <a:pPr lvl="2"/>
            <a:r>
              <a:rPr lang="nl-BE" altLang="en-US"/>
              <a:t>Normaliseert een Vector</a:t>
            </a:r>
          </a:p>
          <a:p>
            <a:pPr lvl="1"/>
            <a:endParaRPr lang="nl-BE" altLang="en-US">
              <a:solidFill>
                <a:srgbClr val="005032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1"/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Vector3D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::length()</a:t>
            </a:r>
          </a:p>
          <a:p>
            <a:pPr lvl="2"/>
            <a:r>
              <a:rPr lang="nl-BE" altLang="en-US"/>
              <a:t>Berekent de lengte van een vector</a:t>
            </a:r>
          </a:p>
          <a:p>
            <a:pPr lvl="1"/>
            <a:endParaRPr lang="nl-BE" altLang="en-US">
              <a:solidFill>
                <a:srgbClr val="005032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1"/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Vector3D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::cross(…)</a:t>
            </a:r>
          </a:p>
          <a:p>
            <a:pPr lvl="2"/>
            <a:r>
              <a:rPr lang="nl-BE" altLang="en-US"/>
              <a:t>Berekent het uitwendig product van twee Vectoren</a:t>
            </a:r>
          </a:p>
          <a:p>
            <a:pPr lvl="1"/>
            <a:endParaRPr lang="nl-BE" altLang="en-US">
              <a:solidFill>
                <a:srgbClr val="005032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1"/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Vector3D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::dot(…)</a:t>
            </a:r>
          </a:p>
          <a:p>
            <a:pPr lvl="2"/>
            <a:r>
              <a:rPr lang="nl-BE" altLang="en-US"/>
              <a:t>Berekent het inproduct tussen twee Vectoren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B7306-BBC4-DD4A-8EEE-2CC96A0D7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30724" name="Slide Number Placeholder 5">
            <a:extLst>
              <a:ext uri="{FF2B5EF4-FFF2-40B4-BE49-F238E27FC236}">
                <a16:creationId xmlns:a16="http://schemas.microsoft.com/office/drawing/2014/main" id="{2FF5C841-4AA8-A09C-46A6-84A69152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118B4480-2DA8-C14A-B28A-829D488E403F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14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463812-8191-1842-B6B0-945418705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31746" name="Slide Number Placeholder 4">
            <a:extLst>
              <a:ext uri="{FF2B5EF4-FFF2-40B4-BE49-F238E27FC236}">
                <a16:creationId xmlns:a16="http://schemas.microsoft.com/office/drawing/2014/main" id="{B48B021E-734C-0E66-A54D-CD1D1885D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C0FAE7D3-CA7E-B941-AD06-3AD7DB5E5778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15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31747" name="Title 9">
            <a:extLst>
              <a:ext uri="{FF2B5EF4-FFF2-40B4-BE49-F238E27FC236}">
                <a16:creationId xmlns:a16="http://schemas.microsoft.com/office/drawing/2014/main" id="{93A37297-D2B7-27AB-E2E6-6ABEDDA77D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4063" y="3005138"/>
            <a:ext cx="8567737" cy="1501775"/>
          </a:xfrm>
        </p:spPr>
        <p:txBody>
          <a:bodyPr/>
          <a:lstStyle/>
          <a:p>
            <a:pPr algn="ctr"/>
            <a:r>
              <a:rPr lang="nl-BE" altLang="en-US">
                <a:ea typeface="ＭＳ Ｐゴシック" panose="020B0600070205080204" pitchFamily="34" charset="-128"/>
              </a:rPr>
              <a:t>Opdracht 3D Lijntekeningen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7419A099-923D-F01B-FEF6-F66178C657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3D-Lijntekeningen</a:t>
            </a:r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3E53C868-CF4B-067B-E80B-04F90E97FD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De opgave bestaat uit drie grote delen</a:t>
            </a:r>
          </a:p>
          <a:p>
            <a:pPr lvl="1"/>
            <a:r>
              <a:rPr lang="nl-BE" altLang="en-US"/>
              <a:t>Transformaties</a:t>
            </a:r>
          </a:p>
          <a:p>
            <a:pPr lvl="1"/>
            <a:r>
              <a:rPr lang="nl-BE" altLang="en-US"/>
              <a:t>Eye-point transformatie</a:t>
            </a:r>
          </a:p>
          <a:p>
            <a:pPr lvl="1"/>
            <a:r>
              <a:rPr lang="nl-BE" altLang="en-US"/>
              <a:t>Perspectiefprojectie</a:t>
            </a:r>
          </a:p>
          <a:p>
            <a:endParaRPr lang="nl-BE" altLang="en-US">
              <a:ea typeface="ＭＳ Ｐゴシック" panose="020B0600070205080204" pitchFamily="34" charset="-128"/>
            </a:endParaRPr>
          </a:p>
          <a:p>
            <a:r>
              <a:rPr lang="nl-BE" altLang="en-US">
                <a:ea typeface="ＭＳ Ｐゴシック" panose="020B0600070205080204" pitchFamily="34" charset="-128"/>
              </a:rPr>
              <a:t>De functionaliteit van deze opgave heb je in alle volgende opgaves terug nodig. Het is dus zéér belangrijk dat je implementatie correct en makkelijk te gebruiken is !!</a:t>
            </a:r>
          </a:p>
          <a:p>
            <a:pPr lvl="1"/>
            <a:endParaRPr lang="nl-B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152024-1255-A640-B8D1-754E7A8A6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32772" name="Slide Number Placeholder 4">
            <a:extLst>
              <a:ext uri="{FF2B5EF4-FFF2-40B4-BE49-F238E27FC236}">
                <a16:creationId xmlns:a16="http://schemas.microsoft.com/office/drawing/2014/main" id="{A7046F15-794B-C345-5E2B-5A5096FBF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2EA42103-3A15-4444-A50A-DD97E0B2C32D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16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6F311E31-2684-C396-79A3-8C2A58F9B1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Datastructuur</a:t>
            </a:r>
          </a:p>
        </p:txBody>
      </p:sp>
      <p:sp>
        <p:nvSpPr>
          <p:cNvPr id="33794" name="Content Placeholder 11">
            <a:extLst>
              <a:ext uri="{FF2B5EF4-FFF2-40B4-BE49-F238E27FC236}">
                <a16:creationId xmlns:a16="http://schemas.microsoft.com/office/drawing/2014/main" id="{69EC11EF-7801-C875-A79E-51AFD74B8F2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325438" y="1260475"/>
            <a:ext cx="9212262" cy="5305425"/>
          </a:xfrm>
        </p:spPr>
        <p:txBody>
          <a:bodyPr/>
          <a:lstStyle/>
          <a:p>
            <a:r>
              <a:rPr lang="nl-BE" altLang="en-US" sz="2400">
                <a:ea typeface="ＭＳ Ｐゴシック" panose="020B0600070205080204" pitchFamily="34" charset="-128"/>
              </a:rPr>
              <a:t>Maak een data structuur aan om 3D Figuren in bij te houden</a:t>
            </a:r>
          </a:p>
          <a:p>
            <a:pPr lvl="1"/>
            <a:r>
              <a:rPr lang="nl-BE" altLang="en-US"/>
              <a:t>Een 3D Figuur wordt gekenmerkt door</a:t>
            </a:r>
          </a:p>
          <a:p>
            <a:pPr lvl="2"/>
            <a:r>
              <a:rPr lang="nl-BE" altLang="en-US"/>
              <a:t>Een aantal punten</a:t>
            </a:r>
          </a:p>
          <a:p>
            <a:pPr lvl="2"/>
            <a:r>
              <a:rPr lang="nl-BE" altLang="en-US"/>
              <a:t>Een aantal </a:t>
            </a:r>
            <a:r>
              <a:rPr lang="nl-BE" altLang="en-US" b="1"/>
              <a:t>vlakken</a:t>
            </a:r>
            <a:r>
              <a:rPr lang="nl-BE" altLang="en-US"/>
              <a:t> (en </a:t>
            </a:r>
            <a:r>
              <a:rPr lang="nl-BE" altLang="en-US" i="1"/>
              <a:t>geen </a:t>
            </a:r>
            <a:r>
              <a:rPr lang="nl-BE" altLang="en-US"/>
              <a:t>lijnen !!)</a:t>
            </a:r>
          </a:p>
          <a:p>
            <a:pPr lvl="3"/>
            <a:r>
              <a:rPr lang="nl-BE" altLang="en-US"/>
              <a:t>Elk vlak bevat 2 of meerdere punten</a:t>
            </a:r>
          </a:p>
          <a:p>
            <a:pPr lvl="2"/>
            <a:r>
              <a:rPr lang="nl-BE" altLang="en-US"/>
              <a:t>Een kleur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Er kunnen </a:t>
            </a:r>
            <a:r>
              <a:rPr lang="nl-BE" altLang="en-US" i="1"/>
              <a:t>meerdere</a:t>
            </a:r>
            <a:r>
              <a:rPr lang="nl-BE" altLang="en-US"/>
              <a:t> 3D Figuren in één afbeelding voorkomen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De opgestelde datastructuur heb je voor </a:t>
            </a:r>
            <a:r>
              <a:rPr lang="nl-BE" altLang="en-US" b="1"/>
              <a:t>alle volgende </a:t>
            </a:r>
            <a:r>
              <a:rPr lang="nl-BE" altLang="en-US"/>
              <a:t> opgaven terug nodig !!</a:t>
            </a:r>
          </a:p>
          <a:p>
            <a:endParaRPr lang="nl-BE" altLang="en-US" sz="2400">
              <a:ea typeface="ＭＳ Ｐゴシック" panose="020B0600070205080204" pitchFamily="34" charset="-128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6C5A6-7ADA-364F-8C11-3E38E2B1F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33796" name="Slide Number Placeholder 4">
            <a:extLst>
              <a:ext uri="{FF2B5EF4-FFF2-40B4-BE49-F238E27FC236}">
                <a16:creationId xmlns:a16="http://schemas.microsoft.com/office/drawing/2014/main" id="{7C626757-D1DF-4A88-C204-085F556CD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1BDEED5C-EC4D-1743-BBB5-D43FD1BF195E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17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6">
            <a:extLst>
              <a:ext uri="{FF2B5EF4-FFF2-40B4-BE49-F238E27FC236}">
                <a16:creationId xmlns:a16="http://schemas.microsoft.com/office/drawing/2014/main" id="{67DA10F7-A73A-8C30-102E-F5D4F27D64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Datastructuur</a:t>
            </a:r>
          </a:p>
        </p:txBody>
      </p:sp>
      <p:sp>
        <p:nvSpPr>
          <p:cNvPr id="34818" name="Content Placeholder 7">
            <a:extLst>
              <a:ext uri="{FF2B5EF4-FFF2-40B4-BE49-F238E27FC236}">
                <a16:creationId xmlns:a16="http://schemas.microsoft.com/office/drawing/2014/main" id="{361943FB-EC4C-D892-86B6-65E2AFE57F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9034462" cy="1733550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Maak een data structuur aan om 3D Figuren in bij te houden</a:t>
            </a:r>
          </a:p>
          <a:p>
            <a:pPr lvl="1"/>
            <a:r>
              <a:rPr lang="nl-BE" altLang="en-US"/>
              <a:t>Stel zelf een </a:t>
            </a:r>
            <a:r>
              <a:rPr lang="nl-BE" altLang="en-US" b="1"/>
              <a:t>zinvolle </a:t>
            </a:r>
            <a:r>
              <a:rPr lang="nl-BE" altLang="en-US"/>
              <a:t>datastructuur op, of baseer je op de gegeven datastructuren</a:t>
            </a:r>
          </a:p>
          <a:p>
            <a:pPr lvl="2"/>
            <a:r>
              <a:rPr lang="nl-BE" altLang="en-US"/>
              <a:t>De gegeven code dient enkel als </a:t>
            </a:r>
            <a:r>
              <a:rPr lang="nl-BE" altLang="en-US" b="1"/>
              <a:t>voorbeeld</a:t>
            </a:r>
            <a:r>
              <a:rPr lang="nl-BE" altLang="en-US"/>
              <a:t>. Het kan nuttig zijn om, daar waar nodig, de nodige abstracties in te voeren</a:t>
            </a:r>
          </a:p>
          <a:p>
            <a:pPr lvl="1"/>
            <a:endParaRPr lang="nl-BE" altLang="en-US"/>
          </a:p>
          <a:p>
            <a:pPr lvl="1"/>
            <a:endParaRPr lang="nl-BE" altLang="en-US"/>
          </a:p>
          <a:p>
            <a:pPr lvl="1"/>
            <a:endParaRPr lang="nl-BE" altLang="en-US"/>
          </a:p>
          <a:p>
            <a:pPr lvl="1"/>
            <a:endParaRPr lang="nl-BE" altLang="en-US"/>
          </a:p>
          <a:p>
            <a:pPr lvl="1"/>
            <a:endParaRPr lang="nl-BE" altLang="en-US"/>
          </a:p>
          <a:p>
            <a:pPr lvl="1"/>
            <a:endParaRPr lang="nl-BE" altLang="en-US"/>
          </a:p>
          <a:p>
            <a:pPr lvl="1"/>
            <a:endParaRPr lang="nl-BE" altLang="en-US"/>
          </a:p>
          <a:p>
            <a:pPr lvl="1"/>
            <a:endParaRPr lang="nl-BE" altLang="en-US"/>
          </a:p>
          <a:p>
            <a:pPr lvl="1"/>
            <a:endParaRPr lang="nl-BE" altLang="en-US"/>
          </a:p>
          <a:p>
            <a:endParaRPr lang="nl-BE" altLang="en-US">
              <a:ea typeface="ＭＳ Ｐゴシック" panose="020B0600070205080204" pitchFamily="34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149D9-138F-E043-8DBD-4B704FCC8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34820" name="Slide Number Placeholder 5">
            <a:extLst>
              <a:ext uri="{FF2B5EF4-FFF2-40B4-BE49-F238E27FC236}">
                <a16:creationId xmlns:a16="http://schemas.microsoft.com/office/drawing/2014/main" id="{44874A1C-345D-D8DF-7F44-8701F46B5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DD13A109-9598-644E-AC41-A151F7B8C75E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18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34821" name="Rectangle 12">
            <a:extLst>
              <a:ext uri="{FF2B5EF4-FFF2-40B4-BE49-F238E27FC236}">
                <a16:creationId xmlns:a16="http://schemas.microsoft.com/office/drawing/2014/main" id="{F1CF4B1C-561A-CA1C-ED5D-B386C0465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3422650"/>
            <a:ext cx="428625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b="1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nl-BE" altLang="en-US" sz="1500">
                <a:latin typeface="Courier New" panose="02070309020205020404" pitchFamily="49" charset="0"/>
              </a:rPr>
              <a:t> 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Face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{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b="1">
                <a:solidFill>
                  <a:srgbClr val="7F0055"/>
                </a:solidFill>
                <a:latin typeface="Courier New" panose="02070309020205020404" pitchFamily="49" charset="0"/>
              </a:rPr>
              <a:t>  public</a:t>
            </a:r>
            <a:r>
              <a:rPr lang="nl-BE" altLang="en-US" sz="1500">
                <a:latin typeface="Courier New" panose="02070309020205020404" pitchFamily="49" charset="0"/>
              </a:rPr>
              <a:t>: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	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//De indexen refereren naar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	//punten in de ‘points’ vector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	//van de Figure-klasse</a:t>
            </a:r>
            <a:r>
              <a:rPr lang="nl-BE" altLang="en-US" sz="1500">
                <a:latin typeface="Courier New" panose="02070309020205020404" pitchFamily="49" charset="0"/>
              </a:rPr>
              <a:t>	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	std::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vector</a:t>
            </a:r>
            <a:r>
              <a:rPr lang="nl-BE" altLang="en-US" sz="1500">
                <a:latin typeface="Courier New" panose="02070309020205020404" pitchFamily="49" charset="0"/>
              </a:rPr>
              <a:t>&lt;</a:t>
            </a:r>
            <a:r>
              <a:rPr lang="nl-BE" altLang="en-US" sz="1500" b="1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nl-BE" altLang="en-US" sz="1500">
                <a:latin typeface="Courier New" panose="02070309020205020404" pitchFamily="49" charset="0"/>
              </a:rPr>
              <a:t>&gt; </a:t>
            </a:r>
            <a:r>
              <a:rPr lang="nl-BE" altLang="en-US" sz="1500">
                <a:solidFill>
                  <a:srgbClr val="1010C4"/>
                </a:solidFill>
                <a:latin typeface="Courier New" panose="02070309020205020404" pitchFamily="49" charset="0"/>
              </a:rPr>
              <a:t>point_indexes</a:t>
            </a:r>
            <a:r>
              <a:rPr lang="nl-BE" altLang="en-US" sz="1500">
                <a:latin typeface="Courier New" panose="02070309020205020404" pitchFamily="49" charset="0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};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</p:txBody>
      </p:sp>
      <p:sp>
        <p:nvSpPr>
          <p:cNvPr id="34822" name="Rectangle 12">
            <a:extLst>
              <a:ext uri="{FF2B5EF4-FFF2-40B4-BE49-F238E27FC236}">
                <a16:creationId xmlns:a16="http://schemas.microsoft.com/office/drawing/2014/main" id="{82816550-5271-5627-9C89-6A3636E00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8938" y="3422650"/>
            <a:ext cx="4286250" cy="245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b="1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nl-BE" altLang="en-US" sz="1500">
                <a:latin typeface="Courier New" panose="02070309020205020404" pitchFamily="49" charset="0"/>
              </a:rPr>
              <a:t> 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Figure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{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b="1">
                <a:solidFill>
                  <a:srgbClr val="7F0055"/>
                </a:solidFill>
                <a:latin typeface="Courier New" panose="02070309020205020404" pitchFamily="49" charset="0"/>
              </a:rPr>
              <a:t>  public</a:t>
            </a:r>
            <a:r>
              <a:rPr lang="nl-BE" altLang="en-US" sz="1500">
                <a:latin typeface="Courier New" panose="02070309020205020404" pitchFamily="49" charset="0"/>
              </a:rPr>
              <a:t>: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	std::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vector</a:t>
            </a:r>
            <a:r>
              <a:rPr lang="nl-BE" altLang="en-US" sz="1500">
                <a:latin typeface="Courier New" panose="02070309020205020404" pitchFamily="49" charset="0"/>
              </a:rPr>
              <a:t>&lt;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Vector3D</a:t>
            </a:r>
            <a:r>
              <a:rPr lang="nl-BE" altLang="en-US" sz="1500">
                <a:latin typeface="Courier New" panose="02070309020205020404" pitchFamily="49" charset="0"/>
              </a:rPr>
              <a:t>&gt; </a:t>
            </a:r>
            <a:r>
              <a:rPr lang="nl-BE" altLang="en-US" sz="1500">
                <a:solidFill>
                  <a:srgbClr val="1010C4"/>
                </a:solidFill>
                <a:latin typeface="Courier New" panose="02070309020205020404" pitchFamily="49" charset="0"/>
              </a:rPr>
              <a:t>points</a:t>
            </a:r>
            <a:r>
              <a:rPr lang="nl-BE" altLang="en-US" sz="1500">
                <a:latin typeface="Courier New" panose="02070309020205020404" pitchFamily="49" charset="0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	std::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vector</a:t>
            </a:r>
            <a:r>
              <a:rPr lang="nl-BE" altLang="en-US" sz="1500">
                <a:latin typeface="Courier New" panose="02070309020205020404" pitchFamily="49" charset="0"/>
              </a:rPr>
              <a:t>&lt;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Face</a:t>
            </a:r>
            <a:r>
              <a:rPr lang="nl-BE" altLang="en-US" sz="1500">
                <a:latin typeface="Courier New" panose="02070309020205020404" pitchFamily="49" charset="0"/>
              </a:rPr>
              <a:t>&gt; </a:t>
            </a:r>
            <a:r>
              <a:rPr lang="nl-BE" altLang="en-US" sz="1500">
                <a:solidFill>
                  <a:srgbClr val="1010C4"/>
                </a:solidFill>
                <a:latin typeface="Courier New" panose="02070309020205020404" pitchFamily="49" charset="0"/>
              </a:rPr>
              <a:t>faces</a:t>
            </a:r>
            <a:r>
              <a:rPr lang="nl-BE" altLang="en-US" sz="1500">
                <a:latin typeface="Courier New" panose="02070309020205020404" pitchFamily="49" charset="0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	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Color</a:t>
            </a:r>
            <a:r>
              <a:rPr lang="nl-BE" altLang="en-US" sz="1500">
                <a:latin typeface="Courier New" panose="02070309020205020404" pitchFamily="49" charset="0"/>
              </a:rPr>
              <a:t> </a:t>
            </a:r>
            <a:r>
              <a:rPr lang="nl-BE" altLang="en-US" sz="1500">
                <a:solidFill>
                  <a:srgbClr val="1010C4"/>
                </a:solidFill>
                <a:latin typeface="Courier New" panose="02070309020205020404" pitchFamily="49" charset="0"/>
              </a:rPr>
              <a:t>color</a:t>
            </a:r>
            <a:r>
              <a:rPr lang="nl-BE" altLang="en-US" sz="1500">
                <a:latin typeface="Courier New" panose="02070309020205020404" pitchFamily="49" charset="0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};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5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b="1">
                <a:solidFill>
                  <a:srgbClr val="7F0055"/>
                </a:solidFill>
                <a:latin typeface="Courier New" panose="02070309020205020404" pitchFamily="49" charset="0"/>
              </a:rPr>
              <a:t>typedef</a:t>
            </a:r>
            <a:r>
              <a:rPr lang="nl-BE" altLang="en-US" sz="1500">
                <a:latin typeface="Courier New" panose="02070309020205020404" pitchFamily="49" charset="0"/>
              </a:rPr>
              <a:t> std::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list</a:t>
            </a:r>
            <a:r>
              <a:rPr lang="nl-BE" altLang="en-US" sz="1500">
                <a:latin typeface="Courier New" panose="02070309020205020404" pitchFamily="49" charset="0"/>
              </a:rPr>
              <a:t>&lt;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Figure</a:t>
            </a:r>
            <a:r>
              <a:rPr lang="nl-BE" altLang="en-US" sz="1500">
                <a:latin typeface="Courier New" panose="02070309020205020404" pitchFamily="49" charset="0"/>
              </a:rPr>
              <a:t>&gt; 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Figures3D</a:t>
            </a:r>
            <a:r>
              <a:rPr lang="nl-BE" altLang="en-US" sz="1500">
                <a:latin typeface="Courier New" panose="02070309020205020404" pitchFamily="49" charset="0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5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6">
            <a:extLst>
              <a:ext uri="{FF2B5EF4-FFF2-40B4-BE49-F238E27FC236}">
                <a16:creationId xmlns:a16="http://schemas.microsoft.com/office/drawing/2014/main" id="{1AEA672F-72BE-FF6E-E126-60E90B357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Transformaties</a:t>
            </a:r>
          </a:p>
        </p:txBody>
      </p:sp>
      <p:sp>
        <p:nvSpPr>
          <p:cNvPr id="35842" name="Content Placeholder 7">
            <a:extLst>
              <a:ext uri="{FF2B5EF4-FFF2-40B4-BE49-F238E27FC236}">
                <a16:creationId xmlns:a16="http://schemas.microsoft.com/office/drawing/2014/main" id="{9C6F5436-6B8C-3AC8-B7AC-472EA8252D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nl-BE" altLang="en-US">
                <a:ea typeface="ＭＳ Ｐゴシック" panose="020B0600070205080204" pitchFamily="34" charset="-128"/>
              </a:rPr>
              <a:t>Implementeer de nodige functies om transformatie-matrices te genereren voor volgende transformaties</a:t>
            </a:r>
          </a:p>
          <a:p>
            <a:pPr lvl="1"/>
            <a:r>
              <a:rPr lang="nl-BE" altLang="en-US"/>
              <a:t>Schaling</a:t>
            </a:r>
          </a:p>
          <a:p>
            <a:pPr lvl="1"/>
            <a:r>
              <a:rPr lang="nl-BE" altLang="en-US"/>
              <a:t>Rotatie om de X-as</a:t>
            </a:r>
          </a:p>
          <a:p>
            <a:pPr lvl="1"/>
            <a:r>
              <a:rPr lang="nl-BE" altLang="en-US"/>
              <a:t>Rotatie om de Y-as</a:t>
            </a:r>
          </a:p>
          <a:p>
            <a:pPr lvl="1"/>
            <a:r>
              <a:rPr lang="nl-BE" altLang="en-US"/>
              <a:t>Rotatie om de Z-as</a:t>
            </a:r>
          </a:p>
          <a:p>
            <a:pPr lvl="1"/>
            <a:r>
              <a:rPr lang="nl-BE" altLang="en-US"/>
              <a:t>Verschuiving</a:t>
            </a:r>
          </a:p>
          <a:p>
            <a:pPr lvl="1"/>
            <a:endParaRPr lang="nl-BE" altLang="en-US"/>
          </a:p>
          <a:p>
            <a:pPr marL="457200" indent="-457200"/>
            <a:r>
              <a:rPr lang="nl-BE" altLang="en-US">
                <a:ea typeface="ＭＳ Ｐゴシック" panose="020B0600070205080204" pitchFamily="34" charset="-128"/>
              </a:rPr>
              <a:t>Let op:</a:t>
            </a:r>
            <a:r>
              <a:rPr lang="nl-BE" altLang="en-US" b="0">
                <a:ea typeface="ＭＳ Ｐゴシック" panose="020B0600070205080204" pitchFamily="34" charset="-128"/>
              </a:rPr>
              <a:t> Deze matrices dienen om punten te transformeren. </a:t>
            </a:r>
            <a:r>
              <a:rPr lang="nl-BE" altLang="en-US">
                <a:ea typeface="ＭＳ Ｐゴシック" panose="020B0600070205080204" pitchFamily="34" charset="-128"/>
              </a:rPr>
              <a:t>Niet</a:t>
            </a:r>
            <a:r>
              <a:rPr lang="nl-BE" altLang="en-US" b="0">
                <a:ea typeface="ＭＳ Ｐゴシック" panose="020B0600070205080204" pitchFamily="34" charset="-128"/>
              </a:rPr>
              <a:t> om basissen te transformeren !!</a:t>
            </a:r>
            <a:endParaRPr lang="nl-BE" altLang="en-US">
              <a:ea typeface="ＭＳ Ｐゴシック" panose="020B0600070205080204" pitchFamily="34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C885B-91FD-9E42-9AC6-9914D0B8E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35844" name="Slide Number Placeholder 5">
            <a:extLst>
              <a:ext uri="{FF2B5EF4-FFF2-40B4-BE49-F238E27FC236}">
                <a16:creationId xmlns:a16="http://schemas.microsoft.com/office/drawing/2014/main" id="{16761E34-0BFE-95B9-17CE-DAF54A17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C23EBA79-C830-D14D-BEFA-869EE999A3BD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19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6">
            <a:extLst>
              <a:ext uri="{FF2B5EF4-FFF2-40B4-BE49-F238E27FC236}">
                <a16:creationId xmlns:a16="http://schemas.microsoft.com/office/drawing/2014/main" id="{8751FFBC-BD9A-9233-E05D-950A4E3D3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Transformaties</a:t>
            </a:r>
          </a:p>
        </p:txBody>
      </p:sp>
      <p:sp>
        <p:nvSpPr>
          <p:cNvPr id="36866" name="Content Placeholder 7">
            <a:extLst>
              <a:ext uri="{FF2B5EF4-FFF2-40B4-BE49-F238E27FC236}">
                <a16:creationId xmlns:a16="http://schemas.microsoft.com/office/drawing/2014/main" id="{34EA4BF8-CA61-AC6B-F0AB-04DB28EA6B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Schalen</a:t>
            </a:r>
          </a:p>
          <a:p>
            <a:pPr lvl="1"/>
            <a:r>
              <a:rPr lang="nl-BE" altLang="en-US"/>
              <a:t>Deze transformatie zal een figuur vergroten of verkleinen afhankelijk van de schaalfactor 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scale</a:t>
            </a:r>
          </a:p>
          <a:p>
            <a:pPr lvl="1"/>
            <a:r>
              <a:rPr lang="nl-BE" altLang="en-US"/>
              <a:t>Vb: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Matrix</a:t>
            </a:r>
            <a:r>
              <a:rPr lang="nl-BE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scaleFigure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 double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scale);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 </a:t>
            </a:r>
          </a:p>
          <a:p>
            <a:pPr lvl="1"/>
            <a:endParaRPr lang="nl-BE" altLang="en-US"/>
          </a:p>
          <a:p>
            <a:pPr lvl="1"/>
            <a:endParaRPr lang="nl-BE" altLang="en-US"/>
          </a:p>
          <a:p>
            <a:pPr lvl="1"/>
            <a:r>
              <a:rPr lang="nl-BE" altLang="en-US"/>
              <a:t>De figuur moet hiervoor rond (0,0,0) gecentreerd zijn !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F5A21-BC80-9745-B81B-AB4966FAA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36868" name="Slide Number Placeholder 5">
            <a:extLst>
              <a:ext uri="{FF2B5EF4-FFF2-40B4-BE49-F238E27FC236}">
                <a16:creationId xmlns:a16="http://schemas.microsoft.com/office/drawing/2014/main" id="{82B79713-81F6-806E-D588-ADEBC4611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B5820E74-CBDF-BA49-9B69-B208C29303AE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20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C41EC7B1-0736-666B-8714-3CDB281B9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36870" name="Picture 1">
            <a:extLst>
              <a:ext uri="{FF2B5EF4-FFF2-40B4-BE49-F238E27FC236}">
                <a16:creationId xmlns:a16="http://schemas.microsoft.com/office/drawing/2014/main" id="{D0372203-78F9-5F61-0B76-B429F823E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25" y="2922588"/>
            <a:ext cx="278130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1" name="Rectangle 3">
            <a:extLst>
              <a:ext uri="{FF2B5EF4-FFF2-40B4-BE49-F238E27FC236}">
                <a16:creationId xmlns:a16="http://schemas.microsoft.com/office/drawing/2014/main" id="{4FF9DCCC-632C-01E1-A671-B7F894321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11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6">
            <a:extLst>
              <a:ext uri="{FF2B5EF4-FFF2-40B4-BE49-F238E27FC236}">
                <a16:creationId xmlns:a16="http://schemas.microsoft.com/office/drawing/2014/main" id="{098141EE-D5EB-6DA1-C771-9D44AB7CAF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Transformaties</a:t>
            </a:r>
          </a:p>
        </p:txBody>
      </p:sp>
      <p:sp>
        <p:nvSpPr>
          <p:cNvPr id="37890" name="Content Placeholder 7">
            <a:extLst>
              <a:ext uri="{FF2B5EF4-FFF2-40B4-BE49-F238E27FC236}">
                <a16:creationId xmlns:a16="http://schemas.microsoft.com/office/drawing/2014/main" id="{A20EC2EA-3521-AAAE-553F-AEB42B15D1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Rotatie om de X-as</a:t>
            </a:r>
          </a:p>
          <a:p>
            <a:pPr lvl="1"/>
            <a:r>
              <a:rPr lang="nl-BE" altLang="en-US"/>
              <a:t>Deze transformatie zal een figuur over een hoek </a:t>
            </a:r>
            <a:r>
              <a:rPr lang="nl-BE" altLang="en-US">
                <a:sym typeface="Symbol" pitchFamily="2" charset="2"/>
              </a:rPr>
              <a:t></a:t>
            </a:r>
            <a:r>
              <a:rPr lang="nl-BE" altLang="en-US"/>
              <a:t> roteren </a:t>
            </a:r>
            <a:br>
              <a:rPr lang="nl-BE" altLang="en-US"/>
            </a:br>
            <a:r>
              <a:rPr lang="nl-BE" altLang="en-US"/>
              <a:t>om de X-as</a:t>
            </a:r>
          </a:p>
          <a:p>
            <a:pPr lvl="1"/>
            <a:r>
              <a:rPr lang="nl-BE" altLang="en-US"/>
              <a:t>Vb: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Matrix</a:t>
            </a:r>
            <a:r>
              <a:rPr lang="nl-BE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rotateX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 double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angle);</a:t>
            </a:r>
          </a:p>
          <a:p>
            <a:pPr lvl="1"/>
            <a:endParaRPr lang="nl-BE" altLang="en-US" sz="3200"/>
          </a:p>
          <a:p>
            <a:pPr lvl="1"/>
            <a:r>
              <a:rPr lang="nl-BE" altLang="en-US"/>
              <a:t> </a:t>
            </a:r>
          </a:p>
          <a:p>
            <a:pPr lvl="1"/>
            <a:endParaRPr lang="nl-BE" altLang="en-US"/>
          </a:p>
          <a:p>
            <a:pPr lvl="1"/>
            <a:endParaRPr lang="nl-BE" altLang="en-US"/>
          </a:p>
          <a:p>
            <a:pPr lvl="1"/>
            <a:r>
              <a:rPr lang="nl-BE" altLang="en-US" b="1"/>
              <a:t>Let op</a:t>
            </a:r>
            <a:r>
              <a:rPr lang="nl-BE" altLang="en-US"/>
              <a:t>: In de cursus worden </a:t>
            </a:r>
            <a:r>
              <a:rPr lang="nl-BE" altLang="en-US" b="1"/>
              <a:t>basistransformaties </a:t>
            </a:r>
            <a:r>
              <a:rPr lang="nl-BE" altLang="en-US"/>
              <a:t>beschreven, voor het practicum worden punttransformaties gebruikt. Gebruik daarom bovenstaande matrix en </a:t>
            </a:r>
            <a:r>
              <a:rPr lang="nl-BE" altLang="en-US" b="1"/>
              <a:t>niet</a:t>
            </a:r>
            <a:r>
              <a:rPr lang="nl-BE" altLang="en-US"/>
              <a:t> die uit de cursus.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FB8FA-7B02-274C-BCF9-6A1906EA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37892" name="Slide Number Placeholder 5">
            <a:extLst>
              <a:ext uri="{FF2B5EF4-FFF2-40B4-BE49-F238E27FC236}">
                <a16:creationId xmlns:a16="http://schemas.microsoft.com/office/drawing/2014/main" id="{F84A5E1B-39EF-1146-1EA4-11B3320ED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8ED7B7B8-FADE-A14C-9EDB-EF370277197E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21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37893" name="Rectangle 2">
            <a:extLst>
              <a:ext uri="{FF2B5EF4-FFF2-40B4-BE49-F238E27FC236}">
                <a16:creationId xmlns:a16="http://schemas.microsoft.com/office/drawing/2014/main" id="{C2591DB4-5D79-BBFC-8EBD-35DA6235B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37894" name="Rectangle 3">
            <a:extLst>
              <a:ext uri="{FF2B5EF4-FFF2-40B4-BE49-F238E27FC236}">
                <a16:creationId xmlns:a16="http://schemas.microsoft.com/office/drawing/2014/main" id="{9FBA265C-BA43-4A8F-1A28-F81F2FCB4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11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37895" name="Rectangle 2">
            <a:extLst>
              <a:ext uri="{FF2B5EF4-FFF2-40B4-BE49-F238E27FC236}">
                <a16:creationId xmlns:a16="http://schemas.microsoft.com/office/drawing/2014/main" id="{903E8A33-A548-3578-95E9-D72D34CBC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37896" name="Picture 1">
            <a:extLst>
              <a:ext uri="{FF2B5EF4-FFF2-40B4-BE49-F238E27FC236}">
                <a16:creationId xmlns:a16="http://schemas.microsoft.com/office/drawing/2014/main" id="{C65C7627-4419-3BF8-2642-B3680BBA5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25" y="2922588"/>
            <a:ext cx="419100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7" name="Rectangle 3">
            <a:extLst>
              <a:ext uri="{FF2B5EF4-FFF2-40B4-BE49-F238E27FC236}">
                <a16:creationId xmlns:a16="http://schemas.microsoft.com/office/drawing/2014/main" id="{A57C412B-44E9-BAA8-C68F-7CF587BCA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6212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6">
            <a:extLst>
              <a:ext uri="{FF2B5EF4-FFF2-40B4-BE49-F238E27FC236}">
                <a16:creationId xmlns:a16="http://schemas.microsoft.com/office/drawing/2014/main" id="{78D3E314-857F-E66C-2F18-FD7A2E719A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Transformaties</a:t>
            </a:r>
          </a:p>
        </p:txBody>
      </p:sp>
      <p:sp>
        <p:nvSpPr>
          <p:cNvPr id="38914" name="Content Placeholder 7">
            <a:extLst>
              <a:ext uri="{FF2B5EF4-FFF2-40B4-BE49-F238E27FC236}">
                <a16:creationId xmlns:a16="http://schemas.microsoft.com/office/drawing/2014/main" id="{DB0901C7-7AD9-B19F-D538-E104F21986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Rotatie om de Y-as</a:t>
            </a:r>
          </a:p>
          <a:p>
            <a:pPr lvl="1"/>
            <a:r>
              <a:rPr lang="nl-BE" altLang="en-US"/>
              <a:t>Deze transformatie zal een figuur over een hoek </a:t>
            </a:r>
            <a:r>
              <a:rPr lang="nl-BE" altLang="en-US">
                <a:sym typeface="Symbol" pitchFamily="2" charset="2"/>
              </a:rPr>
              <a:t></a:t>
            </a:r>
            <a:r>
              <a:rPr lang="nl-BE" altLang="en-US"/>
              <a:t> roteren </a:t>
            </a:r>
            <a:br>
              <a:rPr lang="nl-BE" altLang="en-US"/>
            </a:br>
            <a:r>
              <a:rPr lang="nl-BE" altLang="en-US"/>
              <a:t>om de Y-as</a:t>
            </a:r>
          </a:p>
          <a:p>
            <a:pPr lvl="1"/>
            <a:r>
              <a:rPr lang="nl-BE" altLang="en-US"/>
              <a:t>Vb: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Matrix</a:t>
            </a:r>
            <a:r>
              <a:rPr lang="nl-BE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rotateY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 double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angle);</a:t>
            </a:r>
          </a:p>
          <a:p>
            <a:pPr lvl="1"/>
            <a:endParaRPr lang="nl-BE" altLang="en-US" sz="3200"/>
          </a:p>
          <a:p>
            <a:pPr lvl="1"/>
            <a:r>
              <a:rPr lang="nl-BE" altLang="en-US"/>
              <a:t> </a:t>
            </a:r>
          </a:p>
          <a:p>
            <a:pPr lvl="1"/>
            <a:endParaRPr lang="nl-BE" altLang="en-US"/>
          </a:p>
          <a:p>
            <a:pPr lvl="1"/>
            <a:endParaRPr lang="nl-BE" altLang="en-US"/>
          </a:p>
          <a:p>
            <a:pPr lvl="1"/>
            <a:r>
              <a:rPr lang="nl-BE" altLang="en-US" b="1"/>
              <a:t>Let op</a:t>
            </a:r>
            <a:r>
              <a:rPr lang="nl-BE" altLang="en-US"/>
              <a:t>: In de cursus worden </a:t>
            </a:r>
            <a:r>
              <a:rPr lang="nl-BE" altLang="en-US" b="1"/>
              <a:t>basistransformaties </a:t>
            </a:r>
            <a:r>
              <a:rPr lang="nl-BE" altLang="en-US"/>
              <a:t>beschreven, voor het practicum worden punttransformaties gebruikt. Gebruik daarom bovenstaande matrix en </a:t>
            </a:r>
            <a:r>
              <a:rPr lang="nl-BE" altLang="en-US" b="1"/>
              <a:t>niet</a:t>
            </a:r>
            <a:r>
              <a:rPr lang="nl-BE" altLang="en-US"/>
              <a:t> die uit de cursus.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EDA40-08C9-6041-AD89-BA01B4A04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38916" name="Slide Number Placeholder 5">
            <a:extLst>
              <a:ext uri="{FF2B5EF4-FFF2-40B4-BE49-F238E27FC236}">
                <a16:creationId xmlns:a16="http://schemas.microsoft.com/office/drawing/2014/main" id="{DCE814FB-29A8-568E-4732-4268F5938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3E15DB3F-5818-3548-BD84-75997D522BE2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22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38917" name="Rectangle 2">
            <a:extLst>
              <a:ext uri="{FF2B5EF4-FFF2-40B4-BE49-F238E27FC236}">
                <a16:creationId xmlns:a16="http://schemas.microsoft.com/office/drawing/2014/main" id="{80D4414A-D6A5-28CE-FBA4-63346B2F9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38918" name="Rectangle 3">
            <a:extLst>
              <a:ext uri="{FF2B5EF4-FFF2-40B4-BE49-F238E27FC236}">
                <a16:creationId xmlns:a16="http://schemas.microsoft.com/office/drawing/2014/main" id="{428A240F-3447-E3CB-2F98-FAF16ED47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11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38919" name="Rectangle 2">
            <a:extLst>
              <a:ext uri="{FF2B5EF4-FFF2-40B4-BE49-F238E27FC236}">
                <a16:creationId xmlns:a16="http://schemas.microsoft.com/office/drawing/2014/main" id="{E6BDD972-4AAA-38D6-3292-ED6141E28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38920" name="Rectangle 3">
            <a:extLst>
              <a:ext uri="{FF2B5EF4-FFF2-40B4-BE49-F238E27FC236}">
                <a16:creationId xmlns:a16="http://schemas.microsoft.com/office/drawing/2014/main" id="{6367B4D5-23F2-5154-C406-0A4E564A7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6212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38921" name="Rectangle 2">
            <a:extLst>
              <a:ext uri="{FF2B5EF4-FFF2-40B4-BE49-F238E27FC236}">
                <a16:creationId xmlns:a16="http://schemas.microsoft.com/office/drawing/2014/main" id="{11E0E1D7-F2BC-9C27-3FA9-2F57D18C1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38922" name="Picture 1">
            <a:extLst>
              <a:ext uri="{FF2B5EF4-FFF2-40B4-BE49-F238E27FC236}">
                <a16:creationId xmlns:a16="http://schemas.microsoft.com/office/drawing/2014/main" id="{14955E76-C5F5-579F-C147-6E0843540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25" y="2922588"/>
            <a:ext cx="4200525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23" name="Rectangle 3">
            <a:extLst>
              <a:ext uri="{FF2B5EF4-FFF2-40B4-BE49-F238E27FC236}">
                <a16:creationId xmlns:a16="http://schemas.microsoft.com/office/drawing/2014/main" id="{DA66C2CA-161C-D4BD-8B26-2B6A92AE9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6212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6">
            <a:extLst>
              <a:ext uri="{FF2B5EF4-FFF2-40B4-BE49-F238E27FC236}">
                <a16:creationId xmlns:a16="http://schemas.microsoft.com/office/drawing/2014/main" id="{C0C067BA-CE77-B5F9-F691-591D5318D2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Transformaties</a:t>
            </a:r>
          </a:p>
        </p:txBody>
      </p:sp>
      <p:sp>
        <p:nvSpPr>
          <p:cNvPr id="39938" name="Content Placeholder 7">
            <a:extLst>
              <a:ext uri="{FF2B5EF4-FFF2-40B4-BE49-F238E27FC236}">
                <a16:creationId xmlns:a16="http://schemas.microsoft.com/office/drawing/2014/main" id="{0F52109C-F034-911F-94EA-C12A66D1D5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Rotatie om de Z-as</a:t>
            </a:r>
          </a:p>
          <a:p>
            <a:pPr lvl="1"/>
            <a:r>
              <a:rPr lang="nl-BE" altLang="en-US"/>
              <a:t>Deze transformatie zal een figuur over een hoek </a:t>
            </a:r>
            <a:r>
              <a:rPr lang="nl-BE" altLang="en-US">
                <a:sym typeface="Symbol" pitchFamily="2" charset="2"/>
              </a:rPr>
              <a:t></a:t>
            </a:r>
            <a:r>
              <a:rPr lang="nl-BE" altLang="en-US"/>
              <a:t> roteren </a:t>
            </a:r>
            <a:br>
              <a:rPr lang="nl-BE" altLang="en-US"/>
            </a:br>
            <a:r>
              <a:rPr lang="nl-BE" altLang="en-US"/>
              <a:t>om de Z-as</a:t>
            </a:r>
          </a:p>
          <a:p>
            <a:pPr lvl="1"/>
            <a:r>
              <a:rPr lang="nl-BE" altLang="en-US"/>
              <a:t>Vb: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Matrix</a:t>
            </a:r>
            <a:r>
              <a:rPr lang="nl-BE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rotateZ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 double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angle);</a:t>
            </a:r>
          </a:p>
          <a:p>
            <a:pPr lvl="1"/>
            <a:endParaRPr lang="nl-BE" altLang="en-US" sz="3200"/>
          </a:p>
          <a:p>
            <a:pPr lvl="1"/>
            <a:r>
              <a:rPr lang="nl-BE" altLang="en-US"/>
              <a:t> </a:t>
            </a:r>
          </a:p>
          <a:p>
            <a:pPr lvl="1"/>
            <a:endParaRPr lang="nl-BE" altLang="en-US"/>
          </a:p>
          <a:p>
            <a:pPr lvl="1"/>
            <a:endParaRPr lang="nl-BE" altLang="en-US"/>
          </a:p>
          <a:p>
            <a:pPr lvl="1"/>
            <a:r>
              <a:rPr lang="nl-BE" altLang="en-US" b="1"/>
              <a:t>Let op</a:t>
            </a:r>
            <a:r>
              <a:rPr lang="nl-BE" altLang="en-US"/>
              <a:t>: In de cursus worden </a:t>
            </a:r>
            <a:r>
              <a:rPr lang="nl-BE" altLang="en-US" b="1"/>
              <a:t>basistransformaties </a:t>
            </a:r>
            <a:r>
              <a:rPr lang="nl-BE" altLang="en-US"/>
              <a:t>beschreven, voor het practicum worden punttransformaties gebruikt. Gebruik daarom bovenstaande matrix en </a:t>
            </a:r>
            <a:r>
              <a:rPr lang="nl-BE" altLang="en-US" b="1"/>
              <a:t>niet</a:t>
            </a:r>
            <a:r>
              <a:rPr lang="nl-BE" altLang="en-US"/>
              <a:t> die uit de cursus.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76232-3E07-1843-A79A-F5C20BAA0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39940" name="Slide Number Placeholder 5">
            <a:extLst>
              <a:ext uri="{FF2B5EF4-FFF2-40B4-BE49-F238E27FC236}">
                <a16:creationId xmlns:a16="http://schemas.microsoft.com/office/drawing/2014/main" id="{7F964332-1B27-5C12-E831-39812409D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9AD93287-BA5F-3A47-940C-A561F9835041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23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39941" name="Rectangle 2">
            <a:extLst>
              <a:ext uri="{FF2B5EF4-FFF2-40B4-BE49-F238E27FC236}">
                <a16:creationId xmlns:a16="http://schemas.microsoft.com/office/drawing/2014/main" id="{63BA157A-92B2-0980-D7C1-EB410748C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39942" name="Rectangle 3">
            <a:extLst>
              <a:ext uri="{FF2B5EF4-FFF2-40B4-BE49-F238E27FC236}">
                <a16:creationId xmlns:a16="http://schemas.microsoft.com/office/drawing/2014/main" id="{E340D73B-41AE-DED8-AD06-325BFC40D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11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39943" name="Rectangle 2">
            <a:extLst>
              <a:ext uri="{FF2B5EF4-FFF2-40B4-BE49-F238E27FC236}">
                <a16:creationId xmlns:a16="http://schemas.microsoft.com/office/drawing/2014/main" id="{C3BEFC6E-9D55-9C28-B03A-4E23C5667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39944" name="Rectangle 3">
            <a:extLst>
              <a:ext uri="{FF2B5EF4-FFF2-40B4-BE49-F238E27FC236}">
                <a16:creationId xmlns:a16="http://schemas.microsoft.com/office/drawing/2014/main" id="{B37F2AFA-E290-9630-7A18-656C8E96C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6212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39945" name="Rectangle 2">
            <a:extLst>
              <a:ext uri="{FF2B5EF4-FFF2-40B4-BE49-F238E27FC236}">
                <a16:creationId xmlns:a16="http://schemas.microsoft.com/office/drawing/2014/main" id="{56E44C6C-335E-81F5-42C7-A2C62D52D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39946" name="Picture 1">
            <a:extLst>
              <a:ext uri="{FF2B5EF4-FFF2-40B4-BE49-F238E27FC236}">
                <a16:creationId xmlns:a16="http://schemas.microsoft.com/office/drawing/2014/main" id="{5275D67A-D84E-5A46-D971-9A9385947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563" y="2922588"/>
            <a:ext cx="413385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7" name="Rectangle 3">
            <a:extLst>
              <a:ext uri="{FF2B5EF4-FFF2-40B4-BE49-F238E27FC236}">
                <a16:creationId xmlns:a16="http://schemas.microsoft.com/office/drawing/2014/main" id="{0301B41B-4891-AF85-4725-8608C8A73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6212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6">
            <a:extLst>
              <a:ext uri="{FF2B5EF4-FFF2-40B4-BE49-F238E27FC236}">
                <a16:creationId xmlns:a16="http://schemas.microsoft.com/office/drawing/2014/main" id="{B4EB6E67-82D0-14AA-6CA2-20BA55CE65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Transformaties</a:t>
            </a:r>
          </a:p>
        </p:txBody>
      </p:sp>
      <p:sp>
        <p:nvSpPr>
          <p:cNvPr id="40962" name="Content Placeholder 7">
            <a:extLst>
              <a:ext uri="{FF2B5EF4-FFF2-40B4-BE49-F238E27FC236}">
                <a16:creationId xmlns:a16="http://schemas.microsoft.com/office/drawing/2014/main" id="{DFDDB154-6A37-C5A8-24DE-204CAAF5D6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Verschuiving over een vector (a,b,c,0)</a:t>
            </a:r>
          </a:p>
          <a:p>
            <a:pPr lvl="1"/>
            <a:r>
              <a:rPr lang="nl-BE" altLang="en-US"/>
              <a:t>Deze transformatie zal een figuur over een vector (a,b,c,0) verschuiven</a:t>
            </a:r>
          </a:p>
          <a:p>
            <a:pPr lvl="1"/>
            <a:r>
              <a:rPr lang="nl-BE" altLang="en-US"/>
              <a:t>Vb: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Matrix</a:t>
            </a:r>
            <a:r>
              <a:rPr lang="nl-BE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translate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Vector3D &amp;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vector);</a:t>
            </a:r>
          </a:p>
          <a:p>
            <a:pPr lvl="1"/>
            <a:endParaRPr lang="nl-BE" altLang="en-US" sz="3200"/>
          </a:p>
          <a:p>
            <a:pPr lvl="1"/>
            <a:r>
              <a:rPr lang="nl-BE" altLang="en-US"/>
              <a:t> </a:t>
            </a:r>
          </a:p>
          <a:p>
            <a:pPr lvl="1"/>
            <a:endParaRPr lang="nl-BE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C726E-6B4B-CD49-8306-B74FC5ABF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</a:p>
        </p:txBody>
      </p:sp>
      <p:sp>
        <p:nvSpPr>
          <p:cNvPr id="40964" name="Slide Number Placeholder 5">
            <a:extLst>
              <a:ext uri="{FF2B5EF4-FFF2-40B4-BE49-F238E27FC236}">
                <a16:creationId xmlns:a16="http://schemas.microsoft.com/office/drawing/2014/main" id="{F66E6569-EAF2-FABE-DF68-6F5F28C65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1860A26D-E926-6A4B-AD3D-66BF809EF616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24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40965" name="Rectangle 2">
            <a:extLst>
              <a:ext uri="{FF2B5EF4-FFF2-40B4-BE49-F238E27FC236}">
                <a16:creationId xmlns:a16="http://schemas.microsoft.com/office/drawing/2014/main" id="{FE886893-F77E-3DBB-FE82-BDD77747B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40966" name="Rectangle 3">
            <a:extLst>
              <a:ext uri="{FF2B5EF4-FFF2-40B4-BE49-F238E27FC236}">
                <a16:creationId xmlns:a16="http://schemas.microsoft.com/office/drawing/2014/main" id="{6CE1D8F6-0553-8231-94DD-CEE30B80D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11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40967" name="Rectangle 2">
            <a:extLst>
              <a:ext uri="{FF2B5EF4-FFF2-40B4-BE49-F238E27FC236}">
                <a16:creationId xmlns:a16="http://schemas.microsoft.com/office/drawing/2014/main" id="{98985699-A64A-31FA-B6A5-901C9AA42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40968" name="Rectangle 3">
            <a:extLst>
              <a:ext uri="{FF2B5EF4-FFF2-40B4-BE49-F238E27FC236}">
                <a16:creationId xmlns:a16="http://schemas.microsoft.com/office/drawing/2014/main" id="{22B1F9AD-7949-2038-5B05-B2577DD9D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6212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40969" name="Rectangle 2">
            <a:extLst>
              <a:ext uri="{FF2B5EF4-FFF2-40B4-BE49-F238E27FC236}">
                <a16:creationId xmlns:a16="http://schemas.microsoft.com/office/drawing/2014/main" id="{639CB8DF-7E80-3D4F-3E68-B4A79C1AB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40970" name="Rectangle 3">
            <a:extLst>
              <a:ext uri="{FF2B5EF4-FFF2-40B4-BE49-F238E27FC236}">
                <a16:creationId xmlns:a16="http://schemas.microsoft.com/office/drawing/2014/main" id="{B07C7CBB-5076-3463-AC87-CDD1A6AE6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6212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40971" name="Rectangle 2">
            <a:extLst>
              <a:ext uri="{FF2B5EF4-FFF2-40B4-BE49-F238E27FC236}">
                <a16:creationId xmlns:a16="http://schemas.microsoft.com/office/drawing/2014/main" id="{8CB30F6B-E64A-E41F-D4D4-D28ACFD63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40972" name="Picture 1">
            <a:extLst>
              <a:ext uri="{FF2B5EF4-FFF2-40B4-BE49-F238E27FC236}">
                <a16:creationId xmlns:a16="http://schemas.microsoft.com/office/drawing/2014/main" id="{620A2047-6EE5-E76E-4126-2233E1C45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25" y="2922588"/>
            <a:ext cx="337185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3" name="Rectangle 3">
            <a:extLst>
              <a:ext uri="{FF2B5EF4-FFF2-40B4-BE49-F238E27FC236}">
                <a16:creationId xmlns:a16="http://schemas.microsoft.com/office/drawing/2014/main" id="{D8EF8161-6C35-6C15-574A-C68AE0EB0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6212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C90BF112-7E1D-1C19-8C84-19E1D54C5A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Transformaties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D3566-994F-F41D-8C0C-AD1D511FF9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 dirty="0">
                <a:ea typeface="ＭＳ Ｐゴシック" panose="020B0600070205080204" pitchFamily="34" charset="-128"/>
              </a:rPr>
              <a:t>Toepassen van transformaties op een 3D Figuur</a:t>
            </a:r>
          </a:p>
          <a:p>
            <a:pPr lvl="1"/>
            <a:r>
              <a:rPr lang="nl-BE" altLang="en-US" dirty="0"/>
              <a:t>Schrijf een methode/functie die alle punten van een </a:t>
            </a:r>
            <a:r>
              <a:rPr lang="nl-BE" altLang="en-US" dirty="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Figure</a:t>
            </a:r>
            <a:r>
              <a:rPr lang="nl-BE" altLang="en-US" dirty="0"/>
              <a:t> vermenigvuldigt met een </a:t>
            </a:r>
            <a:r>
              <a:rPr lang="nl-BE" altLang="en-US" dirty="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Matrix</a:t>
            </a:r>
            <a:endParaRPr lang="nl-BE" altLang="en-US" sz="400" dirty="0"/>
          </a:p>
          <a:p>
            <a:pPr lvl="1"/>
            <a:r>
              <a:rPr lang="nl-BE" altLang="en-US" dirty="0"/>
              <a:t>Vb: </a:t>
            </a:r>
            <a:r>
              <a:rPr lang="nl-BE" altLang="en-US" sz="1800" b="1" dirty="0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void</a:t>
            </a:r>
            <a:r>
              <a:rPr lang="nl-BE" altLang="en-US" sz="1800" dirty="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1800" b="1" dirty="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applyTransformation</a:t>
            </a:r>
            <a:r>
              <a:rPr lang="nl-BE" altLang="en-US" sz="1800" dirty="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nl-BE" altLang="en-US" sz="1800" dirty="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Figure </a:t>
            </a:r>
            <a:r>
              <a:rPr lang="nl-BE" altLang="en-US" sz="1800" dirty="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&amp;, </a:t>
            </a:r>
            <a:r>
              <a:rPr lang="nl-BE" altLang="en-US" sz="1800" b="1" dirty="0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 </a:t>
            </a:r>
            <a:r>
              <a:rPr lang="nl-BE" altLang="en-US" sz="1800" dirty="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Matrix</a:t>
            </a:r>
            <a:r>
              <a:rPr lang="nl-BE" altLang="en-US" sz="1800" dirty="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&amp;);</a:t>
            </a:r>
          </a:p>
          <a:p>
            <a:endParaRPr lang="nl-BE" altLang="en-US" dirty="0">
              <a:ea typeface="ＭＳ Ｐゴシック" panose="020B0600070205080204" pitchFamily="34" charset="-128"/>
            </a:endParaRPr>
          </a:p>
          <a:p>
            <a:r>
              <a:rPr lang="nl-BE" altLang="en-US" dirty="0">
                <a:ea typeface="ＭＳ Ｐゴシック" panose="020B0600070205080204" pitchFamily="34" charset="-128"/>
              </a:rPr>
              <a:t>Alle transformaties kunnen in één keer worden uitgevoerd</a:t>
            </a:r>
          </a:p>
          <a:p>
            <a:pPr lvl="1"/>
            <a:r>
              <a:rPr lang="nl-BE" altLang="en-US" dirty="0"/>
              <a:t>Associativiteit: </a:t>
            </a:r>
          </a:p>
          <a:p>
            <a:pPr lvl="1"/>
            <a:endParaRPr lang="nl-BE" altLang="en-US" dirty="0"/>
          </a:p>
          <a:p>
            <a:pPr lvl="1"/>
            <a:r>
              <a:rPr lang="nl-BE" altLang="en-US" dirty="0"/>
              <a:t> </a:t>
            </a:r>
          </a:p>
          <a:p>
            <a:pPr lvl="1"/>
            <a:endParaRPr lang="nl-BE" altLang="en-US" dirty="0"/>
          </a:p>
          <a:p>
            <a:pPr lvl="1"/>
            <a:endParaRPr lang="nl-BE" altLang="en-US" dirty="0"/>
          </a:p>
          <a:p>
            <a:pPr lvl="1"/>
            <a:r>
              <a:rPr lang="nl-BE" altLang="en-US" dirty="0"/>
              <a:t> Pas daarna de transformatie     toe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4F064-2A0C-764C-9A6A-6B8DD3EDF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41988" name="Slide Number Placeholder 4">
            <a:extLst>
              <a:ext uri="{FF2B5EF4-FFF2-40B4-BE49-F238E27FC236}">
                <a16:creationId xmlns:a16="http://schemas.microsoft.com/office/drawing/2014/main" id="{0BF96B3C-602D-44F3-D296-4E8147BCD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8F8B45A8-40D0-134A-BDBF-BF773D35B73E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25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41989" name="Rectangle 2">
            <a:extLst>
              <a:ext uri="{FF2B5EF4-FFF2-40B4-BE49-F238E27FC236}">
                <a16:creationId xmlns:a16="http://schemas.microsoft.com/office/drawing/2014/main" id="{40A76270-FD76-63F5-7B5F-26B53540F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50177" name="Picture 1">
            <a:extLst>
              <a:ext uri="{FF2B5EF4-FFF2-40B4-BE49-F238E27FC236}">
                <a16:creationId xmlns:a16="http://schemas.microsoft.com/office/drawing/2014/main" id="{1E323ADC-8687-75B3-4583-B3B35BE67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0" y="3779838"/>
            <a:ext cx="31432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1" name="Rectangle 3">
            <a:extLst>
              <a:ext uri="{FF2B5EF4-FFF2-40B4-BE49-F238E27FC236}">
                <a16:creationId xmlns:a16="http://schemas.microsoft.com/office/drawing/2014/main" id="{15771D6D-6FD5-3E6A-7FB4-9A7B11B15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01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41992" name="Rectangle 5">
            <a:extLst>
              <a:ext uri="{FF2B5EF4-FFF2-40B4-BE49-F238E27FC236}">
                <a16:creationId xmlns:a16="http://schemas.microsoft.com/office/drawing/2014/main" id="{62A7D688-0E02-5206-E715-CE683D9C3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41993" name="Rectangle 6">
            <a:extLst>
              <a:ext uri="{FF2B5EF4-FFF2-40B4-BE49-F238E27FC236}">
                <a16:creationId xmlns:a16="http://schemas.microsoft.com/office/drawing/2014/main" id="{19568518-6C79-17DA-0F71-F957F41CD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01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41994" name="Rectangle 8">
            <a:extLst>
              <a:ext uri="{FF2B5EF4-FFF2-40B4-BE49-F238E27FC236}">
                <a16:creationId xmlns:a16="http://schemas.microsoft.com/office/drawing/2014/main" id="{2CD6B8CD-0FCD-E264-359C-0D6DE8D56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50183" name="Picture 7">
            <a:extLst>
              <a:ext uri="{FF2B5EF4-FFF2-40B4-BE49-F238E27FC236}">
                <a16:creationId xmlns:a16="http://schemas.microsoft.com/office/drawing/2014/main" id="{85BEAC62-9D84-D7EC-288E-E037597B6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563" y="4637088"/>
            <a:ext cx="38004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6" name="Rectangle 9">
            <a:extLst>
              <a:ext uri="{FF2B5EF4-FFF2-40B4-BE49-F238E27FC236}">
                <a16:creationId xmlns:a16="http://schemas.microsoft.com/office/drawing/2014/main" id="{9AFE8D4D-D467-4E33-4477-CBF9EBBAB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41997" name="Rectangle 11">
            <a:extLst>
              <a:ext uri="{FF2B5EF4-FFF2-40B4-BE49-F238E27FC236}">
                <a16:creationId xmlns:a16="http://schemas.microsoft.com/office/drawing/2014/main" id="{0A240B3C-6DA6-F932-5F7D-3FAC0404A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50186" name="Picture 10">
            <a:extLst>
              <a:ext uri="{FF2B5EF4-FFF2-40B4-BE49-F238E27FC236}">
                <a16:creationId xmlns:a16="http://schemas.microsoft.com/office/drawing/2014/main" id="{6F464FF4-EE21-AC19-4AA3-AA334C9DE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3200" y="5807941"/>
            <a:ext cx="2667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29">
            <a:extLst>
              <a:ext uri="{FF2B5EF4-FFF2-40B4-BE49-F238E27FC236}">
                <a16:creationId xmlns:a16="http://schemas.microsoft.com/office/drawing/2014/main" id="{48B0DF87-E413-91ED-DAC5-63CAC21A040F}"/>
              </a:ext>
            </a:extLst>
          </p:cNvPr>
          <p:cNvGrpSpPr>
            <a:grpSpLocks/>
          </p:cNvGrpSpPr>
          <p:nvPr/>
        </p:nvGrpSpPr>
        <p:grpSpPr bwMode="auto">
          <a:xfrm>
            <a:off x="2254250" y="5065713"/>
            <a:ext cx="4295775" cy="563562"/>
            <a:chOff x="2254230" y="5280035"/>
            <a:chExt cx="4295600" cy="564282"/>
          </a:xfrm>
        </p:grpSpPr>
        <p:cxnSp>
          <p:nvCxnSpPr>
            <p:cNvPr id="42006" name="Straight Arrow Connector 19">
              <a:extLst>
                <a:ext uri="{FF2B5EF4-FFF2-40B4-BE49-F238E27FC236}">
                  <a16:creationId xmlns:a16="http://schemas.microsoft.com/office/drawing/2014/main" id="{7DEE382C-04AE-BB6D-D10A-D1D025A98B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2254230" y="5280035"/>
              <a:ext cx="499272" cy="357190"/>
            </a:xfrm>
            <a:prstGeom prst="bentConnector3">
              <a:avLst>
                <a:gd name="adj1" fmla="val 100366"/>
              </a:avLst>
            </a:prstGeom>
            <a:noFill/>
            <a:ln w="50800">
              <a:solidFill>
                <a:schemeClr val="tx1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2007" name="TextBox 28">
              <a:extLst>
                <a:ext uri="{FF2B5EF4-FFF2-40B4-BE49-F238E27FC236}">
                  <a16:creationId xmlns:a16="http://schemas.microsoft.com/office/drawing/2014/main" id="{92F5BE24-6757-5485-A525-16A03E768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5734" y="5494349"/>
              <a:ext cx="3724096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dirty="0"/>
                <a:t>Eerst wordt de schaling uitgevoerd</a:t>
              </a:r>
            </a:p>
          </p:txBody>
        </p:sp>
      </p:grpSp>
      <p:grpSp>
        <p:nvGrpSpPr>
          <p:cNvPr id="6" name="Group 30">
            <a:extLst>
              <a:ext uri="{FF2B5EF4-FFF2-40B4-BE49-F238E27FC236}">
                <a16:creationId xmlns:a16="http://schemas.microsoft.com/office/drawing/2014/main" id="{912D0A8E-A121-432B-A146-FE406204B92D}"/>
              </a:ext>
            </a:extLst>
          </p:cNvPr>
          <p:cNvGrpSpPr>
            <a:grpSpLocks/>
          </p:cNvGrpSpPr>
          <p:nvPr/>
        </p:nvGrpSpPr>
        <p:grpSpPr bwMode="auto">
          <a:xfrm>
            <a:off x="3225802" y="4121024"/>
            <a:ext cx="2592750" cy="516065"/>
            <a:chOff x="2290374" y="5494349"/>
            <a:chExt cx="2592333" cy="516725"/>
          </a:xfrm>
        </p:grpSpPr>
        <p:cxnSp>
          <p:nvCxnSpPr>
            <p:cNvPr id="42004" name="Straight Arrow Connector 19">
              <a:extLst>
                <a:ext uri="{FF2B5EF4-FFF2-40B4-BE49-F238E27FC236}">
                  <a16:creationId xmlns:a16="http://schemas.microsoft.com/office/drawing/2014/main" id="{10B0E753-C656-7C36-EA89-5C562C9920CC}"/>
                </a:ext>
              </a:extLst>
            </p:cNvPr>
            <p:cNvCxnSpPr>
              <a:cxnSpLocks noChangeShapeType="1"/>
              <a:endCxn id="50183" idx="0"/>
            </p:cNvCxnSpPr>
            <p:nvPr/>
          </p:nvCxnSpPr>
          <p:spPr bwMode="auto">
            <a:xfrm rot="10800000" flipV="1">
              <a:off x="2290374" y="5637223"/>
              <a:ext cx="463131" cy="373851"/>
            </a:xfrm>
            <a:prstGeom prst="bentConnector2">
              <a:avLst/>
            </a:prstGeom>
            <a:noFill/>
            <a:ln w="50800">
              <a:solidFill>
                <a:schemeClr val="tx1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2005" name="TextBox 32">
              <a:extLst>
                <a:ext uri="{FF2B5EF4-FFF2-40B4-BE49-F238E27FC236}">
                  <a16:creationId xmlns:a16="http://schemas.microsoft.com/office/drawing/2014/main" id="{423A1A95-FDB8-D566-01CF-E97E5F4D8A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5734" y="5494349"/>
              <a:ext cx="2056973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dirty="0"/>
                <a:t>Daarna de Rotatie</a:t>
              </a:r>
            </a:p>
          </p:txBody>
        </p:sp>
      </p:grpSp>
      <p:grpSp>
        <p:nvGrpSpPr>
          <p:cNvPr id="7" name="Group 33">
            <a:extLst>
              <a:ext uri="{FF2B5EF4-FFF2-40B4-BE49-F238E27FC236}">
                <a16:creationId xmlns:a16="http://schemas.microsoft.com/office/drawing/2014/main" id="{9D83F3F2-B991-75E9-3759-12A7934F1892}"/>
              </a:ext>
            </a:extLst>
          </p:cNvPr>
          <p:cNvGrpSpPr>
            <a:grpSpLocks/>
          </p:cNvGrpSpPr>
          <p:nvPr/>
        </p:nvGrpSpPr>
        <p:grpSpPr bwMode="auto">
          <a:xfrm>
            <a:off x="5261032" y="4729637"/>
            <a:ext cx="3767997" cy="349521"/>
            <a:chOff x="2191450" y="5494349"/>
            <a:chExt cx="3768475" cy="349968"/>
          </a:xfrm>
        </p:grpSpPr>
        <p:cxnSp>
          <p:nvCxnSpPr>
            <p:cNvPr id="42002" name="Straight Arrow Connector 19">
              <a:extLst>
                <a:ext uri="{FF2B5EF4-FFF2-40B4-BE49-F238E27FC236}">
                  <a16:creationId xmlns:a16="http://schemas.microsoft.com/office/drawing/2014/main" id="{188269ED-6CBE-4186-BF93-AB78BFCECDD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2191450" y="5629120"/>
              <a:ext cx="557591" cy="12716"/>
            </a:xfrm>
            <a:prstGeom prst="bentConnector3">
              <a:avLst>
                <a:gd name="adj1" fmla="val 50000"/>
              </a:avLst>
            </a:prstGeom>
            <a:noFill/>
            <a:ln w="50800">
              <a:solidFill>
                <a:schemeClr val="tx1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2003" name="TextBox 35">
              <a:extLst>
                <a:ext uri="{FF2B5EF4-FFF2-40B4-BE49-F238E27FC236}">
                  <a16:creationId xmlns:a16="http://schemas.microsoft.com/office/drawing/2014/main" id="{12E2A07C-00E7-134C-4F55-A981CFE13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5734" y="5494349"/>
              <a:ext cx="3134191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dirty="0"/>
                <a:t>En ten slotte de verschuiving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B7578DB2-02D0-CEA7-C60B-95C187759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Transformaties</a:t>
            </a:r>
          </a:p>
        </p:txBody>
      </p:sp>
      <p:sp>
        <p:nvSpPr>
          <p:cNvPr id="43010" name="Content Placeholder 2">
            <a:extLst>
              <a:ext uri="{FF2B5EF4-FFF2-40B4-BE49-F238E27FC236}">
                <a16:creationId xmlns:a16="http://schemas.microsoft.com/office/drawing/2014/main" id="{E53C1621-96B0-053C-DB0A-DA5796B57C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208088"/>
            <a:ext cx="9034462" cy="519112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Samenvoegen van </a:t>
            </a:r>
            <a:br>
              <a:rPr lang="nl-BE" altLang="en-US">
                <a:ea typeface="ＭＳ Ｐゴシック" panose="020B0600070205080204" pitchFamily="34" charset="-128"/>
              </a:rPr>
            </a:br>
            <a:r>
              <a:rPr lang="nl-BE" altLang="en-US">
                <a:ea typeface="ＭＳ Ｐゴシック" panose="020B0600070205080204" pitchFamily="34" charset="-128"/>
              </a:rPr>
              <a:t>transformaties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A265A9-05F8-F24C-82FB-48BDDC0CE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43012" name="Slide Number Placeholder 4">
            <a:extLst>
              <a:ext uri="{FF2B5EF4-FFF2-40B4-BE49-F238E27FC236}">
                <a16:creationId xmlns:a16="http://schemas.microsoft.com/office/drawing/2014/main" id="{86B439B9-AC1D-105F-03AC-81C6A3802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D81EF952-CE6D-9241-870D-37E546FA6EFC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26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F70EE2A4-1F40-5C4F-083F-F850E2C8D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922463"/>
            <a:ext cx="5429250" cy="530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#include</a:t>
            </a:r>
            <a:r>
              <a:rPr lang="nl-BE" altLang="en-US" sz="1400">
                <a:solidFill>
                  <a:srgbClr val="7F0055"/>
                </a:solidFill>
                <a:latin typeface="Courier New" panose="02070309020205020404" pitchFamily="49" charset="0"/>
              </a:rPr>
              <a:t>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&lt;iostream&gt;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#include</a:t>
            </a:r>
            <a:r>
              <a:rPr lang="nl-BE" altLang="en-US" sz="1400" b="1">
                <a:latin typeface="Courier New" panose="02070309020205020404" pitchFamily="49" charset="0"/>
              </a:rPr>
              <a:t>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"vector.hh"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nl-BE" altLang="en-US" sz="1400">
                <a:latin typeface="Courier New" panose="02070309020205020404" pitchFamily="49" charset="0"/>
              </a:rPr>
              <a:t> </a:t>
            </a:r>
            <a:r>
              <a:rPr lang="nl-BE" altLang="en-US" sz="1400" b="1">
                <a:latin typeface="Courier New" panose="02070309020205020404" pitchFamily="49" charset="0"/>
              </a:rPr>
              <a:t>main</a:t>
            </a:r>
            <a:r>
              <a:rPr lang="nl-BE" altLang="en-US" sz="1400">
                <a:latin typeface="Courier New" panose="02070309020205020404" pitchFamily="49" charset="0"/>
              </a:rPr>
              <a:t>()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{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</a:t>
            </a: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Matrix</a:t>
            </a:r>
            <a:r>
              <a:rPr lang="nl-BE" altLang="en-US" sz="1400">
                <a:latin typeface="Courier New" panose="02070309020205020404" pitchFamily="49" charset="0"/>
              </a:rPr>
              <a:t> rotZ, trans;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	Vector3D</a:t>
            </a:r>
            <a:r>
              <a:rPr lang="nl-BE" altLang="en-US" sz="1400">
                <a:latin typeface="Courier New" panose="02070309020205020404" pitchFamily="49" charset="0"/>
              </a:rPr>
              <a:t> p0</a:t>
            </a: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;</a:t>
            </a:r>
            <a:endParaRPr lang="nl-BE" altLang="en-US" sz="14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rotZ(1,1) = 0.866025404;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rotZ(1,2) = 0.5;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rotZ(2,1) = -0.5;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rotZ(2,2) = rotZ(1,1);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trans(4,1) = 1.0;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trans(4,2) = 2.0;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trans(4,3) = 3.0;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</a:t>
            </a: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Matrix</a:t>
            </a:r>
            <a:r>
              <a:rPr lang="nl-BE" altLang="en-US" sz="1400">
                <a:latin typeface="Courier New" panose="02070309020205020404" pitchFamily="49" charset="0"/>
              </a:rPr>
              <a:t> combined = rotZ*trans;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4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p0 = </a:t>
            </a:r>
            <a:r>
              <a:rPr lang="nl-BE" altLang="en-US" sz="1400">
                <a:solidFill>
                  <a:srgbClr val="005032"/>
                </a:solidFill>
                <a:latin typeface="Courier New" panose="02070309020205020404" pitchFamily="49" charset="0"/>
              </a:rPr>
              <a:t>Vector3D</a:t>
            </a:r>
            <a:r>
              <a:rPr lang="nl-BE" altLang="en-US" sz="1400">
                <a:latin typeface="Courier New" panose="02070309020205020404" pitchFamily="49" charset="0"/>
              </a:rPr>
              <a:t>::point(2.0, 3.0, 4.0);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std::cout &lt;&lt;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"p0 =\t\t" </a:t>
            </a:r>
            <a:r>
              <a:rPr lang="nl-BE" altLang="en-US" sz="1400">
                <a:latin typeface="Courier New" panose="02070309020205020404" pitchFamily="49" charset="0"/>
              </a:rPr>
              <a:t>&lt;&lt; p0 &lt;&lt; std::endl;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Vector3D p1 = p0*rotZ;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std::cout &lt;&lt;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"p1 = p0*rotZ =\t"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		</a:t>
            </a:r>
            <a:r>
              <a:rPr lang="nl-BE" altLang="en-US" sz="1400">
                <a:latin typeface="Courier New" panose="02070309020205020404" pitchFamily="49" charset="0"/>
              </a:rPr>
              <a:t>&lt;&lt; p1 &lt;&lt; std::endl;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std::cout &lt;&lt;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"p1*trans =\t"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		</a:t>
            </a:r>
            <a:r>
              <a:rPr lang="nl-BE" altLang="en-US" sz="1400">
                <a:latin typeface="Courier New" panose="02070309020205020404" pitchFamily="49" charset="0"/>
              </a:rPr>
              <a:t>&lt;&lt; (p1*trans) &lt;&lt; std::endl;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std::cout &lt;&lt; </a:t>
            </a: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"p0*combined =\t"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solidFill>
                  <a:srgbClr val="1010C4"/>
                </a:solidFill>
                <a:latin typeface="Courier New" panose="02070309020205020404" pitchFamily="49" charset="0"/>
              </a:rPr>
              <a:t>		</a:t>
            </a:r>
            <a:r>
              <a:rPr lang="nl-BE" altLang="en-US" sz="1400">
                <a:latin typeface="Courier New" panose="02070309020205020404" pitchFamily="49" charset="0"/>
              </a:rPr>
              <a:t>&lt;&lt; (p0*combined) &lt;&lt; std::endl;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	</a:t>
            </a:r>
            <a:r>
              <a:rPr lang="nl-BE" altLang="en-US" sz="1400" b="1">
                <a:solidFill>
                  <a:srgbClr val="7F0055"/>
                </a:solidFill>
                <a:latin typeface="Courier New" panose="02070309020205020404" pitchFamily="49" charset="0"/>
              </a:rPr>
              <a:t>return</a:t>
            </a:r>
            <a:r>
              <a:rPr lang="nl-BE" altLang="en-US" sz="1400">
                <a:latin typeface="Courier New" panose="02070309020205020404" pitchFamily="49" charset="0"/>
              </a:rPr>
              <a:t> 0;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4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618EDEF1-81C8-2DBE-CC76-8E0921B4A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438" y="2493963"/>
            <a:ext cx="4643437" cy="89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1400">
                <a:latin typeface="Courier New" panose="02070309020205020404" pitchFamily="49" charset="0"/>
              </a:rPr>
              <a:t>p0 = 			(      2,        3, 4, 1)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1400">
                <a:latin typeface="Courier New" panose="02070309020205020404" pitchFamily="49" charset="0"/>
              </a:rPr>
              <a:t>p1 = p0*rotZ =	(0.232051, 3.59808, 4, 1)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1400">
                <a:latin typeface="Courier New" panose="02070309020205020404" pitchFamily="49" charset="0"/>
              </a:rPr>
              <a:t>p1*trans =		</a:t>
            </a:r>
            <a:r>
              <a:rPr lang="en-US" altLang="en-US" sz="1400" b="1">
                <a:latin typeface="Courier New" panose="02070309020205020404" pitchFamily="49" charset="0"/>
              </a:rPr>
              <a:t>(1.23205, 5.59808,  7, 1)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1400">
                <a:latin typeface="Courier New" panose="02070309020205020404" pitchFamily="49" charset="0"/>
              </a:rPr>
              <a:t>p0*combined =	</a:t>
            </a:r>
            <a:r>
              <a:rPr lang="en-US" altLang="en-US" sz="1400" b="1">
                <a:latin typeface="Courier New" panose="02070309020205020404" pitchFamily="49" charset="0"/>
              </a:rPr>
              <a:t>(1.23205, 5.59808,  7, 1)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662F8F2E-C15B-3048-942C-91DD65F918ED}"/>
              </a:ext>
            </a:extLst>
          </p:cNvPr>
          <p:cNvSpPr txBox="1">
            <a:spLocks/>
          </p:cNvSpPr>
          <p:nvPr/>
        </p:nvSpPr>
        <p:spPr>
          <a:xfrm>
            <a:off x="5183188" y="2065338"/>
            <a:ext cx="4441825" cy="519112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charset="0"/>
              <a:buNone/>
              <a:defRPr/>
            </a:pPr>
            <a:r>
              <a:rPr lang="nl-BE" sz="2200" b="1" kern="0" dirty="0">
                <a:solidFill>
                  <a:srgbClr val="003D64"/>
                </a:solidFill>
                <a:latin typeface="+mn-lt"/>
                <a:ea typeface="+mn-ea"/>
              </a:rPr>
              <a:t>Output: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4FD84D8E-BA21-765B-9DFF-45C425B4B7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Eye-point transformatie</a:t>
            </a:r>
          </a:p>
        </p:txBody>
      </p:sp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452CA5B9-74C0-7922-6FAA-32A74E521A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Implementeer de nodige functionaliteit om de eyepoint-transformatie uit te voeren</a:t>
            </a:r>
          </a:p>
          <a:p>
            <a:pPr lvl="1"/>
            <a:r>
              <a:rPr lang="nl-BE" altLang="en-US"/>
              <a:t>Schrijf een methode/functie die de eyepoint transformatie Matrix berekent op basis van een Vector3D object</a:t>
            </a:r>
          </a:p>
          <a:p>
            <a:pPr lvl="2"/>
            <a:r>
              <a:rPr lang="nl-BE" altLang="en-US"/>
              <a:t>Vb: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Matrix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eyePointTrans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Vector3D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&amp;eyepoint);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Schrijf een methode/functie die deze transformatie uitvoert op </a:t>
            </a:r>
            <a:r>
              <a:rPr lang="nl-BE" altLang="en-US" b="1"/>
              <a:t>alle</a:t>
            </a:r>
            <a:r>
              <a:rPr lang="nl-BE" altLang="en-US"/>
              <a:t> punten van </a:t>
            </a:r>
            <a:r>
              <a:rPr lang="nl-BE" altLang="en-US" b="1"/>
              <a:t>alle</a:t>
            </a:r>
            <a:r>
              <a:rPr lang="nl-BE" altLang="en-US"/>
              <a:t> 3D Figuren</a:t>
            </a:r>
          </a:p>
          <a:p>
            <a:pPr lvl="2"/>
            <a:r>
              <a:rPr lang="nl-BE" altLang="en-US"/>
              <a:t>Vb: 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void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applyTransformation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Figures3D 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&amp;,</a:t>
            </a:r>
            <a:b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                                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Matrix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&amp;);</a:t>
            </a:r>
          </a:p>
          <a:p>
            <a:pPr lvl="3"/>
            <a:r>
              <a:rPr lang="nl-BE" altLang="en-US"/>
              <a:t>Deze  methode/functie kan gebruik maken van de </a:t>
            </a:r>
            <a:r>
              <a:rPr lang="nl-BE" altLang="en-US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applyTransformation</a:t>
            </a:r>
            <a:r>
              <a:rPr lang="nl-BE" altLang="en-US"/>
              <a:t> functie op de van de vorige slide.</a:t>
            </a:r>
            <a:endParaRPr lang="nl-BE" altLang="en-US">
              <a:solidFill>
                <a:schemeClr val="tx1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2"/>
            <a:endParaRPr lang="nl-BE" altLang="en-US">
              <a:solidFill>
                <a:schemeClr val="tx1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1"/>
            <a:endParaRPr lang="nl-B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5F7B02-F80F-634F-ADCB-5704C13D7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44036" name="Slide Number Placeholder 4">
            <a:extLst>
              <a:ext uri="{FF2B5EF4-FFF2-40B4-BE49-F238E27FC236}">
                <a16:creationId xmlns:a16="http://schemas.microsoft.com/office/drawing/2014/main" id="{083859A1-5734-B7D8-C715-E147C95D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902E910E-C720-3A48-8404-2A23A8A4F67C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27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7" name="Group 32">
            <a:extLst>
              <a:ext uri="{FF2B5EF4-FFF2-40B4-BE49-F238E27FC236}">
                <a16:creationId xmlns:a16="http://schemas.microsoft.com/office/drawing/2014/main" id="{AC864394-D570-3245-20EA-F22918267AFC}"/>
              </a:ext>
            </a:extLst>
          </p:cNvPr>
          <p:cNvGrpSpPr>
            <a:grpSpLocks/>
          </p:cNvGrpSpPr>
          <p:nvPr/>
        </p:nvGrpSpPr>
        <p:grpSpPr bwMode="auto">
          <a:xfrm>
            <a:off x="682625" y="3851275"/>
            <a:ext cx="2014538" cy="2492375"/>
            <a:chOff x="2968610" y="2422515"/>
            <a:chExt cx="2014594" cy="2493108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C358C58-65EC-EB4A-BA75-5531A577265C}"/>
                </a:ext>
              </a:extLst>
            </p:cNvPr>
            <p:cNvCxnSpPr/>
            <p:nvPr/>
          </p:nvCxnSpPr>
          <p:spPr bwMode="auto">
            <a:xfrm flipV="1">
              <a:off x="3754445" y="3280017"/>
              <a:ext cx="1143032" cy="857502"/>
            </a:xfrm>
            <a:prstGeom prst="straightConnector1">
              <a:avLst/>
            </a:prstGeom>
            <a:solidFill>
              <a:srgbClr val="00B8FF"/>
            </a:solidFill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119074F-EF00-FF49-A433-1DD651CBE334}"/>
                </a:ext>
              </a:extLst>
            </p:cNvPr>
            <p:cNvCxnSpPr/>
            <p:nvPr/>
          </p:nvCxnSpPr>
          <p:spPr bwMode="auto">
            <a:xfrm rot="16200000" flipV="1">
              <a:off x="2574671" y="2959333"/>
              <a:ext cx="1715004" cy="641368"/>
            </a:xfrm>
            <a:prstGeom prst="straightConnector1">
              <a:avLst/>
            </a:prstGeom>
            <a:solidFill>
              <a:srgbClr val="00B8FF"/>
            </a:solidFill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B9E70D0-408F-CD4D-AB17-1699405AD0C4}"/>
                </a:ext>
              </a:extLst>
            </p:cNvPr>
            <p:cNvCxnSpPr/>
            <p:nvPr/>
          </p:nvCxnSpPr>
          <p:spPr bwMode="auto">
            <a:xfrm>
              <a:off x="3754445" y="4137519"/>
              <a:ext cx="714395" cy="643127"/>
            </a:xfrm>
            <a:prstGeom prst="straightConnector1">
              <a:avLst/>
            </a:prstGeom>
            <a:solidFill>
              <a:srgbClr val="00B8FF"/>
            </a:solidFill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A1C8EA4-511B-854D-81A9-812CCBB8EAF6}"/>
                </a:ext>
              </a:extLst>
            </p:cNvPr>
            <p:cNvSpPr txBox="1"/>
            <p:nvPr/>
          </p:nvSpPr>
          <p:spPr>
            <a:xfrm>
              <a:off x="4040203" y="4566270"/>
              <a:ext cx="300045" cy="34935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r>
                <a:rPr lang="nl-BE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charset="0"/>
                  <a:ea typeface="+mn-ea"/>
                </a:rPr>
                <a:t>x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BD5D7E-317B-224E-9F80-9F416CD6A29D}"/>
                </a:ext>
              </a:extLst>
            </p:cNvPr>
            <p:cNvSpPr txBox="1"/>
            <p:nvPr/>
          </p:nvSpPr>
          <p:spPr>
            <a:xfrm>
              <a:off x="4683158" y="3351476"/>
              <a:ext cx="300046" cy="34935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r>
                <a:rPr lang="nl-BE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charset="0"/>
                  <a:ea typeface="+mn-ea"/>
                </a:rPr>
                <a:t>y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17BF406-132A-574B-966E-FD858B616649}"/>
                </a:ext>
              </a:extLst>
            </p:cNvPr>
            <p:cNvSpPr txBox="1"/>
            <p:nvPr/>
          </p:nvSpPr>
          <p:spPr>
            <a:xfrm>
              <a:off x="2968610" y="2565432"/>
              <a:ext cx="300046" cy="34935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r>
                <a:rPr lang="nl-BE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charset="0"/>
                  <a:ea typeface="+mn-ea"/>
                </a:rPr>
                <a:t>z</a:t>
              </a:r>
            </a:p>
          </p:txBody>
        </p:sp>
      </p:grpSp>
      <p:sp>
        <p:nvSpPr>
          <p:cNvPr id="45058" name="Title 1">
            <a:extLst>
              <a:ext uri="{FF2B5EF4-FFF2-40B4-BE49-F238E27FC236}">
                <a16:creationId xmlns:a16="http://schemas.microsoft.com/office/drawing/2014/main" id="{D42F0FD1-32E9-CC18-0170-F00DC87250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Eye-point transformatie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0241D-FA86-3CEA-A243-042DD0E177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9034462" cy="1662113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Transformeer het assenstelsel zó dat we eenvoudig kunnen projecteren:</a:t>
            </a:r>
          </a:p>
          <a:p>
            <a:pPr lvl="1"/>
            <a:r>
              <a:rPr lang="nl-BE" altLang="en-US"/>
              <a:t>Oorsprong in het oogpunt</a:t>
            </a:r>
          </a:p>
          <a:p>
            <a:pPr lvl="1"/>
            <a:r>
              <a:rPr lang="nl-BE" altLang="en-US"/>
              <a:t>X-as wijst naar rechts</a:t>
            </a:r>
          </a:p>
          <a:p>
            <a:pPr lvl="1"/>
            <a:r>
              <a:rPr lang="nl-BE" altLang="en-US"/>
              <a:t>Y-as wijst naar boven</a:t>
            </a:r>
          </a:p>
          <a:p>
            <a:pPr lvl="1"/>
            <a:r>
              <a:rPr lang="nl-BE" altLang="en-US"/>
              <a:t>Z-as wijst weg van de oude oorsprong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83AABA-2CCA-9B4E-976B-89E0A6AB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45061" name="Slide Number Placeholder 4">
            <a:extLst>
              <a:ext uri="{FF2B5EF4-FFF2-40B4-BE49-F238E27FC236}">
                <a16:creationId xmlns:a16="http://schemas.microsoft.com/office/drawing/2014/main" id="{C0A52E89-920B-7B4E-C6BB-BF6906E0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7072D13E-F5CE-2643-84FD-8100EE4214D6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28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45062" name="Can 5">
            <a:extLst>
              <a:ext uri="{FF2B5EF4-FFF2-40B4-BE49-F238E27FC236}">
                <a16:creationId xmlns:a16="http://schemas.microsoft.com/office/drawing/2014/main" id="{28B0BBF9-0F2C-A64D-BA04-2818381D8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813" y="5065713"/>
            <a:ext cx="1143000" cy="928687"/>
          </a:xfrm>
          <a:prstGeom prst="can">
            <a:avLst>
              <a:gd name="adj" fmla="val 59375"/>
            </a:avLst>
          </a:prstGeom>
          <a:solidFill>
            <a:srgbClr val="1010C4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grpSp>
        <p:nvGrpSpPr>
          <p:cNvPr id="6" name="Group 31">
            <a:extLst>
              <a:ext uri="{FF2B5EF4-FFF2-40B4-BE49-F238E27FC236}">
                <a16:creationId xmlns:a16="http://schemas.microsoft.com/office/drawing/2014/main" id="{8D535E5D-7D71-B87D-FF5C-4B51DF9EA9A9}"/>
              </a:ext>
            </a:extLst>
          </p:cNvPr>
          <p:cNvGrpSpPr>
            <a:grpSpLocks/>
          </p:cNvGrpSpPr>
          <p:nvPr/>
        </p:nvGrpSpPr>
        <p:grpSpPr bwMode="auto">
          <a:xfrm>
            <a:off x="682625" y="3851275"/>
            <a:ext cx="2014538" cy="2492375"/>
            <a:chOff x="2968610" y="2422515"/>
            <a:chExt cx="2014594" cy="2493108"/>
          </a:xfrm>
        </p:grpSpPr>
        <p:cxnSp>
          <p:nvCxnSpPr>
            <p:cNvPr id="45073" name="Straight Arrow Connector 7">
              <a:extLst>
                <a:ext uri="{FF2B5EF4-FFF2-40B4-BE49-F238E27FC236}">
                  <a16:creationId xmlns:a16="http://schemas.microsoft.com/office/drawing/2014/main" id="{265BD444-8CF8-7C31-AFCD-18124B133C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754428" y="3279771"/>
              <a:ext cx="1143008" cy="857256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4" name="Straight Arrow Connector 9">
              <a:extLst>
                <a:ext uri="{FF2B5EF4-FFF2-40B4-BE49-F238E27FC236}">
                  <a16:creationId xmlns:a16="http://schemas.microsoft.com/office/drawing/2014/main" id="{7722ADA9-FD8F-8574-80A0-D84A8E424E9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2574907" y="2959094"/>
              <a:ext cx="1715306" cy="64214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5" name="Straight Arrow Connector 10">
              <a:extLst>
                <a:ext uri="{FF2B5EF4-FFF2-40B4-BE49-F238E27FC236}">
                  <a16:creationId xmlns:a16="http://schemas.microsoft.com/office/drawing/2014/main" id="{A23AD3B0-F4E4-1FEE-B069-3E59656A31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54428" y="4137027"/>
              <a:ext cx="714380" cy="64294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76" name="TextBox 20">
              <a:extLst>
                <a:ext uri="{FF2B5EF4-FFF2-40B4-BE49-F238E27FC236}">
                  <a16:creationId xmlns:a16="http://schemas.microsoft.com/office/drawing/2014/main" id="{CE36C54C-223E-53CB-CDDC-AEAA5455C4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0180" y="4565655"/>
              <a:ext cx="300082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x</a:t>
              </a:r>
            </a:p>
          </p:txBody>
        </p:sp>
        <p:sp>
          <p:nvSpPr>
            <p:cNvPr id="45077" name="TextBox 21">
              <a:extLst>
                <a:ext uri="{FF2B5EF4-FFF2-40B4-BE49-F238E27FC236}">
                  <a16:creationId xmlns:a16="http://schemas.microsoft.com/office/drawing/2014/main" id="{15E730A0-54E8-5FD7-5C0B-0D890A3467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3122" y="3351209"/>
              <a:ext cx="300082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y</a:t>
              </a:r>
            </a:p>
          </p:txBody>
        </p:sp>
        <p:sp>
          <p:nvSpPr>
            <p:cNvPr id="45078" name="TextBox 22">
              <a:extLst>
                <a:ext uri="{FF2B5EF4-FFF2-40B4-BE49-F238E27FC236}">
                  <a16:creationId xmlns:a16="http://schemas.microsoft.com/office/drawing/2014/main" id="{0356B3B7-C3B6-7DBF-C753-9DABC92B5F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8610" y="2565391"/>
              <a:ext cx="300082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z</a:t>
              </a:r>
            </a:p>
          </p:txBody>
        </p:sp>
      </p:grpSp>
      <p:grpSp>
        <p:nvGrpSpPr>
          <p:cNvPr id="7" name="Group 55">
            <a:extLst>
              <a:ext uri="{FF2B5EF4-FFF2-40B4-BE49-F238E27FC236}">
                <a16:creationId xmlns:a16="http://schemas.microsoft.com/office/drawing/2014/main" id="{5CF8E3A6-F690-B866-C282-D1C76E4EEBAD}"/>
              </a:ext>
            </a:extLst>
          </p:cNvPr>
          <p:cNvGrpSpPr>
            <a:grpSpLocks/>
          </p:cNvGrpSpPr>
          <p:nvPr/>
        </p:nvGrpSpPr>
        <p:grpSpPr bwMode="auto">
          <a:xfrm>
            <a:off x="1254125" y="6351588"/>
            <a:ext cx="3643313" cy="349250"/>
            <a:chOff x="1254098" y="6351605"/>
            <a:chExt cx="3643338" cy="349968"/>
          </a:xfrm>
        </p:grpSpPr>
        <p:cxnSp>
          <p:nvCxnSpPr>
            <p:cNvPr id="45071" name="Straight Arrow Connector 40">
              <a:extLst>
                <a:ext uri="{FF2B5EF4-FFF2-40B4-BE49-F238E27FC236}">
                  <a16:creationId xmlns:a16="http://schemas.microsoft.com/office/drawing/2014/main" id="{A82B48F3-2E90-0F27-57A3-CC6E1ECF89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54098" y="6351605"/>
              <a:ext cx="3643338" cy="158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72" name="TextBox 52">
              <a:extLst>
                <a:ext uri="{FF2B5EF4-FFF2-40B4-BE49-F238E27FC236}">
                  <a16:creationId xmlns:a16="http://schemas.microsoft.com/office/drawing/2014/main" id="{F70AA00B-BC25-AD70-E4C0-D0E8A598D3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808" y="6351605"/>
              <a:ext cx="300082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x</a:t>
              </a:r>
            </a:p>
          </p:txBody>
        </p:sp>
      </p:grpSp>
      <p:grpSp>
        <p:nvGrpSpPr>
          <p:cNvPr id="8" name="Group 56">
            <a:extLst>
              <a:ext uri="{FF2B5EF4-FFF2-40B4-BE49-F238E27FC236}">
                <a16:creationId xmlns:a16="http://schemas.microsoft.com/office/drawing/2014/main" id="{D8964425-A4AF-9B0A-5040-C6B480CB799D}"/>
              </a:ext>
            </a:extLst>
          </p:cNvPr>
          <p:cNvGrpSpPr>
            <a:grpSpLocks/>
          </p:cNvGrpSpPr>
          <p:nvPr/>
        </p:nvGrpSpPr>
        <p:grpSpPr bwMode="auto">
          <a:xfrm>
            <a:off x="1254125" y="3636963"/>
            <a:ext cx="300038" cy="2714625"/>
            <a:chOff x="1254098" y="3636961"/>
            <a:chExt cx="300082" cy="2714644"/>
          </a:xfrm>
        </p:grpSpPr>
        <p:cxnSp>
          <p:nvCxnSpPr>
            <p:cNvPr id="45069" name="Straight Arrow Connector 41">
              <a:extLst>
                <a:ext uri="{FF2B5EF4-FFF2-40B4-BE49-F238E27FC236}">
                  <a16:creationId xmlns:a16="http://schemas.microsoft.com/office/drawing/2014/main" id="{DE5296C4-2E09-6925-489E-EC175879AC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-102827" y="4993886"/>
              <a:ext cx="2714644" cy="79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70" name="TextBox 53">
              <a:extLst>
                <a:ext uri="{FF2B5EF4-FFF2-40B4-BE49-F238E27FC236}">
                  <a16:creationId xmlns:a16="http://schemas.microsoft.com/office/drawing/2014/main" id="{985874E2-A919-6E53-C0CC-424B64572E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4098" y="3779837"/>
              <a:ext cx="300082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y</a:t>
              </a:r>
            </a:p>
          </p:txBody>
        </p:sp>
      </p:grpSp>
      <p:grpSp>
        <p:nvGrpSpPr>
          <p:cNvPr id="9" name="Group 57">
            <a:extLst>
              <a:ext uri="{FF2B5EF4-FFF2-40B4-BE49-F238E27FC236}">
                <a16:creationId xmlns:a16="http://schemas.microsoft.com/office/drawing/2014/main" id="{AF08C418-EDAE-6CB0-256B-9F4E2CD08B85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6351588"/>
            <a:ext cx="714375" cy="1208087"/>
            <a:chOff x="539718" y="6351605"/>
            <a:chExt cx="714380" cy="1208070"/>
          </a:xfrm>
        </p:grpSpPr>
        <p:cxnSp>
          <p:nvCxnSpPr>
            <p:cNvPr id="45067" name="Straight Arrow Connector 46">
              <a:extLst>
                <a:ext uri="{FF2B5EF4-FFF2-40B4-BE49-F238E27FC236}">
                  <a16:creationId xmlns:a16="http://schemas.microsoft.com/office/drawing/2014/main" id="{64256AE4-088B-262F-E400-89CE4BC51C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361123" y="6530200"/>
              <a:ext cx="1071570" cy="71438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68" name="TextBox 54">
              <a:extLst>
                <a:ext uri="{FF2B5EF4-FFF2-40B4-BE49-F238E27FC236}">
                  <a16:creationId xmlns:a16="http://schemas.microsoft.com/office/drawing/2014/main" id="{AB95E759-3FB5-B6A7-82AE-7580AF8216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2594" y="7209707"/>
              <a:ext cx="300082" cy="34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z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A8F9689B-2557-8F79-B5A1-BABC31484B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Eye-point transformatie</a:t>
            </a:r>
          </a:p>
        </p:txBody>
      </p:sp>
      <p:sp>
        <p:nvSpPr>
          <p:cNvPr id="46082" name="Content Placeholder 2">
            <a:extLst>
              <a:ext uri="{FF2B5EF4-FFF2-40B4-BE49-F238E27FC236}">
                <a16:creationId xmlns:a16="http://schemas.microsoft.com/office/drawing/2014/main" id="{1531D9D0-FA57-DA7A-DC7E-242C94B668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Transformeer het assenstelsel zó dat we eenvoudig kunnen projecteren:</a:t>
            </a:r>
          </a:p>
          <a:p>
            <a:pPr lvl="1"/>
            <a:r>
              <a:rPr lang="nl-BE" altLang="en-US"/>
              <a:t>Rotatie om de Z-as</a:t>
            </a:r>
          </a:p>
          <a:p>
            <a:pPr lvl="2"/>
            <a:r>
              <a:rPr lang="nl-BE" altLang="en-US"/>
              <a:t>X-as moet naar rechts</a:t>
            </a:r>
            <a:br>
              <a:rPr lang="nl-BE" altLang="en-US"/>
            </a:br>
            <a:r>
              <a:rPr lang="nl-BE" altLang="en-US"/>
              <a:t>wijzen</a:t>
            </a:r>
          </a:p>
          <a:p>
            <a:pPr lvl="1"/>
            <a:r>
              <a:rPr lang="nl-BE" altLang="en-US"/>
              <a:t>Rotatie om de X-as</a:t>
            </a:r>
          </a:p>
          <a:p>
            <a:pPr lvl="2"/>
            <a:r>
              <a:rPr lang="nl-BE" altLang="en-US"/>
              <a:t>Z-as moet naar</a:t>
            </a:r>
            <a:br>
              <a:rPr lang="nl-BE" altLang="en-US"/>
            </a:br>
            <a:r>
              <a:rPr lang="nl-BE" altLang="en-US"/>
              <a:t>het oogpunt wijzen</a:t>
            </a:r>
          </a:p>
          <a:p>
            <a:pPr lvl="1"/>
            <a:r>
              <a:rPr lang="nl-BE" altLang="en-US"/>
              <a:t>Verschuiving</a:t>
            </a:r>
          </a:p>
          <a:p>
            <a:pPr lvl="2"/>
            <a:r>
              <a:rPr lang="nl-BE" altLang="en-US"/>
              <a:t>Oorsprong moet</a:t>
            </a:r>
            <a:br>
              <a:rPr lang="nl-BE" altLang="en-US"/>
            </a:br>
            <a:r>
              <a:rPr lang="nl-BE" altLang="en-US"/>
              <a:t>met het oogpunt</a:t>
            </a:r>
            <a:br>
              <a:rPr lang="nl-BE" altLang="en-US"/>
            </a:br>
            <a:r>
              <a:rPr lang="nl-BE" altLang="en-US"/>
              <a:t>samenvallen</a:t>
            </a:r>
          </a:p>
          <a:p>
            <a:endParaRPr lang="nl-BE" altLang="en-US">
              <a:ea typeface="ＭＳ Ｐゴシック" panose="020B0600070205080204" pitchFamily="34" charset="-128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AAEEB6-8E22-4E47-BABF-6BC161C70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46084" name="Slide Number Placeholder 4">
            <a:extLst>
              <a:ext uri="{FF2B5EF4-FFF2-40B4-BE49-F238E27FC236}">
                <a16:creationId xmlns:a16="http://schemas.microsoft.com/office/drawing/2014/main" id="{B509F0AF-EE9B-6A62-F1CA-CFC024148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F8AD854A-B943-1442-96E9-A56D3DC35A3C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29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pic>
        <p:nvPicPr>
          <p:cNvPr id="6" name="eyepoint.mpg" descr="/Users/guust/Documents/UA/Doctoraat/onderwijs/graphics/svn/slides/new_slides/eyepoint.mpg">
            <a:hlinkClick r:id="" action="ppaction://media"/>
            <a:extLst>
              <a:ext uri="{FF2B5EF4-FFF2-40B4-BE49-F238E27FC236}">
                <a16:creationId xmlns:a16="http://schemas.microsoft.com/office/drawing/2014/main" id="{E17F8ADF-4611-6516-4CB8-52D5F4418521}"/>
              </a:ext>
            </a:extLst>
          </p:cNvPr>
          <p:cNvPicPr>
            <a:picLocks noRot="1"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625" y="1993900"/>
            <a:ext cx="381635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 nodeType="clickPar">
                      <p:stCondLst>
                        <p:cond delay="0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>
                <p:cTn id="1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4E4E332C-6749-BAD8-C0EC-6711B48E7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Eye-point transformatie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EE89B-B88F-02D3-E4CB-27575E209C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Eye-point transformatie matrix opstellen</a:t>
            </a:r>
          </a:p>
          <a:p>
            <a:pPr marL="914400" lvl="1" indent="-457200">
              <a:buFont typeface="FreeSans" pitchFamily="32" charset="0"/>
              <a:buAutoNum type="arabicPeriod"/>
            </a:pPr>
            <a:r>
              <a:rPr lang="nl-BE" altLang="en-US"/>
              <a:t>Omzetten van carthesische naar poolcoördinaten</a:t>
            </a:r>
          </a:p>
          <a:p>
            <a:pPr lvl="2"/>
            <a:r>
              <a:rPr lang="nl-BE" altLang="en-US"/>
              <a:t>vb: 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void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18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toPolar(</a:t>
            </a:r>
            <a:br>
              <a:rPr lang="nl-BE" altLang="en-US" sz="18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 sz="18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18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Vector3D &amp;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point, 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 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&amp;theta, 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 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&amp;phi, 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 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&amp;r</a:t>
            </a:r>
            <a:r>
              <a:rPr lang="nl-BE" altLang="en-US" sz="18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)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;</a:t>
            </a:r>
          </a:p>
          <a:p>
            <a:pPr marL="914400" lvl="1" indent="-457200"/>
            <a:endParaRPr lang="nl-BE" altLang="en-US"/>
          </a:p>
          <a:p>
            <a:pPr marL="914400" lvl="1" indent="-457200"/>
            <a:endParaRPr lang="nl-BE" altLang="en-US"/>
          </a:p>
          <a:p>
            <a:pPr marL="914400" lvl="1" indent="-457200"/>
            <a:endParaRPr lang="nl-BE" altLang="en-US"/>
          </a:p>
          <a:p>
            <a:pPr marL="914400" lvl="1" indent="-457200"/>
            <a:endParaRPr lang="nl-BE" altLang="en-US"/>
          </a:p>
          <a:p>
            <a:pPr marL="914400" lvl="1" indent="-457200"/>
            <a:r>
              <a:rPr lang="nl-BE" altLang="en-US"/>
              <a:t>Let op: </a:t>
            </a:r>
          </a:p>
          <a:p>
            <a:pPr marL="914400" lvl="1" indent="-457200"/>
            <a:endParaRPr lang="nl-BE" altLang="en-US"/>
          </a:p>
          <a:p>
            <a:pPr marL="914400" lvl="1" indent="-457200"/>
            <a:r>
              <a:rPr lang="nl-BE" altLang="en-US"/>
              <a:t>Maak gebruik van:</a:t>
            </a:r>
          </a:p>
          <a:p>
            <a:pPr lvl="2"/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std::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atan2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y, 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x);</a:t>
            </a:r>
          </a:p>
          <a:p>
            <a:pPr lvl="2"/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std::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acos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r);</a:t>
            </a:r>
          </a:p>
          <a:p>
            <a:pPr marL="914400" lvl="1" indent="-457200"/>
            <a:endParaRPr lang="nl-BE" altLang="en-US"/>
          </a:p>
          <a:p>
            <a:endParaRPr lang="nl-BE" altLang="en-US">
              <a:ea typeface="ＭＳ Ｐゴシック" panose="020B0600070205080204" pitchFamily="34" charset="-128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3755AF-329C-7843-BA5E-06BB7432B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47108" name="Slide Number Placeholder 4">
            <a:extLst>
              <a:ext uri="{FF2B5EF4-FFF2-40B4-BE49-F238E27FC236}">
                <a16:creationId xmlns:a16="http://schemas.microsoft.com/office/drawing/2014/main" id="{42FA66D1-70AF-BDA5-65E0-CF333AA35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9C9507B6-C9CE-AD4F-99B8-73C347728FA3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30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pic>
        <p:nvPicPr>
          <p:cNvPr id="47109" name="Picture 5" descr="spherical-coords.png">
            <a:extLst>
              <a:ext uri="{FF2B5EF4-FFF2-40B4-BE49-F238E27FC236}">
                <a16:creationId xmlns:a16="http://schemas.microsoft.com/office/drawing/2014/main" id="{C95979CE-019F-3824-5642-47E8EA030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313" y="2351088"/>
            <a:ext cx="3638550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0" name="Rectangle 2">
            <a:extLst>
              <a:ext uri="{FF2B5EF4-FFF2-40B4-BE49-F238E27FC236}">
                <a16:creationId xmlns:a16="http://schemas.microsoft.com/office/drawing/2014/main" id="{11B7E84A-6B04-3628-F3C9-2C6C990A8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76801" name="Picture 1">
            <a:extLst>
              <a:ext uri="{FF2B5EF4-FFF2-40B4-BE49-F238E27FC236}">
                <a16:creationId xmlns:a16="http://schemas.microsoft.com/office/drawing/2014/main" id="{4C5A9FB4-0AB9-56CC-C52E-6A52E9793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963" y="3419475"/>
            <a:ext cx="4781550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2" name="Rectangle 3">
            <a:extLst>
              <a:ext uri="{FF2B5EF4-FFF2-40B4-BE49-F238E27FC236}">
                <a16:creationId xmlns:a16="http://schemas.microsoft.com/office/drawing/2014/main" id="{4A5C2CF7-EC3A-5178-13E0-193F9E044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9072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47113" name="Rectangle 5">
            <a:extLst>
              <a:ext uri="{FF2B5EF4-FFF2-40B4-BE49-F238E27FC236}">
                <a16:creationId xmlns:a16="http://schemas.microsoft.com/office/drawing/2014/main" id="{8943E461-4D96-AB68-C15A-63F7A2313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47114" name="Rectangle 6">
            <a:extLst>
              <a:ext uri="{FF2B5EF4-FFF2-40B4-BE49-F238E27FC236}">
                <a16:creationId xmlns:a16="http://schemas.microsoft.com/office/drawing/2014/main" id="{667F08FA-B186-7D90-F98D-E4D254BF6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1917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47115" name="Rectangle 14">
            <a:extLst>
              <a:ext uri="{FF2B5EF4-FFF2-40B4-BE49-F238E27FC236}">
                <a16:creationId xmlns:a16="http://schemas.microsoft.com/office/drawing/2014/main" id="{4D08D70E-DA9B-E785-4F30-2A2D2A5F0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32781" name="Picture 13">
            <a:extLst>
              <a:ext uri="{FF2B5EF4-FFF2-40B4-BE49-F238E27FC236}">
                <a16:creationId xmlns:a16="http://schemas.microsoft.com/office/drawing/2014/main" id="{D145F70C-F746-EED2-EC0E-2A088D054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463" y="5003800"/>
            <a:ext cx="24860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7" name="Rectangle 15">
            <a:extLst>
              <a:ext uri="{FF2B5EF4-FFF2-40B4-BE49-F238E27FC236}">
                <a16:creationId xmlns:a16="http://schemas.microsoft.com/office/drawing/2014/main" id="{09BF9CAB-D39D-A341-6C87-156037FAC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1917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7EF91755-9380-A1C5-778E-65E289D664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Eye-point transformatie</a:t>
            </a:r>
          </a:p>
        </p:txBody>
      </p:sp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id="{DA55D643-3EA6-608F-0119-06C768F382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Eye-point transformatie matrix opstellen</a:t>
            </a:r>
          </a:p>
          <a:p>
            <a:pPr marL="914400" lvl="1" indent="-457200">
              <a:buFont typeface="FreeSans" pitchFamily="32" charset="0"/>
              <a:buAutoNum type="arabicPeriod" startAt="2"/>
            </a:pPr>
            <a:r>
              <a:rPr lang="nl-BE" altLang="en-US"/>
              <a:t>Transformatiematrix opstellen:</a:t>
            </a:r>
          </a:p>
          <a:p>
            <a:pPr marL="1314450" lvl="2" indent="-457200">
              <a:buFont typeface="Arial" panose="020B0604020202020204" pitchFamily="34" charset="0"/>
              <a:buChar char="•"/>
            </a:pPr>
            <a:endParaRPr lang="nl-BE" altLang="en-US"/>
          </a:p>
          <a:p>
            <a:pPr marL="1314450" lvl="2" indent="-457200">
              <a:buFont typeface="Arial" panose="020B0604020202020204" pitchFamily="34" charset="0"/>
              <a:buChar char="•"/>
            </a:pPr>
            <a:endParaRPr lang="nl-BE" altLang="en-US"/>
          </a:p>
          <a:p>
            <a:pPr marL="1314450" lvl="2" indent="-457200">
              <a:buFont typeface="Arial" panose="020B0604020202020204" pitchFamily="34" charset="0"/>
              <a:buChar char="•"/>
            </a:pPr>
            <a:r>
              <a:rPr lang="nl-BE" altLang="en-US"/>
              <a:t> </a:t>
            </a:r>
          </a:p>
          <a:p>
            <a:pPr>
              <a:buFont typeface="FreeSans" pitchFamily="32" charset="0"/>
              <a:buAutoNum type="arabicPeriod" startAt="2"/>
            </a:pPr>
            <a:endParaRPr lang="nl-BE" altLang="en-US">
              <a:ea typeface="ＭＳ Ｐゴシック" panose="020B0600070205080204" pitchFamily="34" charset="-128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E2DE3-7EA1-DC4A-BD46-325397104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48132" name="Slide Number Placeholder 4">
            <a:extLst>
              <a:ext uri="{FF2B5EF4-FFF2-40B4-BE49-F238E27FC236}">
                <a16:creationId xmlns:a16="http://schemas.microsoft.com/office/drawing/2014/main" id="{E6F0294C-D60A-1AB5-9361-57B2D9B9C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8A869EF1-3FDD-1D4E-8382-0D0D5A6C2C8C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31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48133" name="Rectangle 2">
            <a:extLst>
              <a:ext uri="{FF2B5EF4-FFF2-40B4-BE49-F238E27FC236}">
                <a16:creationId xmlns:a16="http://schemas.microsoft.com/office/drawing/2014/main" id="{31DE50DE-5E61-E0AF-93D0-A74EEADD6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48134" name="Picture 1">
            <a:extLst>
              <a:ext uri="{FF2B5EF4-FFF2-40B4-BE49-F238E27FC236}">
                <a16:creationId xmlns:a16="http://schemas.microsoft.com/office/drawing/2014/main" id="{E20F7354-863E-8523-D2CF-315FA3612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2493963"/>
            <a:ext cx="501015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5" name="Rectangle 3">
            <a:extLst>
              <a:ext uri="{FF2B5EF4-FFF2-40B4-BE49-F238E27FC236}">
                <a16:creationId xmlns:a16="http://schemas.microsoft.com/office/drawing/2014/main" id="{431BEA45-1890-6248-F166-9D8EA58C7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83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9219DD0B-1582-5323-C985-F5713AB5A7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Perspectiefprojectie</a:t>
            </a:r>
          </a:p>
        </p:txBody>
      </p:sp>
      <p:sp>
        <p:nvSpPr>
          <p:cNvPr id="49154" name="Content Placeholder 2">
            <a:extLst>
              <a:ext uri="{FF2B5EF4-FFF2-40B4-BE49-F238E27FC236}">
                <a16:creationId xmlns:a16="http://schemas.microsoft.com/office/drawing/2014/main" id="{B9ACD073-D4F9-7AD7-957B-8E2CD5B48B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Implementeer de nodige functionaliteit om de perspectiefprojectie uit te voeren op een lijst van 3D Figuren</a:t>
            </a:r>
          </a:p>
          <a:p>
            <a:pPr lvl="1"/>
            <a:r>
              <a:rPr lang="nl-BE" altLang="en-US"/>
              <a:t>Schrijf een functie/klasse die een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Figures3D</a:t>
            </a:r>
            <a:r>
              <a:rPr lang="nl-BE" altLang="en-US"/>
              <a:t> object omzet in een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Lines2D</a:t>
            </a:r>
            <a:r>
              <a:rPr lang="nl-BE" altLang="en-US"/>
              <a:t> object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Vb: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Lines2D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doProjection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nl-BE" altLang="en-US" sz="24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 sz="2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Figures3D 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&amp;);</a:t>
            </a:r>
          </a:p>
          <a:p>
            <a:endParaRPr lang="nl-BE" altLang="en-US">
              <a:ea typeface="ＭＳ Ｐゴシック" panose="020B0600070205080204" pitchFamily="34" charset="-128"/>
            </a:endParaRPr>
          </a:p>
          <a:p>
            <a:r>
              <a:rPr lang="nl-BE" altLang="en-US">
                <a:ea typeface="ＭＳ Ｐゴシック" panose="020B0600070205080204" pitchFamily="34" charset="-128"/>
              </a:rPr>
              <a:t>De resulterende 2D-lijntekening kan dan getekend worden als elke andere 2D-lijntekening</a:t>
            </a:r>
          </a:p>
          <a:p>
            <a:pPr lvl="1"/>
            <a:r>
              <a:rPr lang="nl-BE" altLang="en-US"/>
              <a:t>Gebruik 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img::</a:t>
            </a:r>
            <a:r>
              <a:rPr lang="nl-BE" altLang="en-US" sz="18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EasyImage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18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draw2DLines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	</a:t>
            </a:r>
            <a:r>
              <a:rPr lang="nl-BE" altLang="en-US" sz="18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Lines2D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&amp; lines, 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	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int 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size);</a:t>
            </a:r>
            <a:endParaRPr lang="nl-BE" altLang="en-US">
              <a:solidFill>
                <a:schemeClr val="tx1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1"/>
            <a:endParaRPr lang="nl-B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9036F2-DCB7-8443-8267-2E1EE9774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49156" name="Slide Number Placeholder 4">
            <a:extLst>
              <a:ext uri="{FF2B5EF4-FFF2-40B4-BE49-F238E27FC236}">
                <a16:creationId xmlns:a16="http://schemas.microsoft.com/office/drawing/2014/main" id="{A5D3A457-F019-DED3-BBC3-30490246A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692271CD-5661-FD4A-AE66-CF82598688B3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32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CF2B1A2D-E7A5-92C2-8AED-F25346B427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Perspectiefprojectie</a:t>
            </a:r>
          </a:p>
        </p:txBody>
      </p:sp>
      <p:sp>
        <p:nvSpPr>
          <p:cNvPr id="50178" name="Content Placeholder 2">
            <a:extLst>
              <a:ext uri="{FF2B5EF4-FFF2-40B4-BE49-F238E27FC236}">
                <a16:creationId xmlns:a16="http://schemas.microsoft.com/office/drawing/2014/main" id="{B1E025B5-7F2E-5A29-63AB-A50BF9F119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Individuele punten projecteren:</a:t>
            </a:r>
          </a:p>
          <a:p>
            <a:pPr lvl="1"/>
            <a:r>
              <a:rPr lang="nl-BE" altLang="en-US"/>
              <a:t>Schrijf een klasse/functie die een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Vector3D</a:t>
            </a:r>
            <a:r>
              <a:rPr lang="nl-BE" altLang="en-US"/>
              <a:t> object in een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Point2D </a:t>
            </a:r>
            <a:r>
              <a:rPr lang="nl-BE" altLang="en-US"/>
              <a:t>object omzet</a:t>
            </a:r>
          </a:p>
          <a:p>
            <a:pPr lvl="2"/>
            <a:r>
              <a:rPr lang="nl-BE" altLang="en-US"/>
              <a:t>Vb: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Point2D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doProjection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Vector3D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&amp;point,</a:t>
            </a:r>
            <a:b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                                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d);</a:t>
            </a:r>
          </a:p>
          <a:p>
            <a:pPr lvl="2"/>
            <a:endParaRPr lang="nl-BE" altLang="en-US"/>
          </a:p>
          <a:p>
            <a:pPr lvl="2"/>
            <a:r>
              <a:rPr lang="nl-BE" altLang="en-US"/>
              <a:t> </a:t>
            </a:r>
          </a:p>
          <a:p>
            <a:pPr lvl="2"/>
            <a:endParaRPr lang="nl-BE" altLang="en-US"/>
          </a:p>
          <a:p>
            <a:pPr lvl="2"/>
            <a:endParaRPr lang="nl-BE" altLang="en-US"/>
          </a:p>
          <a:p>
            <a:pPr lvl="1"/>
            <a:r>
              <a:rPr lang="nl-BE" altLang="en-US"/>
              <a:t>Stel </a:t>
            </a:r>
            <a:r>
              <a:rPr lang="nl-BE" altLang="en-US" b="1"/>
              <a:t>Enkel</a:t>
            </a:r>
            <a:r>
              <a:rPr lang="nl-BE" altLang="en-US"/>
              <a:t> voor deze opdracht          . De 2D Lijntekening wordt toch herschaald voor ze op de Image wordt getekend.</a:t>
            </a:r>
          </a:p>
          <a:p>
            <a:pPr lvl="2">
              <a:buFont typeface="Times New Roman" panose="02020603050405020304" pitchFamily="18" charset="0"/>
              <a:buNone/>
            </a:pPr>
            <a:endParaRPr lang="nl-BE" altLang="en-US"/>
          </a:p>
          <a:p>
            <a:pPr lvl="2">
              <a:buFont typeface="Times New Roman" panose="02020603050405020304" pitchFamily="18" charset="0"/>
              <a:buNone/>
            </a:pPr>
            <a:endParaRPr lang="nl-BE" altLang="en-US"/>
          </a:p>
          <a:p>
            <a:pPr lvl="1"/>
            <a:endParaRPr lang="nl-BE" altLang="en-US"/>
          </a:p>
          <a:p>
            <a:pPr lvl="1"/>
            <a:endParaRPr lang="nl-B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11CDE5-F24D-E242-9027-5B5D9E402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50180" name="Slide Number Placeholder 4">
            <a:extLst>
              <a:ext uri="{FF2B5EF4-FFF2-40B4-BE49-F238E27FC236}">
                <a16:creationId xmlns:a16="http://schemas.microsoft.com/office/drawing/2014/main" id="{B45FD5A7-1327-9623-201A-8A8C9985B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8555C19B-6507-6841-987C-2E6508FDAA6F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33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6E216549-0F2F-9135-B44C-1A4462F75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50182" name="Picture 1">
            <a:extLst>
              <a:ext uri="{FF2B5EF4-FFF2-40B4-BE49-F238E27FC236}">
                <a16:creationId xmlns:a16="http://schemas.microsoft.com/office/drawing/2014/main" id="{2EBFE81D-1245-2FFB-8D80-F35C77C19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763" y="2987675"/>
            <a:ext cx="1038225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3" name="Rectangle 3">
            <a:extLst>
              <a:ext uri="{FF2B5EF4-FFF2-40B4-BE49-F238E27FC236}">
                <a16:creationId xmlns:a16="http://schemas.microsoft.com/office/drawing/2014/main" id="{4280B095-8F42-A87F-636B-C3C607FE5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954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50184" name="Rectangle 5">
            <a:extLst>
              <a:ext uri="{FF2B5EF4-FFF2-40B4-BE49-F238E27FC236}">
                <a16:creationId xmlns:a16="http://schemas.microsoft.com/office/drawing/2014/main" id="{109B46A0-8569-77BD-D593-AA97413D2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pic>
        <p:nvPicPr>
          <p:cNvPr id="50185" name="Picture 4">
            <a:extLst>
              <a:ext uri="{FF2B5EF4-FFF2-40B4-BE49-F238E27FC236}">
                <a16:creationId xmlns:a16="http://schemas.microsoft.com/office/drawing/2014/main" id="{C3E6C356-448C-E190-EBB0-0CC45E605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0" y="4500563"/>
            <a:ext cx="6286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6" name="Rectangle 6">
            <a:extLst>
              <a:ext uri="{FF2B5EF4-FFF2-40B4-BE49-F238E27FC236}">
                <a16:creationId xmlns:a16="http://schemas.microsoft.com/office/drawing/2014/main" id="{688D58ED-A77A-13D2-4E69-204B9F2B4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01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C29481AE-AF38-B217-7691-1E3C5EFE73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3D Lijntekeningen</a:t>
            </a:r>
          </a:p>
        </p:txBody>
      </p:sp>
      <p:sp>
        <p:nvSpPr>
          <p:cNvPr id="51202" name="Content Placeholder 2">
            <a:extLst>
              <a:ext uri="{FF2B5EF4-FFF2-40B4-BE49-F238E27FC236}">
                <a16:creationId xmlns:a16="http://schemas.microsoft.com/office/drawing/2014/main" id="{90EAEA38-BC3A-D736-55A3-BBFF9A9829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Tips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Zorg éérst dat de eye-point transformatie en de perspectiefprojectie naar behoren werken. 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Zorg daarna dat je engine in staat is om lijntekeningen uit te lezen en weer te geven.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Eens dat allemaal in orde is, kun je aan het implementeren van de transformaties beginnen</a:t>
            </a:r>
          </a:p>
          <a:p>
            <a:pPr lvl="1"/>
            <a:endParaRPr lang="nl-BE" altLang="en-US"/>
          </a:p>
          <a:p>
            <a:pPr lvl="1"/>
            <a:endParaRPr lang="nl-B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9E2B25-73E6-0B48-AF4D-3B50E4AE3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Practicum Computer Graphics: 3D-Lijntekeningen</a:t>
            </a:r>
            <a:endParaRPr lang="en-GB" dirty="0"/>
          </a:p>
        </p:txBody>
      </p:sp>
      <p:sp>
        <p:nvSpPr>
          <p:cNvPr id="51204" name="Slide Number Placeholder 4">
            <a:extLst>
              <a:ext uri="{FF2B5EF4-FFF2-40B4-BE49-F238E27FC236}">
                <a16:creationId xmlns:a16="http://schemas.microsoft.com/office/drawing/2014/main" id="{2CA2F71D-7D7A-0ABE-33A4-9C3D00ECD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DAC64333-B907-8E49-9BB5-7E6DFD09E595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34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FreeSans"/>
        <a:ea typeface="WenQuanYi Zen Hei"/>
        <a:cs typeface="WenQuanYi Zen Hei"/>
      </a:majorFont>
      <a:minorFont>
        <a:latin typeface="FreeSans"/>
        <a:ea typeface="WenQuanYi Zen Hei"/>
        <a:cs typeface="WenQuanYi Zen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Verdana"/>
        <a:ea typeface=""/>
        <a:cs typeface="DejaVu Sans"/>
      </a:majorFont>
      <a:minorFont>
        <a:latin typeface="Verdana"/>
        <a:ea typeface="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3686</TotalTime>
  <Words>2659</Words>
  <Application>Microsoft Macintosh PowerPoint</Application>
  <PresentationFormat>Custom</PresentationFormat>
  <Paragraphs>513</Paragraphs>
  <Slides>34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Arial</vt:lpstr>
      <vt:lpstr>ＭＳ Ｐゴシック</vt:lpstr>
      <vt:lpstr>WenQuanYi Zen Hei</vt:lpstr>
      <vt:lpstr>FreeSans</vt:lpstr>
      <vt:lpstr>Times New Roman</vt:lpstr>
      <vt:lpstr>Verdana</vt:lpstr>
      <vt:lpstr>DejaVu Sans</vt:lpstr>
      <vt:lpstr>Wingdings</vt:lpstr>
      <vt:lpstr>Courier New</vt:lpstr>
      <vt:lpstr>Symbol</vt:lpstr>
      <vt:lpstr>Office Theme</vt:lpstr>
      <vt:lpstr>1_Office Theme</vt:lpstr>
      <vt:lpstr>Opdracht 3D-Lijntekeningen</vt:lpstr>
      <vt:lpstr>3D-Lijntekeningen</vt:lpstr>
      <vt:lpstr>Voorstelling van Punten &amp; Vectoren </vt:lpstr>
      <vt:lpstr>Voorstelling van Punten &amp; Vectoren</vt:lpstr>
      <vt:lpstr>Voorstelling van Punten &amp; Vectoren</vt:lpstr>
      <vt:lpstr>Voorstelling van Punten &amp; Vectoren</vt:lpstr>
      <vt:lpstr>Voorstelling van Punten &amp; Vectoren</vt:lpstr>
      <vt:lpstr>Voorstellingen van Punten &amp; Vectoren</vt:lpstr>
      <vt:lpstr>Matrix &amp; Vector Library</vt:lpstr>
      <vt:lpstr>Matrix &amp; Vector Library</vt:lpstr>
      <vt:lpstr>Matrix &amp; Vector Library</vt:lpstr>
      <vt:lpstr>Matrix &amp; Vector Library</vt:lpstr>
      <vt:lpstr>Matrix &amp; Vector Library</vt:lpstr>
      <vt:lpstr>Matrix &amp; Vector Library</vt:lpstr>
      <vt:lpstr>Opdracht 3D Lijntekeningen</vt:lpstr>
      <vt:lpstr>3D-Lijntekeningen</vt:lpstr>
      <vt:lpstr>Datastructuur</vt:lpstr>
      <vt:lpstr>Datastructuur</vt:lpstr>
      <vt:lpstr>Transformaties</vt:lpstr>
      <vt:lpstr>Transformaties</vt:lpstr>
      <vt:lpstr>Transformaties</vt:lpstr>
      <vt:lpstr>Transformaties</vt:lpstr>
      <vt:lpstr>Transformaties</vt:lpstr>
      <vt:lpstr>Transformaties</vt:lpstr>
      <vt:lpstr>Transformaties</vt:lpstr>
      <vt:lpstr>Transformaties</vt:lpstr>
      <vt:lpstr>Eye-point transformatie</vt:lpstr>
      <vt:lpstr>Eye-point transformatie</vt:lpstr>
      <vt:lpstr>Eye-point transformatie</vt:lpstr>
      <vt:lpstr>Eye-point transformatie</vt:lpstr>
      <vt:lpstr>Eye-point transformatie</vt:lpstr>
      <vt:lpstr>Perspectiefprojectie</vt:lpstr>
      <vt:lpstr>Perspectiefprojectie</vt:lpstr>
      <vt:lpstr>3D Lijntekeningen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</dc:title>
  <dc:creator/>
  <cp:lastModifiedBy>Tim Apers</cp:lastModifiedBy>
  <cp:revision>293</cp:revision>
  <cp:lastPrinted>1601-01-01T00:00:00Z</cp:lastPrinted>
  <dcterms:created xsi:type="dcterms:W3CDTF">2011-10-06T12:04:05Z</dcterms:created>
  <dcterms:modified xsi:type="dcterms:W3CDTF">2026-03-06T12:24:21Z</dcterms:modified>
</cp:coreProperties>
</file>