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50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7" r:id="rId8"/>
  </p:sldIdLst>
  <p:sldSz cx="10080625" cy="7559675"/>
  <p:notesSz cx="7772400" cy="10058400"/>
  <p:defaultTextStyle>
    <a:defPPr>
      <a:defRPr lang="en-GB"/>
    </a:defPPr>
    <a:lvl1pPr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742950" indent="-28575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1430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6002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20574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3F0043-0D31-A825-3C1E-A5F417910D7D}" v="458" dt="2020-03-31T08:29:02.838"/>
    <p1510:client id="{A43899BA-76FC-4128-A701-05441FCB8DCE}" v="58" dt="2020-03-31T09:10:03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09" d="100"/>
          <a:sy n="109" d="100"/>
        </p:scale>
        <p:origin x="1944" y="18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AutoShape 1">
            <a:extLst>
              <a:ext uri="{FF2B5EF4-FFF2-40B4-BE49-F238E27FC236}">
                <a16:creationId xmlns:a16="http://schemas.microsoft.com/office/drawing/2014/main" id="{310DEC75-17A0-4BE5-97AE-FFC5C8F0A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4098" name="AutoShape 2">
            <a:extLst>
              <a:ext uri="{FF2B5EF4-FFF2-40B4-BE49-F238E27FC236}">
                <a16:creationId xmlns:a16="http://schemas.microsoft.com/office/drawing/2014/main" id="{24F8D213-C2CA-4B07-A13B-2B285A75A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4099" name="AutoShape 3">
            <a:extLst>
              <a:ext uri="{FF2B5EF4-FFF2-40B4-BE49-F238E27FC236}">
                <a16:creationId xmlns:a16="http://schemas.microsoft.com/office/drawing/2014/main" id="{512B6FA7-4C12-428E-A896-81DB7134F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4100" name="AutoShape 4">
            <a:extLst>
              <a:ext uri="{FF2B5EF4-FFF2-40B4-BE49-F238E27FC236}">
                <a16:creationId xmlns:a16="http://schemas.microsoft.com/office/drawing/2014/main" id="{7B79381E-CC9B-4D1F-A349-BDE1AC8CC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4101" name="Text Box 5">
            <a:extLst>
              <a:ext uri="{FF2B5EF4-FFF2-40B4-BE49-F238E27FC236}">
                <a16:creationId xmlns:a16="http://schemas.microsoft.com/office/drawing/2014/main" id="{0E5AC1CE-38D5-4448-A8CF-D3A9D761F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3368675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4102" name="Text Box 6">
            <a:extLst>
              <a:ext uri="{FF2B5EF4-FFF2-40B4-BE49-F238E27FC236}">
                <a16:creationId xmlns:a16="http://schemas.microsoft.com/office/drawing/2014/main" id="{9D6C7CEA-13AE-41FD-A1C9-41EEEA290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0"/>
            <a:ext cx="3368675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DC53A99F-5AB3-48AD-B6C3-7463016E9C2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295400" y="754063"/>
            <a:ext cx="5175250" cy="376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FE642B9-63E8-4643-9792-6E50801E006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1036638" y="4776788"/>
            <a:ext cx="5692775" cy="4519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nl-NL" altLang="nl-NL"/>
          </a:p>
        </p:txBody>
      </p:sp>
      <p:sp>
        <p:nvSpPr>
          <p:cNvPr id="4105" name="Text Box 9">
            <a:extLst>
              <a:ext uri="{FF2B5EF4-FFF2-40B4-BE49-F238E27FC236}">
                <a16:creationId xmlns:a16="http://schemas.microsoft.com/office/drawing/2014/main" id="{FA906CAB-0B4A-4B65-933A-02EF74682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555163"/>
            <a:ext cx="3368675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4106" name="Rectangle 10">
            <a:extLst>
              <a:ext uri="{FF2B5EF4-FFF2-40B4-BE49-F238E27FC236}">
                <a16:creationId xmlns:a16="http://schemas.microsoft.com/office/drawing/2014/main" id="{EBEB3609-86F0-43A7-824E-C554AF9DE56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403725" y="9555163"/>
            <a:ext cx="336232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>
              <a:buClr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fld id="{47EFE0C1-9F75-4234-9DDD-59320D8A9182}" type="slidenum">
              <a:rPr lang="en-US" altLang="nl-NL"/>
              <a:pPr/>
              <a:t>‹#›</a:t>
            </a:fld>
            <a:endParaRPr lang="en-US" alt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>
            <a:extLst>
              <a:ext uri="{FF2B5EF4-FFF2-40B4-BE49-F238E27FC236}">
                <a16:creationId xmlns:a16="http://schemas.microsoft.com/office/drawing/2014/main" id="{965EFF96-732B-47E6-AF24-3B6DBA25D612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186272B-4841-4CE3-80C5-81AFF6FAE7A6}" type="slidenum">
              <a:rPr lang="en-US" altLang="nl-NL"/>
              <a:pPr/>
              <a:t>1</a:t>
            </a:fld>
            <a:endParaRPr lang="en-US" altLang="nl-NL"/>
          </a:p>
        </p:txBody>
      </p:sp>
      <p:sp>
        <p:nvSpPr>
          <p:cNvPr id="13313" name="Text Box 1">
            <a:extLst>
              <a:ext uri="{FF2B5EF4-FFF2-40B4-BE49-F238E27FC236}">
                <a16:creationId xmlns:a16="http://schemas.microsoft.com/office/drawing/2014/main" id="{57391BC5-CDA7-4F95-B794-A9A856257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9555163"/>
            <a:ext cx="3363913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buClrTx/>
              <a:buFontTx/>
              <a:buNone/>
            </a:pPr>
            <a:fld id="{A0341897-97BB-4E9D-A1C7-7123EA5505D1}" type="slidenum">
              <a:rPr lang="en-US" altLang="nl-NL" sz="12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 algn="r" eaLnBrk="1">
                <a:buClrTx/>
                <a:buFontTx/>
                <a:buNone/>
              </a:pPr>
              <a:t>1</a:t>
            </a:fld>
            <a:endParaRPr lang="en-US" altLang="nl-NL" sz="1200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3314" name="Text Box 2">
            <a:extLst>
              <a:ext uri="{FF2B5EF4-FFF2-40B4-BE49-F238E27FC236}">
                <a16:creationId xmlns:a16="http://schemas.microsoft.com/office/drawing/2014/main" id="{9C2D60D0-FD6B-4FE1-A828-D050F04DB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9555163"/>
            <a:ext cx="3367088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buClrTx/>
              <a:buFontTx/>
              <a:buNone/>
            </a:pPr>
            <a:fld id="{A66792DC-3D14-4A3F-B643-A66122A73F10}" type="slidenum">
              <a:rPr lang="en-US" altLang="nl-NL" sz="1200">
                <a:solidFill>
                  <a:srgbClr val="000000"/>
                </a:solidFill>
                <a:latin typeface="Times New Roman" panose="02020603050405020304" pitchFamily="18" charset="0"/>
                <a:cs typeface="WenQuanYi Zen Hei" charset="0"/>
              </a:rPr>
              <a:pPr algn="r" eaLnBrk="1">
                <a:buClrTx/>
                <a:buFontTx/>
                <a:buNone/>
              </a:pPr>
              <a:t>1</a:t>
            </a:fld>
            <a:endParaRPr lang="en-US" altLang="nl-NL" sz="1200">
              <a:solidFill>
                <a:srgbClr val="000000"/>
              </a:solidFill>
              <a:latin typeface="Times New Roman" panose="02020603050405020304" pitchFamily="18" charset="0"/>
              <a:cs typeface="WenQuanYi Zen Hei" charset="0"/>
            </a:endParaRPr>
          </a:p>
        </p:txBody>
      </p:sp>
      <p:sp>
        <p:nvSpPr>
          <p:cNvPr id="13315" name="Text Box 3">
            <a:extLst>
              <a:ext uri="{FF2B5EF4-FFF2-40B4-BE49-F238E27FC236}">
                <a16:creationId xmlns:a16="http://schemas.microsoft.com/office/drawing/2014/main" id="{2D326759-DF93-4478-B275-991245834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9555163"/>
            <a:ext cx="3368675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buClrTx/>
              <a:buFontTx/>
              <a:buNone/>
            </a:pPr>
            <a:fld id="{D489A80E-8449-49AC-B224-8878E94965EA}" type="slidenum">
              <a:rPr lang="en-US" altLang="nl-NL" sz="1200">
                <a:solidFill>
                  <a:srgbClr val="000000"/>
                </a:solidFill>
                <a:cs typeface="WenQuanYi Zen Hei" charset="0"/>
              </a:rPr>
              <a:pPr algn="r" eaLnBrk="1">
                <a:buClrTx/>
                <a:buFontTx/>
                <a:buNone/>
              </a:pPr>
              <a:t>1</a:t>
            </a:fld>
            <a:endParaRPr lang="en-US" altLang="nl-NL" sz="1200">
              <a:solidFill>
                <a:srgbClr val="000000"/>
              </a:solidFill>
              <a:cs typeface="WenQuanYi Zen Hei" charset="0"/>
            </a:endParaRP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BA8A3246-E898-4028-857C-A2BEA71368E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371600" y="754063"/>
            <a:ext cx="5029200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37A00171-4B09-40D7-AF00-4B662398225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36638" y="4776788"/>
            <a:ext cx="5699125" cy="45275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 altLang="nl-N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A18148D0-B3D5-4BB0-8DA5-96DF1C275F0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E2BA319-A17C-45EF-845D-DF11F185A41B}" type="slidenum">
              <a:rPr lang="en-US" altLang="nl-NL"/>
              <a:pPr/>
              <a:t>2</a:t>
            </a:fld>
            <a:endParaRPr lang="en-US" altLang="nl-NL"/>
          </a:p>
        </p:txBody>
      </p:sp>
      <p:sp>
        <p:nvSpPr>
          <p:cNvPr id="14337" name="Text Box 1">
            <a:extLst>
              <a:ext uri="{FF2B5EF4-FFF2-40B4-BE49-F238E27FC236}">
                <a16:creationId xmlns:a16="http://schemas.microsoft.com/office/drawing/2014/main" id="{35840554-1EE5-44A7-9A61-39FDA05FF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9555163"/>
            <a:ext cx="3363913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buClrTx/>
              <a:buFontTx/>
              <a:buNone/>
            </a:pPr>
            <a:fld id="{F75DA772-06F4-4A9F-8FA7-021A6A5574C6}" type="slidenum">
              <a:rPr lang="en-US" altLang="nl-NL" sz="12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 algn="r" eaLnBrk="1">
                <a:buClrTx/>
                <a:buFontTx/>
                <a:buNone/>
              </a:pPr>
              <a:t>2</a:t>
            </a:fld>
            <a:endParaRPr lang="en-US" altLang="nl-NL" sz="1200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023AD0A2-86BF-451C-B3C2-F25234F2A0E8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371600" y="754063"/>
            <a:ext cx="5027613" cy="37703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A33A8FE-18AF-4D56-BE4D-A6AD2925CAD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36638" y="4776788"/>
            <a:ext cx="5697537" cy="45243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 altLang="nl-N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3CC6A4DA-5569-4AF0-95A7-C5ED5498F39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E2A5E25-AEE4-4AAA-AE76-2ECBB7C839E1}" type="slidenum">
              <a:rPr lang="en-US" altLang="nl-NL"/>
              <a:pPr/>
              <a:t>3</a:t>
            </a:fld>
            <a:endParaRPr lang="en-US" altLang="nl-NL"/>
          </a:p>
        </p:txBody>
      </p:sp>
      <p:sp>
        <p:nvSpPr>
          <p:cNvPr id="15361" name="Text Box 1">
            <a:extLst>
              <a:ext uri="{FF2B5EF4-FFF2-40B4-BE49-F238E27FC236}">
                <a16:creationId xmlns:a16="http://schemas.microsoft.com/office/drawing/2014/main" id="{EA49195F-7692-4E3C-B859-438EFDAC1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9555163"/>
            <a:ext cx="3363913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buClrTx/>
              <a:buFontTx/>
              <a:buNone/>
            </a:pPr>
            <a:fld id="{D6B45F4E-ED89-4DE6-953B-EF91482C5F3C}" type="slidenum">
              <a:rPr lang="en-US" altLang="nl-NL" sz="12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 algn="r" eaLnBrk="1">
                <a:buClrTx/>
                <a:buFontTx/>
                <a:buNone/>
              </a:pPr>
              <a:t>3</a:t>
            </a:fld>
            <a:endParaRPr lang="en-US" altLang="nl-NL" sz="1200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6CEE912F-CA72-4EE7-9457-A83559F00D57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371600" y="754063"/>
            <a:ext cx="5027613" cy="37703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AA2CC6EA-9932-4CC3-BC29-0C546E5C990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36638" y="4776788"/>
            <a:ext cx="5697537" cy="45243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 altLang="nl-N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496BC6CF-2F3D-40E2-B93B-DE820B161AC2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5FCC9F9-BD79-4E1C-A454-3AA882A738BE}" type="slidenum">
              <a:rPr lang="en-US" altLang="nl-NL"/>
              <a:pPr/>
              <a:t>4</a:t>
            </a:fld>
            <a:endParaRPr lang="en-US" altLang="nl-NL"/>
          </a:p>
        </p:txBody>
      </p:sp>
      <p:sp>
        <p:nvSpPr>
          <p:cNvPr id="16385" name="Text Box 1">
            <a:extLst>
              <a:ext uri="{FF2B5EF4-FFF2-40B4-BE49-F238E27FC236}">
                <a16:creationId xmlns:a16="http://schemas.microsoft.com/office/drawing/2014/main" id="{E1689541-F76D-4B3A-BDE2-DF285D65F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9555163"/>
            <a:ext cx="3363913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buClrTx/>
              <a:buFontTx/>
              <a:buNone/>
            </a:pPr>
            <a:fld id="{FE1A5D51-7CA3-4C5F-9A72-B1D606B426C0}" type="slidenum">
              <a:rPr lang="en-US" altLang="nl-NL" sz="12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 algn="r" eaLnBrk="1">
                <a:buClrTx/>
                <a:buFontTx/>
                <a:buNone/>
              </a:pPr>
              <a:t>4</a:t>
            </a:fld>
            <a:endParaRPr lang="en-US" altLang="nl-NL" sz="1200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15134268-0DC9-4623-86E2-5ECE5FC00DC9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371600" y="754063"/>
            <a:ext cx="5027613" cy="37703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6CA3A86-7488-478D-9CEE-46C8AB39995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36638" y="4776788"/>
            <a:ext cx="5697537" cy="45243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 altLang="nl-N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37051E4C-0507-457A-8638-707EE0B0BC5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FB31A09-825D-43D4-A285-685FF75FD285}" type="slidenum">
              <a:rPr lang="en-US" altLang="nl-NL"/>
              <a:pPr/>
              <a:t>5</a:t>
            </a:fld>
            <a:endParaRPr lang="en-US" altLang="nl-NL"/>
          </a:p>
        </p:txBody>
      </p:sp>
      <p:sp>
        <p:nvSpPr>
          <p:cNvPr id="17409" name="Text Box 1">
            <a:extLst>
              <a:ext uri="{FF2B5EF4-FFF2-40B4-BE49-F238E27FC236}">
                <a16:creationId xmlns:a16="http://schemas.microsoft.com/office/drawing/2014/main" id="{8CD58EE2-0453-4BA1-9EF7-8ADD54FB8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9555163"/>
            <a:ext cx="3363913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buClrTx/>
              <a:buFontTx/>
              <a:buNone/>
            </a:pPr>
            <a:fld id="{E1E9DD14-BEC9-4A9C-A806-BC3C8ADDA8CB}" type="slidenum">
              <a:rPr lang="en-US" altLang="nl-NL" sz="12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 algn="r" eaLnBrk="1">
                <a:buClrTx/>
                <a:buFontTx/>
                <a:buNone/>
              </a:pPr>
              <a:t>5</a:t>
            </a:fld>
            <a:endParaRPr lang="en-US" altLang="nl-NL" sz="1200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90AAC56B-7C8B-40A0-82F8-786B20FCC86F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371600" y="754063"/>
            <a:ext cx="5027613" cy="37703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BAEF301-2518-46AF-8C26-349348EBF75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36638" y="4776788"/>
            <a:ext cx="5697537" cy="45243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 altLang="nl-N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B646C8-9EAD-4CAA-B56F-381DC2906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95FA6DA-6ABA-4EFE-BCE0-4C0265084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994771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FA021A-12B9-401E-9306-EA2E32B6B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713B6C5-D2B5-4AAB-B905-E5683076A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902629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EC5C86-1042-4BEE-B3AD-02730A1B3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83F9D54-DC42-4974-BB3D-1BDAB8749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730057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58705F-DEB0-45EE-AB19-63CC38150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957ECE4-21E2-46B6-8128-0A5AB1BCB6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8500" y="1181100"/>
            <a:ext cx="4259263" cy="498316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71CA4A4-69CC-4BAB-BAB8-A24625A73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0163" y="1181100"/>
            <a:ext cx="4259262" cy="498316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8235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A6DBFD-A0F7-427F-8636-4B92138D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E98C5AD-D289-4C60-B544-BF356485B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06C2CA0-0305-42FA-9E9F-7A1C48341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A725816E-7026-44EA-B2CD-3DFF82C09A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1619746-13E6-413F-BBB7-5158D56DCB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715341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34806E-FEA5-4FEA-8E01-BC51787CD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38220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9686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863EAE-B7E0-4DB2-8E32-D640677D0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FEDE1F2-8CDA-4185-A753-3B8AF579E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55204E7-4E40-42B9-8C78-87FE89D13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220821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94854A-2CDD-4DCC-B85F-63E6415F9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9794DC2E-57E1-4AD6-A019-2649A89519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7B1DD1F-932E-4992-A9EA-D6BF62B31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140603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F052A5-F1CF-4409-BD1E-10953F5DF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70478B19-7B69-4FF6-A93F-6BB5B6E18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193018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2BF088EB-D780-4515-B732-28B1498F3B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08838" y="76200"/>
            <a:ext cx="2170112" cy="6088063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09339FE-340A-488D-A9F3-296DDAE3C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8500" y="76200"/>
            <a:ext cx="6357938" cy="6088063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4157241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2E9473-139B-40E8-ADE4-C11FF885E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2B271E1-9F40-4C77-AABC-FEA22A5D7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3D35356-4436-4A27-8269-D2FDBCFFEADB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nl-NL"/>
              <a:t>Practicum Computer Graphics: 3D-Fractalen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4C24EEF-2423-4945-8DB6-6F47A1F3ABD4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93917CAA-6309-4330-8EA1-3B653947E0AD}" type="slidenum">
              <a:rPr lang="en-US" altLang="nl-NL"/>
              <a:pPr/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3292571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EAA3E0-FC8F-4282-A196-E795C70D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26B640A-17AE-4E3B-8087-DC8A8CDCF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10CF210-CE33-4FF6-913B-1B14ED9890D1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nl-NL"/>
              <a:t>Practicum Computer Graphics: 3D-Fractalen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5E6B23C-4520-4745-B301-551192443B0A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F3DB0993-F982-4810-BC21-B442D28D1485}" type="slidenum">
              <a:rPr lang="en-US" altLang="nl-NL"/>
              <a:pPr/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3523390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6F19C-7EE9-4D2E-B2D3-E59BBEBC5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4FFF1D1-7A94-44C0-8EC4-7EC08E544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200F40C-2FB5-40A1-B286-EEE17679BB02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nl-NL"/>
              <a:t>Practicum Computer Graphics: 3D-Fractalen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30BCE07-E33A-4142-9C17-C5DABF16585F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30B4E98D-CF4E-40B8-9369-A20C954EE4A4}" type="slidenum">
              <a:rPr lang="en-US" altLang="nl-NL"/>
              <a:pPr/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344970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BDC4E0-7685-47C7-A6EC-6E1284FE6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E056F5B-FCD0-4C28-AC87-9DA07AA258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260475"/>
            <a:ext cx="4438650" cy="498316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90153B7-7404-43AB-A1BE-3B538A8AFB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4288" y="1260475"/>
            <a:ext cx="4438650" cy="498316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FBF368B-E295-48E7-9B8F-B56CB30CEBCF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nl-NL"/>
              <a:t>Practicum Computer Graphics: 3D-Fractalen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CCFED29-35E9-4C80-84F3-06511C499721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400B16CE-2031-45C3-87FE-5931882A4634}" type="slidenum">
              <a:rPr lang="en-US" altLang="nl-NL"/>
              <a:pPr/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2841945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B9704C-FD6F-4FCA-9546-9C2F7B143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3FF04AA-2294-487C-83E7-342C3B91C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5533C53-F2D5-4AEF-8BC7-6E95DA856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E03C34E-4A30-4DEB-8F0E-6388A068D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41B9BA0F-DD24-40D4-82F4-5FC69280C6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423C5D1B-DCC4-40B4-BDED-75C3C2B35FB5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nl-NL"/>
              <a:t>Practicum Computer Graphics: 3D-Fractalen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3A7162B7-6619-4C6C-BDEE-327B3FF4E172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4E6B93C4-F200-49DE-B164-E913F6386E85}" type="slidenum">
              <a:rPr lang="en-US" altLang="nl-NL"/>
              <a:pPr/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40852055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76AE4-87CE-4170-9382-01DC1A7E2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DAD80357-F439-4C1B-B5BB-1BD39E71C606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nl-NL"/>
              <a:t>Practicum Computer Graphics: 3D-Fractalen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1C992DA-A933-4000-A0D7-BF90ADC4EC8E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91DE92FB-1374-4546-BE6B-D4DC2D2A01A9}" type="slidenum">
              <a:rPr lang="en-US" altLang="nl-NL"/>
              <a:pPr/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31813761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D206757-019F-4CDA-B663-B8D2EF419451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nl-NL"/>
              <a:t>Practicum Computer Graphics: 3D-Fractalen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596E60B-7104-494C-80CF-6DFC48696A44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80F6FC2B-4DDA-482A-B743-727A8A5BA439}" type="slidenum">
              <a:rPr lang="en-US" altLang="nl-NL"/>
              <a:pPr/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8200450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E52B97-1A6B-4309-B584-59C3651AE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666ADA1-D21E-4515-B93F-CC0595E89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94450AF-4FF0-45FF-93FE-D71AAAC2D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1196BB-F5D8-4E7F-A9EC-4B2144457A83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nl-NL"/>
              <a:t>Practicum Computer Graphics: 3D-Fractalen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3F3B2BE-A78D-432B-90B7-0AA04C03AC35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0AA08057-B5F3-4496-8C9F-141F98DADA19}" type="slidenum">
              <a:rPr lang="en-US" altLang="nl-NL"/>
              <a:pPr/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23203811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19A668-62C8-4522-9D54-03B81EFF7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DA905052-841C-47E3-93BE-1B4EC340C5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9B38A9B-F6B7-4E0E-AABD-84C1FA392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15B1FC7-BD38-4282-89A4-85AE6BFD8A39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nl-NL"/>
              <a:t>Practicum Computer Graphics: 3D-Fractalen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2D90B65-44D7-42CD-8EBE-A908C09B6B95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74DA5859-2E15-4533-9AC6-C35DD08DA17B}" type="slidenum">
              <a:rPr lang="en-US" altLang="nl-NL"/>
              <a:pPr/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21391966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465456-5B43-4BFA-9405-63A375727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711CF34B-EEF7-40C8-83F8-69287BB8E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91F3F73-C6C2-4006-A4FE-CDD658E1AB1E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nl-NL"/>
              <a:t>Practicum Computer Graphics: 3D-Fractalen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C18B598-106B-4ED8-BD97-2A835F2F0694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E797055A-07EE-4138-B4EB-DF50A6AB2C7C}" type="slidenum">
              <a:rPr lang="en-US" altLang="nl-NL"/>
              <a:pPr/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4645033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BCA3A2C9-8EDD-495E-9F20-DF2F7875E8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77100" y="179388"/>
            <a:ext cx="2257425" cy="6064250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30CCC9C-F405-4285-8599-B8559A1E8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179388"/>
            <a:ext cx="6621462" cy="606425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93A271A-BF1B-4627-A5AD-78BF4B6F097E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nl-NL"/>
              <a:t>Practicum Computer Graphics: 3D-Fractalen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537C361-FB10-40E3-AE9C-5F3E051AD438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03D5377B-CCC6-4212-AB8E-1D0AEF861D21}" type="slidenum">
              <a:rPr lang="en-US" altLang="nl-NL"/>
              <a:pPr/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371316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>
            <a:extLst>
              <a:ext uri="{FF2B5EF4-FFF2-40B4-BE49-F238E27FC236}">
                <a16:creationId xmlns:a16="http://schemas.microsoft.com/office/drawing/2014/main" id="{88593561-F764-4F77-8E1B-ADF13A745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13" y="6929438"/>
            <a:ext cx="9166225" cy="630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C5B67D6D-4CFC-4FE9-B377-21F89415EE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54175" y="76200"/>
            <a:ext cx="7724775" cy="1169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nl-NL"/>
              <a:t>Click to edit the title text format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9DBBAE9-D91B-4F44-AC2E-09D07A75DA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98500" y="1181100"/>
            <a:ext cx="8670925" cy="498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nl-NL"/>
              <a:t>Click to edit the outline text format</a:t>
            </a:r>
          </a:p>
          <a:p>
            <a:pPr lvl="1"/>
            <a:r>
              <a:rPr lang="en-GB" altLang="nl-NL"/>
              <a:t>Second Outline Level</a:t>
            </a:r>
          </a:p>
          <a:p>
            <a:pPr lvl="2"/>
            <a:r>
              <a:rPr lang="en-GB" altLang="nl-NL"/>
              <a:t>Third Outline Level</a:t>
            </a:r>
          </a:p>
          <a:p>
            <a:pPr lvl="3"/>
            <a:r>
              <a:rPr lang="en-GB" altLang="nl-NL"/>
              <a:t>Fourth Outline Level</a:t>
            </a:r>
          </a:p>
          <a:p>
            <a:pPr lvl="4"/>
            <a:r>
              <a:rPr lang="en-GB" altLang="nl-NL"/>
              <a:t>Fifth Outline Level</a:t>
            </a:r>
          </a:p>
          <a:p>
            <a:pPr lvl="4"/>
            <a:r>
              <a:rPr lang="en-GB" altLang="nl-NL"/>
              <a:t>Sixth Outline Level</a:t>
            </a:r>
          </a:p>
          <a:p>
            <a:pPr lvl="4"/>
            <a:r>
              <a:rPr lang="en-GB" altLang="nl-NL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 kern="1200">
          <a:solidFill>
            <a:srgbClr val="003D62"/>
          </a:solidFill>
          <a:latin typeface="+mj-lt"/>
          <a:ea typeface="+mj-ea"/>
          <a:cs typeface="+mj-cs"/>
        </a:defRPr>
      </a:lvl1pPr>
      <a:lvl2pPr marL="742950" indent="-28575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anose="020B0604030504040204" pitchFamily="34" charset="0"/>
          <a:ea typeface="ＭＳ Ｐゴシック" panose="020B0600070205080204" pitchFamily="34" charset="-128"/>
        </a:defRPr>
      </a:lvl2pPr>
      <a:lvl3pPr marL="1143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anose="020B0604030504040204" pitchFamily="34" charset="0"/>
          <a:ea typeface="ＭＳ Ｐゴシック" panose="020B0600070205080204" pitchFamily="34" charset="-128"/>
        </a:defRPr>
      </a:lvl3pPr>
      <a:lvl4pPr marL="1600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anose="020B0604030504040204" pitchFamily="34" charset="0"/>
          <a:ea typeface="ＭＳ Ｐゴシック" panose="020B0600070205080204" pitchFamily="34" charset="-128"/>
        </a:defRPr>
      </a:lvl4pPr>
      <a:lvl5pPr marL="20574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anose="020B0604030504040204" pitchFamily="34" charset="0"/>
          <a:ea typeface="ＭＳ Ｐゴシック" panose="020B0600070205080204" pitchFamily="34" charset="-128"/>
        </a:defRPr>
      </a:lvl5pPr>
      <a:lvl6pPr marL="25146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anose="020B0604030504040204" pitchFamily="34" charset="0"/>
          <a:ea typeface="ＭＳ Ｐゴシック" panose="020B0600070205080204" pitchFamily="34" charset="-128"/>
        </a:defRPr>
      </a:lvl6pPr>
      <a:lvl7pPr marL="29718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anose="020B0604030504040204" pitchFamily="34" charset="0"/>
          <a:ea typeface="ＭＳ Ｐゴシック" panose="020B0600070205080204" pitchFamily="34" charset="-128"/>
        </a:defRPr>
      </a:lvl7pPr>
      <a:lvl8pPr marL="3429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anose="020B0604030504040204" pitchFamily="34" charset="0"/>
          <a:ea typeface="ＭＳ Ｐゴシック" panose="020B0600070205080204" pitchFamily="34" charset="-128"/>
        </a:defRPr>
      </a:lvl8pPr>
      <a:lvl9pPr marL="3886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anose="020B0604030504040204" pitchFamily="34" charset="0"/>
          <a:ea typeface="ＭＳ Ｐゴシック" panose="020B0600070205080204" pitchFamily="34" charset="-128"/>
        </a:defRPr>
      </a:lvl9pPr>
    </p:titleStyle>
    <p:bodyStyle>
      <a:lvl1pPr marL="342900" indent="-342900" algn="l" defTabSz="457200" rtl="0" eaLnBrk="0" fontAlgn="base" hangingPunct="0">
        <a:spcBef>
          <a:spcPts val="68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3D62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613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3D62"/>
          </a:solidFill>
          <a:latin typeface="+mn-lt"/>
          <a:ea typeface="+mn-ea"/>
          <a:cs typeface="DejaVu Sans" charset="0"/>
        </a:defRPr>
      </a:lvl2pPr>
      <a:lvl3pPr marL="1143000" indent="-228600" algn="l" defTabSz="457200" rtl="0" eaLnBrk="0" fontAlgn="base" hangingPunct="0">
        <a:spcBef>
          <a:spcPts val="663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700" kern="1200">
          <a:solidFill>
            <a:srgbClr val="003D62"/>
          </a:solidFill>
          <a:latin typeface="+mn-lt"/>
          <a:ea typeface="+mn-ea"/>
          <a:cs typeface="DejaVu Sans" charset="0"/>
        </a:defRPr>
      </a:lvl3pPr>
      <a:lvl4pPr marL="1600200" indent="-228600" algn="l" defTabSz="457200" rtl="0" eaLnBrk="0" fontAlgn="base" hangingPunct="0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3D62"/>
          </a:solidFill>
          <a:latin typeface="+mn-lt"/>
          <a:ea typeface="+mn-ea"/>
          <a:cs typeface="DejaVu Sans" charset="0"/>
        </a:defRPr>
      </a:lvl4pPr>
      <a:lvl5pPr marL="2057400" indent="-228600" algn="l" defTabSz="457200" rtl="0" eaLnBrk="0" fontAlgn="base" hangingPunct="0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3D62"/>
          </a:solidFill>
          <a:latin typeface="+mn-lt"/>
          <a:ea typeface="+mn-ea"/>
          <a:cs typeface="DejaVu San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>
            <a:extLst>
              <a:ext uri="{FF2B5EF4-FFF2-40B4-BE49-F238E27FC236}">
                <a16:creationId xmlns:a16="http://schemas.microsoft.com/office/drawing/2014/main" id="{98F070F0-CA1D-4081-AD44-2605C66DA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40538"/>
            <a:ext cx="10080625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DAA6EDC2-DBD4-4690-AD99-2EBE12BB1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0350"/>
            <a:ext cx="892175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C243A6EE-1771-4D6C-BD80-97D5AC418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2300" y="4843463"/>
            <a:ext cx="1322388" cy="1322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76" name="Rectangle 4">
            <a:extLst>
              <a:ext uri="{FF2B5EF4-FFF2-40B4-BE49-F238E27FC236}">
                <a16:creationId xmlns:a16="http://schemas.microsoft.com/office/drawing/2014/main" id="{FAFFEF6A-ED7B-4865-B7FA-C3A66B06C9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179388"/>
            <a:ext cx="8274050" cy="893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nl-NL"/>
              <a:t>Click to edit the title text format</a:t>
            </a: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45CB445D-84A3-49C4-B30E-AA212436CD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260475"/>
            <a:ext cx="9029700" cy="498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576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nl-NL"/>
              <a:t>Click to edit the outline text format</a:t>
            </a:r>
          </a:p>
          <a:p>
            <a:pPr lvl="1"/>
            <a:r>
              <a:rPr lang="en-GB" altLang="nl-NL"/>
              <a:t>Second Outline Level</a:t>
            </a:r>
          </a:p>
          <a:p>
            <a:pPr lvl="2"/>
            <a:r>
              <a:rPr lang="en-GB" altLang="nl-NL"/>
              <a:t>Third Outline Level</a:t>
            </a:r>
          </a:p>
          <a:p>
            <a:pPr lvl="3"/>
            <a:r>
              <a:rPr lang="en-GB" altLang="nl-NL"/>
              <a:t>Fourth Outline Level</a:t>
            </a:r>
          </a:p>
          <a:p>
            <a:pPr lvl="4"/>
            <a:r>
              <a:rPr lang="en-GB" altLang="nl-NL"/>
              <a:t>Fifth Outline Level</a:t>
            </a:r>
          </a:p>
          <a:p>
            <a:pPr lvl="4"/>
            <a:r>
              <a:rPr lang="en-GB" altLang="nl-NL"/>
              <a:t>Sixth Outline Level</a:t>
            </a:r>
          </a:p>
          <a:p>
            <a:pPr lvl="4"/>
            <a:r>
              <a:rPr lang="en-GB" altLang="nl-NL"/>
              <a:t>Seventh Outline Level</a:t>
            </a:r>
          </a:p>
        </p:txBody>
      </p:sp>
      <p:sp>
        <p:nvSpPr>
          <p:cNvPr id="3078" name="Text Box 6">
            <a:extLst>
              <a:ext uri="{FF2B5EF4-FFF2-40B4-BE49-F238E27FC236}">
                <a16:creationId xmlns:a16="http://schemas.microsoft.com/office/drawing/2014/main" id="{1554691B-7371-4FF1-A784-3EE8E6CBA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2038" y="7380288"/>
            <a:ext cx="2346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BB8116FD-3EE6-4178-BB97-D5C4340258FA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4319588" y="7199313"/>
            <a:ext cx="5216525" cy="354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lnSpc>
                <a:spcPct val="108000"/>
              </a:lnSpc>
              <a:buClr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 sz="1400" i="1">
                <a:solidFill>
                  <a:srgbClr val="FFFFFF"/>
                </a:solidFill>
                <a:latin typeface="+mn-lt"/>
                <a:cs typeface="WenQuanYi Zen Hei" charset="0"/>
              </a:defRPr>
            </a:lvl1pPr>
          </a:lstStyle>
          <a:p>
            <a:r>
              <a:rPr lang="en-US" altLang="nl-NL"/>
              <a:t>Practicum Computer Graphics: 3D-Fractalen</a:t>
            </a:r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F64B04A7-1153-48DA-A3DC-0C9C1276542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9720263" y="7199313"/>
            <a:ext cx="1063625" cy="354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108000"/>
              </a:lnSpc>
              <a:buClrTx/>
              <a:buFontTx/>
              <a:buNone/>
              <a:tabLst>
                <a:tab pos="457200" algn="l"/>
                <a:tab pos="914400" algn="l"/>
              </a:tabLst>
              <a:defRPr sz="1400">
                <a:solidFill>
                  <a:srgbClr val="FFFFFF"/>
                </a:solidFill>
                <a:latin typeface="+mn-lt"/>
                <a:cs typeface="DejaVu Sans" charset="0"/>
              </a:defRPr>
            </a:lvl1pPr>
          </a:lstStyle>
          <a:p>
            <a:fld id="{0D0D1568-A4BB-4524-9B25-F314E8AE1054}" type="slidenum">
              <a:rPr lang="en-US" altLang="nl-NL"/>
              <a:pPr/>
              <a:t>‹#›</a:t>
            </a:fld>
            <a:endParaRPr lang="en-US" alt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457200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 kern="1200">
          <a:solidFill>
            <a:srgbClr val="003D64"/>
          </a:solidFill>
          <a:latin typeface="+mj-lt"/>
          <a:ea typeface="+mj-ea"/>
          <a:cs typeface="+mj-cs"/>
        </a:defRPr>
      </a:lvl1pPr>
      <a:lvl2pPr marL="742950" indent="-285750" algn="l" defTabSz="457200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panose="020B0600070205080204" pitchFamily="34" charset="-128"/>
        </a:defRPr>
      </a:lvl2pPr>
      <a:lvl3pPr marL="1143000" indent="-228600" algn="l" defTabSz="457200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panose="020B0600070205080204" pitchFamily="34" charset="-128"/>
        </a:defRPr>
      </a:lvl3pPr>
      <a:lvl4pPr marL="1600200" indent="-228600" algn="l" defTabSz="457200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panose="020B0600070205080204" pitchFamily="34" charset="-128"/>
        </a:defRPr>
      </a:lvl4pPr>
      <a:lvl5pPr marL="2057400" indent="-228600" algn="l" defTabSz="457200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panose="020B0600070205080204" pitchFamily="34" charset="-128"/>
        </a:defRPr>
      </a:lvl5pPr>
      <a:lvl6pPr marL="2514600" indent="-228600" algn="l" defTabSz="457200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panose="020B0600070205080204" pitchFamily="34" charset="-128"/>
        </a:defRPr>
      </a:lvl6pPr>
      <a:lvl7pPr marL="2971800" indent="-228600" algn="l" defTabSz="457200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panose="020B0600070205080204" pitchFamily="34" charset="-128"/>
        </a:defRPr>
      </a:lvl7pPr>
      <a:lvl8pPr marL="3429000" indent="-228600" algn="l" defTabSz="457200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panose="020B0600070205080204" pitchFamily="34" charset="-128"/>
        </a:defRPr>
      </a:lvl8pPr>
      <a:lvl9pPr marL="3886200" indent="-228600" algn="l" defTabSz="457200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panose="020B0600070205080204" pitchFamily="34" charset="-128"/>
        </a:defRPr>
      </a:lvl9pPr>
    </p:titleStyle>
    <p:bodyStyle>
      <a:lvl1pPr marL="342900" indent="-342900" algn="l" defTabSz="457200" rtl="0" eaLnBrk="0" fontAlgn="base" hangingPunct="0">
        <a:lnSpc>
          <a:spcPct val="81000"/>
        </a:lnSpc>
        <a:spcBef>
          <a:spcPct val="0"/>
        </a:spcBef>
        <a:spcAft>
          <a:spcPts val="1413"/>
        </a:spcAft>
        <a:buClr>
          <a:srgbClr val="000000"/>
        </a:buClr>
        <a:buSzPct val="100000"/>
        <a:buFont typeface="Times New Roman" panose="02020603050405020304" pitchFamily="18" charset="0"/>
        <a:defRPr sz="2400" b="1" kern="1200">
          <a:solidFill>
            <a:srgbClr val="003D64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lnSpc>
          <a:spcPct val="81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anose="02020603050405020304" pitchFamily="18" charset="0"/>
        <a:defRPr sz="2200" kern="1200">
          <a:solidFill>
            <a:srgbClr val="003D64"/>
          </a:solidFill>
          <a:latin typeface="+mn-lt"/>
          <a:ea typeface="+mn-ea"/>
          <a:cs typeface="WenQuanYi Zen Hei" charset="0"/>
        </a:defRPr>
      </a:lvl2pPr>
      <a:lvl3pPr marL="1143000" indent="-228600" algn="l" defTabSz="457200" rtl="0" eaLnBrk="0" fontAlgn="base" hangingPunct="0">
        <a:lnSpc>
          <a:spcPct val="81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3D64"/>
          </a:solidFill>
          <a:latin typeface="+mn-lt"/>
          <a:ea typeface="+mn-ea"/>
          <a:cs typeface="WenQuanYi Zen Hei" charset="0"/>
        </a:defRPr>
      </a:lvl3pPr>
      <a:lvl4pPr marL="1600200" indent="-228600" algn="l" defTabSz="457200" rtl="0" eaLnBrk="0" fontAlgn="base" hangingPunct="0">
        <a:lnSpc>
          <a:spcPct val="81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3D64"/>
          </a:solidFill>
          <a:latin typeface="+mn-lt"/>
          <a:ea typeface="+mn-ea"/>
          <a:cs typeface="WenQuanYi Zen Hei" charset="0"/>
        </a:defRPr>
      </a:lvl4pPr>
      <a:lvl5pPr marL="2057400" indent="-228600" algn="l" defTabSz="457200" rtl="0" eaLnBrk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3D64"/>
          </a:solidFill>
          <a:latin typeface="+mn-lt"/>
          <a:ea typeface="+mn-ea"/>
          <a:cs typeface="WenQuanYi Zen Hei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ext Box 1">
            <a:extLst>
              <a:ext uri="{FF2B5EF4-FFF2-40B4-BE49-F238E27FC236}">
                <a16:creationId xmlns:a16="http://schemas.microsoft.com/office/drawing/2014/main" id="{3C402F0B-EE89-4843-AA35-52A28C6CF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1422400"/>
            <a:ext cx="8677275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GB" altLang="nl-NL" sz="3600" b="1">
                <a:solidFill>
                  <a:srgbClr val="003D62"/>
                </a:solidFill>
                <a:latin typeface="Verdana" panose="020B0604030504040204" pitchFamily="34" charset="0"/>
              </a:rPr>
              <a:t>Opdracht 3D-Fractalen</a:t>
            </a:r>
          </a:p>
        </p:txBody>
      </p:sp>
      <p:sp>
        <p:nvSpPr>
          <p:cNvPr id="5122" name="Text Box 2">
            <a:extLst>
              <a:ext uri="{FF2B5EF4-FFF2-40B4-BE49-F238E27FC236}">
                <a16:creationId xmlns:a16="http://schemas.microsoft.com/office/drawing/2014/main" id="{23861B20-8148-49E9-BFC9-EFF539618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1922463"/>
            <a:ext cx="8677275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t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500"/>
              </a:spcBef>
              <a:buClrTx/>
            </a:pPr>
            <a:r>
              <a:rPr lang="en-GB" sz="2000" dirty="0">
                <a:solidFill>
                  <a:srgbClr val="7E002F"/>
                </a:solidFill>
                <a:latin typeface="Verdana"/>
                <a:ea typeface="ＭＳ Ｐゴシック"/>
                <a:cs typeface="Arial"/>
              </a:rPr>
              <a:t>Tim Apers</a:t>
            </a:r>
            <a:endParaRPr lang="nl-NL" dirty="0" err="1">
              <a:latin typeface="Arial"/>
              <a:ea typeface="ＭＳ Ｐゴシック"/>
              <a:cs typeface="Arial"/>
            </a:endParaRP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960D7C06-F489-4014-BE15-0471F7372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" y="136525"/>
            <a:ext cx="1338263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61CF07F9-8088-4CDA-B3C7-D5A165DDC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59" y="3032100"/>
            <a:ext cx="3714750" cy="354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" name="Afbeelding 2" descr="Afbeelding met kamer&#10;&#10;Beschrijving is gegenereerd met zeer hoge betrouwbaarheid">
            <a:extLst>
              <a:ext uri="{FF2B5EF4-FFF2-40B4-BE49-F238E27FC236}">
                <a16:creationId xmlns:a16="http://schemas.microsoft.com/office/drawing/2014/main" id="{D6A4FA65-FAB6-4FA8-BA22-02EDDD6A9F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1698" y="2094394"/>
            <a:ext cx="4471337" cy="4697521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ext Box 1">
            <a:extLst>
              <a:ext uri="{FF2B5EF4-FFF2-40B4-BE49-F238E27FC236}">
                <a16:creationId xmlns:a16="http://schemas.microsoft.com/office/drawing/2014/main" id="{F459E782-2448-48FF-A486-E20097FE3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179388"/>
            <a:ext cx="8278813" cy="89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8000"/>
              </a:lnSpc>
              <a:buClrTx/>
              <a:buFontTx/>
              <a:buNone/>
            </a:pPr>
            <a:r>
              <a:rPr lang="nl-BE" altLang="nl-NL" sz="2800" b="1">
                <a:solidFill>
                  <a:srgbClr val="003D64"/>
                </a:solidFill>
                <a:latin typeface="FreeSans" pitchFamily="32" charset="0"/>
              </a:rPr>
              <a:t>3D-Fractalen</a:t>
            </a:r>
          </a:p>
        </p:txBody>
      </p:sp>
      <p:sp>
        <p:nvSpPr>
          <p:cNvPr id="6146" name="Text Box 2">
            <a:extLst>
              <a:ext uri="{FF2B5EF4-FFF2-40B4-BE49-F238E27FC236}">
                <a16:creationId xmlns:a16="http://schemas.microsoft.com/office/drawing/2014/main" id="{7EA46A5D-943A-4E43-A099-FE3CAFCB0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260475"/>
            <a:ext cx="9034462" cy="498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57600" rIns="0" bIns="0"/>
          <a:lstStyle>
            <a:lvl1pPr marL="338138" indent="-338138"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38188" indent="-280988"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nl-BE" altLang="nl-NL" sz="2400" b="1" dirty="0">
                <a:solidFill>
                  <a:srgbClr val="003D64"/>
                </a:solidFill>
                <a:latin typeface="FreeSans" pitchFamily="32" charset="0"/>
              </a:rPr>
              <a:t>Implementeer een methode/functie om een 3D-Fractaal te genereren van een willekeurige 3D-Figuur</a:t>
            </a:r>
          </a:p>
          <a:p>
            <a:pPr lvl="1"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Font typeface="Times New Roman" panose="02020603050405020304" pitchFamily="18" charset="0"/>
              <a:buChar char="–"/>
            </a:pPr>
            <a:r>
              <a:rPr lang="nl-BE" altLang="nl-NL" sz="22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Vb: </a:t>
            </a:r>
            <a:r>
              <a:rPr lang="nl-BE" altLang="nl-NL" b="1" dirty="0">
                <a:solidFill>
                  <a:srgbClr val="7F0055"/>
                </a:solidFill>
                <a:latin typeface="Courier New" panose="02070309020205020404" pitchFamily="49" charset="0"/>
              </a:rPr>
              <a:t>void</a:t>
            </a:r>
            <a:r>
              <a:rPr lang="nl-BE" altLang="nl-NL" b="1" dirty="0">
                <a:solidFill>
                  <a:srgbClr val="000000"/>
                </a:solidFill>
                <a:latin typeface="Courier New" panose="02070309020205020404" pitchFamily="49" charset="0"/>
              </a:rPr>
              <a:t> generateFractal(</a:t>
            </a:r>
            <a:r>
              <a:rPr lang="nl-BE" altLang="nl-NL" dirty="0">
                <a:solidFill>
                  <a:srgbClr val="005032"/>
                </a:solidFill>
                <a:latin typeface="Courier New" panose="02070309020205020404" pitchFamily="49" charset="0"/>
              </a:rPr>
              <a:t>Figure</a:t>
            </a:r>
            <a:r>
              <a:rPr lang="nl-BE" altLang="nl-NL" dirty="0">
                <a:solidFill>
                  <a:srgbClr val="000000"/>
                </a:solidFill>
                <a:latin typeface="Courier New" panose="02070309020205020404" pitchFamily="49" charset="0"/>
              </a:rPr>
              <a:t>&amp; fig, </a:t>
            </a:r>
            <a:r>
              <a:rPr lang="nl-BE" altLang="nl-NL" dirty="0">
                <a:solidFill>
                  <a:srgbClr val="005032"/>
                </a:solidFill>
                <a:latin typeface="Courier New" panose="02070309020205020404" pitchFamily="49" charset="0"/>
              </a:rPr>
              <a:t>Figures3D</a:t>
            </a:r>
            <a:r>
              <a:rPr lang="nl-BE" altLang="nl-NL" dirty="0">
                <a:solidFill>
                  <a:srgbClr val="000000"/>
                </a:solidFill>
                <a:latin typeface="Courier New" panose="02070309020205020404" pitchFamily="49" charset="0"/>
              </a:rPr>
              <a:t>&amp; fractal,</a:t>
            </a:r>
            <a:br>
              <a:rPr lang="nl-BE" altLang="nl-NL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nl-BE" altLang="nl-NL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nl-BE" altLang="nl-NL" b="1" dirty="0">
                <a:solidFill>
                  <a:srgbClr val="7F0055"/>
                </a:solidFill>
                <a:latin typeface="Courier New" panose="02070309020205020404" pitchFamily="49" charset="0"/>
              </a:rPr>
              <a:t>const</a:t>
            </a:r>
            <a:r>
              <a:rPr lang="nl-BE" altLang="nl-NL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nl-BE" altLang="nl-NL" b="1" dirty="0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nl-BE" altLang="nl-NL" dirty="0">
                <a:solidFill>
                  <a:srgbClr val="000000"/>
                </a:solidFill>
                <a:latin typeface="Courier New" panose="02070309020205020404" pitchFamily="49" charset="0"/>
              </a:rPr>
              <a:t> nr_iterations, </a:t>
            </a:r>
            <a:r>
              <a:rPr lang="nl-BE" altLang="nl-NL" b="1" dirty="0">
                <a:solidFill>
                  <a:srgbClr val="7F0055"/>
                </a:solidFill>
                <a:latin typeface="Courier New" panose="02070309020205020404" pitchFamily="49" charset="0"/>
              </a:rPr>
              <a:t>const</a:t>
            </a:r>
            <a:r>
              <a:rPr lang="nl-BE" altLang="nl-NL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nl-BE" altLang="nl-NL" b="1" dirty="0">
                <a:solidFill>
                  <a:srgbClr val="7F0055"/>
                </a:solidFill>
                <a:latin typeface="Courier New" panose="02070309020205020404" pitchFamily="49" charset="0"/>
              </a:rPr>
              <a:t>double</a:t>
            </a:r>
            <a:r>
              <a:rPr lang="nl-BE" altLang="nl-NL" dirty="0">
                <a:solidFill>
                  <a:srgbClr val="000000"/>
                </a:solidFill>
                <a:latin typeface="Courier New" panose="02070309020205020404" pitchFamily="49" charset="0"/>
              </a:rPr>
              <a:t> scale</a:t>
            </a:r>
            <a:r>
              <a:rPr lang="nl-BE" altLang="nl-NL" b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r>
              <a:rPr lang="nl-BE" altLang="nl-NL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</a:p>
          <a:p>
            <a:pPr lvl="1"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Font typeface="Times New Roman" panose="02020603050405020304" pitchFamily="18" charset="0"/>
              <a:buChar char="–"/>
            </a:pPr>
            <a:endParaRPr lang="nl-BE" altLang="nl-NL" b="1" dirty="0">
              <a:solidFill>
                <a:srgbClr val="7F0055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Font typeface="Times New Roman" panose="02020603050405020304" pitchFamily="18" charset="0"/>
              <a:buChar char="–"/>
            </a:pPr>
            <a:r>
              <a:rPr lang="nl-BE" altLang="nl-NL" b="1" dirty="0" err="1">
                <a:solidFill>
                  <a:srgbClr val="7F0055"/>
                </a:solidFill>
                <a:latin typeface="Courier New" panose="02070309020205020404" pitchFamily="49" charset="0"/>
              </a:rPr>
              <a:t>def</a:t>
            </a:r>
            <a:r>
              <a:rPr lang="nl-BE" altLang="nl-NL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nl-BE" altLang="nl-NL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generateFractal</a:t>
            </a:r>
            <a:r>
              <a:rPr lang="nl-BE" altLang="nl-NL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nl-BE" altLang="nl-NL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</a:t>
            </a:r>
            <a:r>
              <a:rPr lang="nl-BE" altLang="nl-NL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nl-BE" altLang="nl-NL" dirty="0" err="1">
                <a:solidFill>
                  <a:srgbClr val="000000"/>
                </a:solidFill>
                <a:latin typeface="Courier New" panose="02070309020205020404" pitchFamily="49" charset="0"/>
              </a:rPr>
              <a:t>nr_iterations</a:t>
            </a:r>
            <a:r>
              <a:rPr lang="nl-BE" altLang="nl-NL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nl-BE" altLang="nl-NL" dirty="0" err="1">
                <a:solidFill>
                  <a:srgbClr val="000000"/>
                </a:solidFill>
                <a:latin typeface="Courier New" panose="02070309020205020404" pitchFamily="49" charset="0"/>
              </a:rPr>
              <a:t>scale</a:t>
            </a:r>
            <a:r>
              <a:rPr lang="nl-BE" altLang="nl-NL" b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r>
              <a:rPr lang="nl-BE" altLang="nl-NL" dirty="0">
                <a:solidFill>
                  <a:srgbClr val="000000"/>
                </a:solidFill>
                <a:latin typeface="Courier New" panose="02070309020205020404" pitchFamily="49" charset="0"/>
              </a:rPr>
              <a:t> :</a:t>
            </a:r>
          </a:p>
          <a:p>
            <a:pPr marL="1371600" lvl="3" indent="0"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</a:pPr>
            <a:r>
              <a:rPr lang="nl-BE" altLang="nl-NL" dirty="0">
                <a:solidFill>
                  <a:srgbClr val="000000"/>
                </a:solidFill>
                <a:latin typeface="Courier New" panose="02070309020205020404" pitchFamily="49" charset="0"/>
              </a:rPr>
              <a:t>…</a:t>
            </a:r>
          </a:p>
          <a:p>
            <a:pPr marL="1371600" lvl="3" indent="0"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</a:pPr>
            <a:r>
              <a:rPr lang="nl-BE" altLang="nl-NL" b="1" dirty="0">
                <a:solidFill>
                  <a:srgbClr val="7F0055"/>
                </a:solidFill>
                <a:latin typeface="Courier New" panose="02070309020205020404" pitchFamily="49" charset="0"/>
              </a:rPr>
              <a:t>return</a:t>
            </a:r>
            <a:r>
              <a:rPr lang="nl-BE" altLang="nl-NL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nl-BE" altLang="nl-NL" dirty="0" err="1">
                <a:solidFill>
                  <a:srgbClr val="000000"/>
                </a:solidFill>
                <a:latin typeface="Courier New" panose="02070309020205020404" pitchFamily="49" charset="0"/>
              </a:rPr>
              <a:t>fractal_fig</a:t>
            </a:r>
            <a:endParaRPr lang="nl-BE" altLang="nl-NL" sz="2400" b="1" dirty="0">
              <a:solidFill>
                <a:srgbClr val="003D64"/>
              </a:solidFill>
              <a:latin typeface="FreeSans" pitchFamily="32" charset="0"/>
            </a:endParaRPr>
          </a:p>
          <a:p>
            <a: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nl-BE" altLang="nl-NL" sz="2400" b="1" dirty="0">
                <a:solidFill>
                  <a:srgbClr val="003D64"/>
                </a:solidFill>
                <a:latin typeface="FreeSans" pitchFamily="32" charset="0"/>
              </a:rPr>
              <a:t>Breid je engine uit met ondersteuning voor het genereren van 3D-Fractalen van volgende platonische lichamen:</a:t>
            </a:r>
          </a:p>
          <a:p>
            <a:pPr lvl="1"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Font typeface="Times New Roman" panose="02020603050405020304" pitchFamily="18" charset="0"/>
              <a:buChar char="–"/>
            </a:pPr>
            <a:r>
              <a:rPr lang="nl-BE" altLang="nl-NL" sz="22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Kubus</a:t>
            </a:r>
          </a:p>
          <a:p>
            <a:pPr lvl="1"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Font typeface="Times New Roman" panose="02020603050405020304" pitchFamily="18" charset="0"/>
              <a:buChar char="–"/>
            </a:pPr>
            <a:r>
              <a:rPr lang="nl-BE" altLang="nl-NL" sz="22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Tetrahedron</a:t>
            </a:r>
          </a:p>
          <a:p>
            <a:pPr lvl="1"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Font typeface="Times New Roman" panose="02020603050405020304" pitchFamily="18" charset="0"/>
              <a:buChar char="–"/>
            </a:pPr>
            <a:r>
              <a:rPr lang="nl-BE" altLang="nl-NL" sz="22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Octahedron</a:t>
            </a:r>
          </a:p>
          <a:p>
            <a:pPr lvl="1"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Font typeface="Times New Roman" panose="02020603050405020304" pitchFamily="18" charset="0"/>
              <a:buChar char="–"/>
            </a:pPr>
            <a:r>
              <a:rPr lang="nl-BE" altLang="nl-NL" sz="22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Icosahedron</a:t>
            </a:r>
          </a:p>
          <a:p>
            <a:pPr lvl="1"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Font typeface="Times New Roman" panose="02020603050405020304" pitchFamily="18" charset="0"/>
              <a:buChar char="–"/>
            </a:pPr>
            <a:r>
              <a:rPr lang="nl-BE" altLang="nl-NL" sz="2200" dirty="0" err="1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Dodecahedron</a:t>
            </a:r>
            <a:endParaRPr lang="nl-BE" altLang="nl-NL" sz="2200" dirty="0">
              <a:solidFill>
                <a:srgbClr val="003D64"/>
              </a:solidFill>
              <a:latin typeface="FreeSans" pitchFamily="32" charset="0"/>
              <a:cs typeface="WenQuanYi Zen Hei" charset="0"/>
            </a:endParaRPr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22AE1FDF-E289-420B-838C-AD78B881F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9588" y="7199313"/>
            <a:ext cx="5221287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lnSpc>
                <a:spcPct val="108000"/>
              </a:lnSpc>
              <a:buClrTx/>
              <a:buFontTx/>
              <a:buNone/>
            </a:pPr>
            <a:r>
              <a:rPr lang="en-US" altLang="nl-NL" sz="1400" i="1">
                <a:latin typeface="FreeSans" pitchFamily="32" charset="0"/>
                <a:cs typeface="WenQuanYi Zen Hei" charset="0"/>
              </a:rPr>
              <a:t>Practicum Computer Graphics: 3D-Fractalen</a:t>
            </a:r>
          </a:p>
        </p:txBody>
      </p:sp>
      <p:sp>
        <p:nvSpPr>
          <p:cNvPr id="6148" name="Text Box 4">
            <a:extLst>
              <a:ext uri="{FF2B5EF4-FFF2-40B4-BE49-F238E27FC236}">
                <a16:creationId xmlns:a16="http://schemas.microsoft.com/office/drawing/2014/main" id="{DCDAD224-DD68-4B16-9662-73894236E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0263" y="7199313"/>
            <a:ext cx="1068387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>
              <a:lnSpc>
                <a:spcPct val="108000"/>
              </a:lnSpc>
              <a:buClrTx/>
              <a:buFontTx/>
              <a:buNone/>
            </a:pPr>
            <a:fld id="{04BC03E7-213E-4166-A72B-C2CF3DEBE68D}" type="slidenum">
              <a:rPr lang="en-GB" altLang="nl-NL" sz="1400">
                <a:latin typeface="FreeSans" pitchFamily="32" charset="0"/>
              </a:rPr>
              <a:pPr eaLnBrk="1">
                <a:lnSpc>
                  <a:spcPct val="108000"/>
                </a:lnSpc>
                <a:buClrTx/>
                <a:buFontTx/>
                <a:buNone/>
              </a:pPr>
              <a:t>2</a:t>
            </a:fld>
            <a:endParaRPr lang="en-GB" altLang="nl-NL" sz="1400">
              <a:latin typeface="FreeSans" pitchFamily="3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6356B7-1F34-4E61-B4A6-ABB70A4E2FAC}"/>
              </a:ext>
            </a:extLst>
          </p:cNvPr>
          <p:cNvSpPr txBox="1"/>
          <p:nvPr/>
        </p:nvSpPr>
        <p:spPr>
          <a:xfrm>
            <a:off x="4506912" y="1902638"/>
            <a:ext cx="16193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Input: te fractaliseren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3035E8-F80A-432B-8438-8E09CF5E7ED4}"/>
              </a:ext>
            </a:extLst>
          </p:cNvPr>
          <p:cNvSpPr txBox="1"/>
          <p:nvPr/>
        </p:nvSpPr>
        <p:spPr>
          <a:xfrm>
            <a:off x="6488112" y="1902638"/>
            <a:ext cx="2249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Output: gefractaliseerde figuur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8CDC66-CEB4-63BE-85D0-783C155EA4BD}"/>
              </a:ext>
            </a:extLst>
          </p:cNvPr>
          <p:cNvSpPr txBox="1"/>
          <p:nvPr/>
        </p:nvSpPr>
        <p:spPr>
          <a:xfrm>
            <a:off x="4887912" y="5761037"/>
            <a:ext cx="4649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altLang="nl-NL" sz="18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(we verwachten 1 implementatie die voor eender welke soort figuur werkt, maar testen enkel met de hier vermelde soorten)</a:t>
            </a:r>
          </a:p>
          <a:p>
            <a:endParaRPr 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A0FDB02-3270-4439-8B6F-9143CC1F3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179388"/>
            <a:ext cx="8278813" cy="89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8000"/>
              </a:lnSpc>
              <a:buClrTx/>
              <a:buFontTx/>
              <a:buNone/>
            </a:pPr>
            <a:r>
              <a:rPr lang="nl-BE" altLang="nl-NL" sz="2800" b="1">
                <a:solidFill>
                  <a:srgbClr val="003D64"/>
                </a:solidFill>
                <a:latin typeface="FreeSans" pitchFamily="32" charset="0"/>
              </a:rPr>
              <a:t>Genereren van 3D-Fractalen</a:t>
            </a:r>
          </a:p>
        </p:txBody>
      </p:sp>
      <p:sp>
        <p:nvSpPr>
          <p:cNvPr id="7170" name="Text Box 2">
            <a:extLst>
              <a:ext uri="{FF2B5EF4-FFF2-40B4-BE49-F238E27FC236}">
                <a16:creationId xmlns:a16="http://schemas.microsoft.com/office/drawing/2014/main" id="{8DB907C8-87B1-4833-865F-7CB7D963B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260475"/>
            <a:ext cx="4894262" cy="544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57600" rIns="0" bIns="0"/>
          <a:lstStyle>
            <a:lvl1pPr marL="338138" indent="-338138"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38188" indent="-280988"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nl-BE" altLang="nl-NL" sz="2400" b="1" dirty="0">
                <a:solidFill>
                  <a:srgbClr val="003D64"/>
                </a:solidFill>
                <a:latin typeface="FreeSans" pitchFamily="32" charset="0"/>
              </a:rPr>
              <a:t>Opstellen van een 3D-Fractaal</a:t>
            </a:r>
          </a:p>
          <a:p>
            <a:pPr lvl="1"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Font typeface="Times New Roman" panose="02020603050405020304" pitchFamily="18" charset="0"/>
              <a:buChar char="–"/>
            </a:pPr>
            <a:r>
              <a:rPr lang="nl-BE" altLang="nl-NL" sz="22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Begin met een platonisch lichaam</a:t>
            </a:r>
          </a:p>
          <a:p>
            <a:pPr marL="739775" lvl="1">
              <a:lnSpc>
                <a:spcPct val="81000"/>
              </a:lnSpc>
              <a:spcAft>
                <a:spcPts val="1138"/>
              </a:spcAft>
              <a:buClrTx/>
              <a:buFontTx/>
              <a:buNone/>
            </a:pPr>
            <a:endParaRPr lang="nl-BE" altLang="nl-NL" sz="2200" dirty="0">
              <a:solidFill>
                <a:srgbClr val="003D64"/>
              </a:solidFill>
              <a:latin typeface="FreeSans" pitchFamily="32" charset="0"/>
              <a:cs typeface="WenQuanYi Zen Hei" charset="0"/>
            </a:endParaRPr>
          </a:p>
          <a:p>
            <a:pPr lvl="1"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Font typeface="Times New Roman" panose="02020603050405020304" pitchFamily="18" charset="0"/>
              <a:buChar char="–"/>
            </a:pPr>
            <a:r>
              <a:rPr lang="nl-BE" altLang="nl-NL" sz="22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Maak per hoekpunt een geschaalde kopie aan</a:t>
            </a:r>
          </a:p>
          <a:p>
            <a:pPr lvl="1"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Font typeface="Times New Roman" panose="02020603050405020304" pitchFamily="18" charset="0"/>
              <a:buChar char="–"/>
            </a:pPr>
            <a:r>
              <a:rPr lang="nl-BE" altLang="nl-NL" sz="22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Verplaats deze zodat het hoekpunt samenvalt met hetzelfde hoekpunt in de originele figuur </a:t>
            </a:r>
          </a:p>
          <a:p>
            <a:pPr lvl="1"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Font typeface="Times New Roman" panose="02020603050405020304" pitchFamily="18" charset="0"/>
              <a:buChar char="–"/>
            </a:pPr>
            <a:endParaRPr lang="nl-BE" altLang="nl-NL" sz="2000" dirty="0">
              <a:solidFill>
                <a:srgbClr val="003D64"/>
              </a:solidFill>
              <a:latin typeface="FreeSans" pitchFamily="32" charset="0"/>
              <a:cs typeface="WenQuanYi Zen Hei" charset="0"/>
            </a:endParaRPr>
          </a:p>
          <a:p>
            <a:pPr marL="739775" lvl="1">
              <a:lnSpc>
                <a:spcPct val="81000"/>
              </a:lnSpc>
              <a:spcAft>
                <a:spcPts val="1138"/>
              </a:spcAft>
              <a:buClrTx/>
              <a:buFontTx/>
              <a:buNone/>
            </a:pPr>
            <a:endParaRPr lang="nl-BE" altLang="nl-NL" sz="2200" dirty="0">
              <a:solidFill>
                <a:srgbClr val="003D64"/>
              </a:solidFill>
              <a:latin typeface="FreeSans" pitchFamily="32" charset="0"/>
              <a:cs typeface="WenQuanYi Zen Hei" charset="0"/>
            </a:endParaRPr>
          </a:p>
          <a:p>
            <a:pPr lvl="1"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Font typeface="Times New Roman" panose="02020603050405020304" pitchFamily="18" charset="0"/>
              <a:buChar char="–"/>
            </a:pPr>
            <a:r>
              <a:rPr lang="nl-BE" altLang="nl-NL" sz="22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Voer deze operatie in totaal </a:t>
            </a:r>
            <a:r>
              <a:rPr lang="nl-BE" altLang="nl-NL" sz="2200" dirty="0">
                <a:solidFill>
                  <a:srgbClr val="000000"/>
                </a:solidFill>
                <a:latin typeface="Courier New" panose="02070309020205020404" pitchFamily="49" charset="0"/>
              </a:rPr>
              <a:t>nr_iterations</a:t>
            </a:r>
            <a:r>
              <a:rPr lang="nl-BE" altLang="nl-NL" sz="22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 keer uit</a:t>
            </a:r>
          </a:p>
          <a:p>
            <a:pPr lvl="2"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Font typeface="Times New Roman" panose="02020603050405020304" pitchFamily="18" charset="0"/>
              <a:buChar char="–"/>
            </a:pPr>
            <a:r>
              <a:rPr lang="nl-BE" altLang="nl-NL" sz="22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Vervang bij iteratie i+1 alle figuren die in iteratie i aangemaakt zijn</a:t>
            </a:r>
          </a:p>
          <a:p>
            <a:pPr lvl="2" indent="-227013">
              <a:lnSpc>
                <a:spcPct val="81000"/>
              </a:lnSpc>
              <a:spcAft>
                <a:spcPts val="850"/>
              </a:spcAft>
              <a:buClrTx/>
              <a:buFontTx/>
              <a:buNone/>
            </a:pPr>
            <a:endParaRPr lang="nl-BE" altLang="nl-NL" sz="2000" dirty="0">
              <a:solidFill>
                <a:srgbClr val="003D64"/>
              </a:solidFill>
              <a:latin typeface="FreeSans" pitchFamily="32" charset="0"/>
              <a:cs typeface="WenQuanYi Zen Hei" charset="0"/>
            </a:endParaRPr>
          </a:p>
          <a:p>
            <a:pPr marL="739775" lvl="1">
              <a:lnSpc>
                <a:spcPct val="81000"/>
              </a:lnSpc>
              <a:spcAft>
                <a:spcPts val="1138"/>
              </a:spcAft>
              <a:buClrTx/>
              <a:buFontTx/>
              <a:buNone/>
            </a:pPr>
            <a:endParaRPr lang="nl-BE" altLang="nl-NL" sz="2000" dirty="0">
              <a:solidFill>
                <a:srgbClr val="003D64"/>
              </a:solidFill>
              <a:latin typeface="FreeSans" pitchFamily="32" charset="0"/>
              <a:cs typeface="WenQuanYi Zen Hei" charset="0"/>
            </a:endParaRPr>
          </a:p>
        </p:txBody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6D64D2C1-3557-4311-A761-5E5D441D2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9588" y="7199313"/>
            <a:ext cx="5221287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lnSpc>
                <a:spcPct val="108000"/>
              </a:lnSpc>
              <a:buClrTx/>
              <a:buFontTx/>
              <a:buNone/>
            </a:pPr>
            <a:r>
              <a:rPr lang="en-US" altLang="nl-NL" sz="1400" i="1">
                <a:latin typeface="FreeSans" pitchFamily="32" charset="0"/>
                <a:cs typeface="WenQuanYi Zen Hei" charset="0"/>
              </a:rPr>
              <a:t>Practicum Computer Graphics: 3D-Fractalen</a:t>
            </a: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DF999131-2CF5-4A3D-B80E-330F0C69C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0263" y="7199313"/>
            <a:ext cx="1068387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>
              <a:lnSpc>
                <a:spcPct val="108000"/>
              </a:lnSpc>
              <a:buClrTx/>
              <a:buFontTx/>
              <a:buNone/>
            </a:pPr>
            <a:fld id="{9E4A2D96-C9A5-4493-9959-CBA52A84FCF2}" type="slidenum">
              <a:rPr lang="en-GB" altLang="nl-NL" sz="1400">
                <a:latin typeface="FreeSans" pitchFamily="32" charset="0"/>
              </a:rPr>
              <a:pPr eaLnBrk="1">
                <a:lnSpc>
                  <a:spcPct val="108000"/>
                </a:lnSpc>
                <a:buClrTx/>
                <a:buFontTx/>
                <a:buNone/>
              </a:pPr>
              <a:t>3</a:t>
            </a:fld>
            <a:endParaRPr lang="en-GB" altLang="nl-NL" sz="1400">
              <a:latin typeface="FreeSans" pitchFamily="32" charset="0"/>
            </a:endParaRPr>
          </a:p>
        </p:txBody>
      </p:sp>
      <p:grpSp>
        <p:nvGrpSpPr>
          <p:cNvPr id="7173" name="Group 5">
            <a:extLst>
              <a:ext uri="{FF2B5EF4-FFF2-40B4-BE49-F238E27FC236}">
                <a16:creationId xmlns:a16="http://schemas.microsoft.com/office/drawing/2014/main" id="{023AC8E1-AC6C-47D6-B00F-2541FC40B995}"/>
              </a:ext>
            </a:extLst>
          </p:cNvPr>
          <p:cNvGrpSpPr>
            <a:grpSpLocks/>
          </p:cNvGrpSpPr>
          <p:nvPr/>
        </p:nvGrpSpPr>
        <p:grpSpPr bwMode="auto">
          <a:xfrm>
            <a:off x="6326188" y="2779713"/>
            <a:ext cx="2995612" cy="2995612"/>
            <a:chOff x="3985" y="1751"/>
            <a:chExt cx="1887" cy="1887"/>
          </a:xfrm>
        </p:grpSpPr>
        <p:pic>
          <p:nvPicPr>
            <p:cNvPr id="7174" name="Picture 6">
              <a:extLst>
                <a:ext uri="{FF2B5EF4-FFF2-40B4-BE49-F238E27FC236}">
                  <a16:creationId xmlns:a16="http://schemas.microsoft.com/office/drawing/2014/main" id="{C25604AB-FDF0-4D1E-834A-CED9FD6B6A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5" y="1751"/>
              <a:ext cx="1887" cy="1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7175" name="AutoShape 7">
              <a:extLst>
                <a:ext uri="{FF2B5EF4-FFF2-40B4-BE49-F238E27FC236}">
                  <a16:creationId xmlns:a16="http://schemas.microsoft.com/office/drawing/2014/main" id="{D4D413F6-3814-4059-9451-B5F227C22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2" y="1766"/>
              <a:ext cx="1857" cy="1858"/>
            </a:xfrm>
            <a:prstGeom prst="cube">
              <a:avLst>
                <a:gd name="adj" fmla="val 25000"/>
              </a:avLst>
            </a:prstGeom>
            <a:noFill/>
            <a:ln w="38160" cap="sq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7176" name="AutoShape 8">
            <a:extLst>
              <a:ext uri="{FF2B5EF4-FFF2-40B4-BE49-F238E27FC236}">
                <a16:creationId xmlns:a16="http://schemas.microsoft.com/office/drawing/2014/main" id="{EB6A3E0E-3CDE-491E-919F-048DAECD9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2779713"/>
            <a:ext cx="3000375" cy="3000375"/>
          </a:xfrm>
          <a:prstGeom prst="cube">
            <a:avLst>
              <a:gd name="adj" fmla="val 25000"/>
            </a:avLst>
          </a:prstGeom>
          <a:noFill/>
          <a:ln w="38160" cap="sq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 additive="repl">
                                        <p:cTn id="21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AutoShape 1">
            <a:extLst>
              <a:ext uri="{FF2B5EF4-FFF2-40B4-BE49-F238E27FC236}">
                <a16:creationId xmlns:a16="http://schemas.microsoft.com/office/drawing/2014/main" id="{E4B317B8-5316-49DA-897B-86FA2856B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500" y="2708275"/>
            <a:ext cx="3000375" cy="3000375"/>
          </a:xfrm>
          <a:prstGeom prst="cube">
            <a:avLst>
              <a:gd name="adj" fmla="val 25000"/>
            </a:avLst>
          </a:prstGeom>
          <a:noFill/>
          <a:ln w="38160" cap="sq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8194" name="Text Box 2">
            <a:extLst>
              <a:ext uri="{FF2B5EF4-FFF2-40B4-BE49-F238E27FC236}">
                <a16:creationId xmlns:a16="http://schemas.microsoft.com/office/drawing/2014/main" id="{405AD813-585A-476C-9419-80FA0B20E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179388"/>
            <a:ext cx="8278813" cy="89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8000"/>
              </a:lnSpc>
              <a:buClrTx/>
              <a:buFontTx/>
              <a:buNone/>
            </a:pPr>
            <a:r>
              <a:rPr lang="nl-BE" altLang="nl-NL" sz="2800" b="1">
                <a:solidFill>
                  <a:srgbClr val="003D64"/>
                </a:solidFill>
                <a:latin typeface="FreeSans" pitchFamily="32" charset="0"/>
              </a:rPr>
              <a:t>Genereren van 3D-Fractalen</a:t>
            </a:r>
          </a:p>
        </p:txBody>
      </p:sp>
      <p:sp>
        <p:nvSpPr>
          <p:cNvPr id="8195" name="Text Box 3">
            <a:extLst>
              <a:ext uri="{FF2B5EF4-FFF2-40B4-BE49-F238E27FC236}">
                <a16:creationId xmlns:a16="http://schemas.microsoft.com/office/drawing/2014/main" id="{16868C1C-2345-4A1D-B8B3-94F4723F7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260475"/>
            <a:ext cx="6894512" cy="530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57600" rIns="0" bIns="0"/>
          <a:lstStyle>
            <a:lvl1pPr marL="338138" indent="-338138"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914400" indent="-457200"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indent="-225425"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nl-BE" altLang="nl-NL" sz="2400" b="1" dirty="0">
                <a:solidFill>
                  <a:srgbClr val="003D64"/>
                </a:solidFill>
                <a:latin typeface="FreeSans" pitchFamily="32" charset="0"/>
              </a:rPr>
              <a:t>Voor elk punt P</a:t>
            </a:r>
            <a:r>
              <a:rPr lang="nl-BE" altLang="nl-NL" sz="2400" b="1" baseline="-25000" dirty="0">
                <a:solidFill>
                  <a:srgbClr val="003D64"/>
                </a:solidFill>
                <a:latin typeface="FreeSans" pitchFamily="32" charset="0"/>
              </a:rPr>
              <a:t>i</a:t>
            </a:r>
            <a:r>
              <a:rPr lang="nl-BE" altLang="nl-NL" sz="2400" b="1" dirty="0">
                <a:solidFill>
                  <a:srgbClr val="003D64"/>
                </a:solidFill>
                <a:latin typeface="FreeSans" pitchFamily="32" charset="0"/>
              </a:rPr>
              <a:t> in de oorspronkelijke figuur:</a:t>
            </a:r>
          </a:p>
          <a:p>
            <a:pPr lvl="1"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Font typeface="FreeSans" pitchFamily="32" charset="0"/>
              <a:buAutoNum type="arabicPeriod"/>
            </a:pPr>
            <a:r>
              <a:rPr lang="nl-BE" altLang="nl-NL" sz="22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Kopieer de oorspronkelijke figuur</a:t>
            </a:r>
          </a:p>
          <a:p>
            <a:pPr lvl="1" indent="-455613">
              <a:lnSpc>
                <a:spcPct val="81000"/>
              </a:lnSpc>
              <a:spcAft>
                <a:spcPts val="1138"/>
              </a:spcAft>
              <a:buClrTx/>
              <a:buFontTx/>
              <a:buNone/>
            </a:pPr>
            <a:endParaRPr lang="nl-BE" altLang="nl-NL" sz="2200" dirty="0">
              <a:solidFill>
                <a:srgbClr val="003D64"/>
              </a:solidFill>
              <a:latin typeface="FreeSans" pitchFamily="32" charset="0"/>
              <a:cs typeface="WenQuanYi Zen Hei" charset="0"/>
            </a:endParaRPr>
          </a:p>
          <a:p>
            <a:pPr lvl="1"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Font typeface="FreeSans" pitchFamily="32" charset="0"/>
              <a:buAutoNum type="arabicPeriod"/>
            </a:pPr>
            <a:r>
              <a:rPr lang="nl-BE" altLang="nl-NL" sz="22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Schaal de punten van de nieuwe figuur</a:t>
            </a:r>
          </a:p>
          <a:p>
            <a:pPr lvl="2">
              <a:lnSpc>
                <a:spcPct val="81000"/>
              </a:lnSpc>
              <a:spcAft>
                <a:spcPts val="850"/>
              </a:spcAft>
              <a:buClrTx/>
              <a:buFontTx/>
              <a:buNone/>
            </a:pPr>
            <a:endParaRPr lang="nl-BE" altLang="nl-NL" sz="2000" dirty="0">
              <a:solidFill>
                <a:srgbClr val="003D64"/>
              </a:solidFill>
              <a:latin typeface="FreeSans" pitchFamily="32" charset="0"/>
              <a:cs typeface="WenQuanYi Zen Hei" charset="0"/>
            </a:endParaRPr>
          </a:p>
          <a:p>
            <a:pPr lvl="2" indent="-227013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 panose="02020603050405020304" pitchFamily="18" charset="0"/>
              <a:buChar char="•"/>
            </a:pPr>
            <a:r>
              <a:rPr lang="nl-BE" altLang="nl-NL" sz="20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Maak gebruik van:</a:t>
            </a:r>
          </a:p>
          <a:p>
            <a:pPr lvl="3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 panose="02020603050405020304" pitchFamily="18" charset="0"/>
              <a:buChar char="–"/>
            </a:pPr>
            <a:r>
              <a:rPr lang="nl-BE" altLang="nl-NL" sz="1600" dirty="0">
                <a:solidFill>
                  <a:srgbClr val="005032"/>
                </a:solidFill>
                <a:latin typeface="Courier New" panose="02070309020205020404" pitchFamily="49" charset="0"/>
              </a:rPr>
              <a:t>Matrix</a:t>
            </a:r>
            <a:r>
              <a:rPr lang="nl-BE" altLang="nl-NL" sz="1600" dirty="0">
                <a:solidFill>
                  <a:srgbClr val="003D64"/>
                </a:solidFill>
                <a:latin typeface="Courier New" panose="02070309020205020404" pitchFamily="49" charset="0"/>
              </a:rPr>
              <a:t> </a:t>
            </a:r>
            <a:r>
              <a:rPr lang="nl-BE" altLang="nl-NL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scaleFigure</a:t>
            </a:r>
            <a:r>
              <a:rPr lang="nl-BE" altLang="nl-NL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br>
              <a:rPr lang="nl-BE" altLang="nl-NL" sz="1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nl-BE" altLang="nl-NL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r>
              <a:rPr lang="nl-BE" altLang="nl-NL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const double</a:t>
            </a:r>
            <a:r>
              <a:rPr lang="nl-BE" altLang="nl-NL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scale);</a:t>
            </a:r>
          </a:p>
          <a:p>
            <a:pPr lvl="3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 panose="02020603050405020304" pitchFamily="18" charset="0"/>
              <a:buChar char="–"/>
            </a:pPr>
            <a:r>
              <a:rPr lang="nl-BE" altLang="nl-NL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void</a:t>
            </a:r>
            <a:r>
              <a:rPr lang="nl-BE" altLang="nl-NL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nl-BE" altLang="nl-NL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applyTransformation</a:t>
            </a:r>
            <a:r>
              <a:rPr lang="nl-BE" altLang="nl-NL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br>
              <a:rPr lang="nl-BE" altLang="nl-NL" sz="1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nl-BE" altLang="nl-NL" sz="1600" dirty="0">
                <a:solidFill>
                  <a:srgbClr val="000000"/>
                </a:solidFill>
                <a:latin typeface="Courier New" panose="02070309020205020404" pitchFamily="49" charset="0"/>
              </a:rPr>
              <a:t>		   </a:t>
            </a:r>
            <a:r>
              <a:rPr lang="nl-BE" altLang="nl-NL" sz="1600" dirty="0">
                <a:solidFill>
                  <a:srgbClr val="005032"/>
                </a:solidFill>
                <a:latin typeface="Courier New" panose="02070309020205020404" pitchFamily="49" charset="0"/>
              </a:rPr>
              <a:t>Figure </a:t>
            </a:r>
            <a:r>
              <a:rPr lang="nl-BE" altLang="nl-NL" sz="1600" dirty="0">
                <a:solidFill>
                  <a:srgbClr val="000000"/>
                </a:solidFill>
                <a:latin typeface="Courier New" panose="02070309020205020404" pitchFamily="49" charset="0"/>
              </a:rPr>
              <a:t>&amp;, </a:t>
            </a:r>
            <a:r>
              <a:rPr lang="nl-BE" altLang="nl-NL" sz="1600" b="1" dirty="0">
                <a:solidFill>
                  <a:srgbClr val="7F0055"/>
                </a:solidFill>
                <a:latin typeface="Courier New" panose="02070309020205020404" pitchFamily="49" charset="0"/>
              </a:rPr>
              <a:t>const</a:t>
            </a:r>
            <a:r>
              <a:rPr lang="nl-BE" altLang="nl-NL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nl-BE" altLang="nl-NL" sz="1600" dirty="0">
                <a:solidFill>
                  <a:srgbClr val="005032"/>
                </a:solidFill>
                <a:latin typeface="Courier New" panose="02070309020205020404" pitchFamily="49" charset="0"/>
              </a:rPr>
              <a:t>Matrix </a:t>
            </a:r>
            <a:r>
              <a:rPr lang="nl-BE" altLang="nl-NL" sz="1600" dirty="0">
                <a:solidFill>
                  <a:srgbClr val="000000"/>
                </a:solidFill>
                <a:latin typeface="Courier New" panose="02070309020205020404" pitchFamily="49" charset="0"/>
              </a:rPr>
              <a:t>&amp;);</a:t>
            </a:r>
          </a:p>
          <a:p>
            <a:pPr lvl="2">
              <a:lnSpc>
                <a:spcPct val="81000"/>
              </a:lnSpc>
              <a:spcAft>
                <a:spcPts val="850"/>
              </a:spcAft>
              <a:buClrTx/>
              <a:buFontTx/>
              <a:buNone/>
            </a:pPr>
            <a:endParaRPr lang="nl-BE" altLang="nl-NL" sz="2000" dirty="0">
              <a:solidFill>
                <a:srgbClr val="003D64"/>
              </a:solidFill>
              <a:latin typeface="FreeSans" pitchFamily="32" charset="0"/>
              <a:cs typeface="WenQuanYi Zen Hei" charset="0"/>
            </a:endParaRPr>
          </a:p>
          <a:p>
            <a:pPr lvl="2" indent="-227013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 panose="02020603050405020304" pitchFamily="18" charset="0"/>
              <a:buChar char="•"/>
            </a:pPr>
            <a:r>
              <a:rPr lang="nl-BE" altLang="nl-NL" sz="20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Transformatiematrix: </a:t>
            </a:r>
          </a:p>
          <a:p>
            <a:pPr lvl="3" indent="-227013">
              <a:lnSpc>
                <a:spcPct val="81000"/>
              </a:lnSpc>
              <a:spcAft>
                <a:spcPts val="575"/>
              </a:spcAft>
              <a:buClrTx/>
              <a:buFontTx/>
              <a:buNone/>
            </a:pPr>
            <a:endParaRPr lang="nl-BE" altLang="nl-NL" sz="400" dirty="0">
              <a:solidFill>
                <a:srgbClr val="003D64"/>
              </a:solidFill>
              <a:latin typeface="FreeSans" pitchFamily="32" charset="0"/>
              <a:cs typeface="WenQuanYi Zen Hei" charset="0"/>
            </a:endParaRPr>
          </a:p>
          <a:p>
            <a:pPr lvl="3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 panose="02020603050405020304" pitchFamily="18" charset="0"/>
              <a:buChar char="–"/>
            </a:pPr>
            <a:r>
              <a:rPr lang="nl-BE" altLang="nl-NL" sz="20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Geschaald punt:</a:t>
            </a:r>
          </a:p>
          <a:p>
            <a:pPr lvl="2">
              <a:lnSpc>
                <a:spcPct val="81000"/>
              </a:lnSpc>
              <a:spcAft>
                <a:spcPts val="850"/>
              </a:spcAft>
              <a:buClrTx/>
              <a:buFontTx/>
              <a:buNone/>
            </a:pPr>
            <a:endParaRPr lang="nl-BE" altLang="nl-NL" sz="2000" dirty="0">
              <a:solidFill>
                <a:srgbClr val="003D64"/>
              </a:solidFill>
              <a:latin typeface="FreeSans" pitchFamily="32" charset="0"/>
              <a:cs typeface="WenQuanYi Zen Hei" charset="0"/>
            </a:endParaRPr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BFF8584D-D7E6-428C-A258-066E77866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9588" y="7199313"/>
            <a:ext cx="5221287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lnSpc>
                <a:spcPct val="108000"/>
              </a:lnSpc>
              <a:buClrTx/>
              <a:buFontTx/>
              <a:buNone/>
            </a:pPr>
            <a:r>
              <a:rPr lang="en-US" altLang="nl-NL" sz="1400" i="1">
                <a:latin typeface="FreeSans" pitchFamily="32" charset="0"/>
                <a:cs typeface="WenQuanYi Zen Hei" charset="0"/>
              </a:rPr>
              <a:t>Practicum Computer Graphics: 3D-Fractalen</a:t>
            </a:r>
          </a:p>
        </p:txBody>
      </p:sp>
      <p:sp>
        <p:nvSpPr>
          <p:cNvPr id="8197" name="Text Box 5">
            <a:extLst>
              <a:ext uri="{FF2B5EF4-FFF2-40B4-BE49-F238E27FC236}">
                <a16:creationId xmlns:a16="http://schemas.microsoft.com/office/drawing/2014/main" id="{CBA9A79B-0C80-4C76-ADEC-396B6BFF7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0263" y="7199313"/>
            <a:ext cx="1068387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>
              <a:lnSpc>
                <a:spcPct val="108000"/>
              </a:lnSpc>
              <a:buClrTx/>
              <a:buFontTx/>
              <a:buNone/>
            </a:pPr>
            <a:fld id="{E06CB376-7D6A-4F65-A4DF-EBE1A1BD6A42}" type="slidenum">
              <a:rPr lang="en-GB" altLang="nl-NL" sz="1400">
                <a:latin typeface="FreeSans" pitchFamily="32" charset="0"/>
              </a:rPr>
              <a:pPr eaLnBrk="1">
                <a:lnSpc>
                  <a:spcPct val="108000"/>
                </a:lnSpc>
                <a:buClrTx/>
                <a:buFontTx/>
                <a:buNone/>
              </a:pPr>
              <a:t>4</a:t>
            </a:fld>
            <a:endParaRPr lang="en-GB" altLang="nl-NL" sz="1400">
              <a:latin typeface="FreeSans" pitchFamily="32" charset="0"/>
            </a:endParaRPr>
          </a:p>
        </p:txBody>
      </p:sp>
      <p:sp>
        <p:nvSpPr>
          <p:cNvPr id="8198" name="AutoShape 6">
            <a:extLst>
              <a:ext uri="{FF2B5EF4-FFF2-40B4-BE49-F238E27FC236}">
                <a16:creationId xmlns:a16="http://schemas.microsoft.com/office/drawing/2014/main" id="{893EAD1D-476D-480F-A48F-9AECAFA47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500" y="2708275"/>
            <a:ext cx="3000375" cy="3000375"/>
          </a:xfrm>
          <a:prstGeom prst="cube">
            <a:avLst>
              <a:gd name="adj" fmla="val 25000"/>
            </a:avLst>
          </a:prstGeom>
          <a:noFill/>
          <a:ln w="38160" cap="sq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8199" name="AutoShape 7">
            <a:extLst>
              <a:ext uri="{FF2B5EF4-FFF2-40B4-BE49-F238E27FC236}">
                <a16:creationId xmlns:a16="http://schemas.microsoft.com/office/drawing/2014/main" id="{6A3CA044-EF35-4910-8FCE-C06093459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0" y="3851275"/>
            <a:ext cx="714375" cy="714375"/>
          </a:xfrm>
          <a:prstGeom prst="cube">
            <a:avLst>
              <a:gd name="adj" fmla="val 25000"/>
            </a:avLst>
          </a:prstGeom>
          <a:solidFill>
            <a:srgbClr val="FFC000"/>
          </a:solidFill>
          <a:ln w="381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8200" name="Text Box 8">
            <a:extLst>
              <a:ext uri="{FF2B5EF4-FFF2-40B4-BE49-F238E27FC236}">
                <a16:creationId xmlns:a16="http://schemas.microsoft.com/office/drawing/2014/main" id="{7D0D1936-6946-4D42-BB65-752A062EA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4200" y="2636838"/>
            <a:ext cx="36195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>
              <a:lnSpc>
                <a:spcPct val="93000"/>
              </a:lnSpc>
              <a:buClrTx/>
              <a:buFontTx/>
              <a:buNone/>
            </a:pPr>
            <a:r>
              <a:rPr lang="nl-BE" altLang="nl-NL">
                <a:solidFill>
                  <a:srgbClr val="000000"/>
                </a:solidFill>
              </a:rPr>
              <a:t>P</a:t>
            </a:r>
            <a:r>
              <a:rPr lang="nl-BE" altLang="nl-NL" baseline="-25000">
                <a:solidFill>
                  <a:srgbClr val="000000"/>
                </a:solidFill>
              </a:rPr>
              <a:t>i</a:t>
            </a:r>
          </a:p>
        </p:txBody>
      </p:sp>
      <p:sp>
        <p:nvSpPr>
          <p:cNvPr id="8201" name="Text Box 9">
            <a:extLst>
              <a:ext uri="{FF2B5EF4-FFF2-40B4-BE49-F238E27FC236}">
                <a16:creationId xmlns:a16="http://schemas.microsoft.com/office/drawing/2014/main" id="{3304D717-FEB7-4F33-83DE-FC611D8F5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2788" y="3779838"/>
            <a:ext cx="41275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>
              <a:lnSpc>
                <a:spcPct val="93000"/>
              </a:lnSpc>
              <a:buClrTx/>
              <a:buFontTx/>
              <a:buNone/>
            </a:pPr>
            <a:r>
              <a:rPr lang="nl-BE" altLang="nl-NL">
                <a:solidFill>
                  <a:srgbClr val="000000"/>
                </a:solidFill>
              </a:rPr>
              <a:t>P’</a:t>
            </a:r>
            <a:r>
              <a:rPr lang="nl-BE" altLang="nl-NL" baseline="-25000">
                <a:solidFill>
                  <a:srgbClr val="000000"/>
                </a:solidFill>
              </a:rPr>
              <a:t>i</a:t>
            </a:r>
          </a:p>
        </p:txBody>
      </p:sp>
      <p:sp>
        <p:nvSpPr>
          <p:cNvPr id="8202" name="Rectangle 10">
            <a:extLst>
              <a:ext uri="{FF2B5EF4-FFF2-40B4-BE49-F238E27FC236}">
                <a16:creationId xmlns:a16="http://schemas.microsoft.com/office/drawing/2014/main" id="{13E67934-AA95-4A3B-BB30-35C26B39E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8203" name="Rectangle 11">
            <a:extLst>
              <a:ext uri="{FF2B5EF4-FFF2-40B4-BE49-F238E27FC236}">
                <a16:creationId xmlns:a16="http://schemas.microsoft.com/office/drawing/2014/main" id="{8CC3D55D-6B55-4471-99F3-4E6856B10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202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8204" name="Rectangle 12">
            <a:extLst>
              <a:ext uri="{FF2B5EF4-FFF2-40B4-BE49-F238E27FC236}">
                <a16:creationId xmlns:a16="http://schemas.microsoft.com/office/drawing/2014/main" id="{A5FE9750-8956-445D-A129-7136A941F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8205" name="Rectangle 13">
            <a:extLst>
              <a:ext uri="{FF2B5EF4-FFF2-40B4-BE49-F238E27FC236}">
                <a16:creationId xmlns:a16="http://schemas.microsoft.com/office/drawing/2014/main" id="{BA84DDE1-9F36-46E3-A0CA-1B27F3236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202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8206" name="Rectangle 14">
            <a:extLst>
              <a:ext uri="{FF2B5EF4-FFF2-40B4-BE49-F238E27FC236}">
                <a16:creationId xmlns:a16="http://schemas.microsoft.com/office/drawing/2014/main" id="{4A2262DC-50BB-4B43-8B50-211554FC2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8207" name="Rectangle 15">
            <a:extLst>
              <a:ext uri="{FF2B5EF4-FFF2-40B4-BE49-F238E27FC236}">
                <a16:creationId xmlns:a16="http://schemas.microsoft.com/office/drawing/2014/main" id="{AE2BB82F-2278-4FCC-8449-1E241468B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202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8208" name="Rectangle 16">
            <a:extLst>
              <a:ext uri="{FF2B5EF4-FFF2-40B4-BE49-F238E27FC236}">
                <a16:creationId xmlns:a16="http://schemas.microsoft.com/office/drawing/2014/main" id="{806E3C9F-801D-414F-9D9D-454013D4D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8209" name="Rectangle 17">
            <a:extLst>
              <a:ext uri="{FF2B5EF4-FFF2-40B4-BE49-F238E27FC236}">
                <a16:creationId xmlns:a16="http://schemas.microsoft.com/office/drawing/2014/main" id="{EF959430-7208-4190-BA4A-41D18FBBB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0100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8210" name="Rectangle 18">
            <a:extLst>
              <a:ext uri="{FF2B5EF4-FFF2-40B4-BE49-F238E27FC236}">
                <a16:creationId xmlns:a16="http://schemas.microsoft.com/office/drawing/2014/main" id="{2C438354-139D-4F50-BDB7-75EB61B5E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pic>
        <p:nvPicPr>
          <p:cNvPr id="8211" name="Picture 19">
            <a:extLst>
              <a:ext uri="{FF2B5EF4-FFF2-40B4-BE49-F238E27FC236}">
                <a16:creationId xmlns:a16="http://schemas.microsoft.com/office/drawing/2014/main" id="{98E2644D-53C5-45B6-B781-34FF15130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25" y="4881563"/>
            <a:ext cx="1533525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212" name="Rectangle 20">
            <a:extLst>
              <a:ext uri="{FF2B5EF4-FFF2-40B4-BE49-F238E27FC236}">
                <a16:creationId xmlns:a16="http://schemas.microsoft.com/office/drawing/2014/main" id="{5753B088-DF7A-4057-9049-2D99ED76D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202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8213" name="Rectangle 21">
            <a:extLst>
              <a:ext uri="{FF2B5EF4-FFF2-40B4-BE49-F238E27FC236}">
                <a16:creationId xmlns:a16="http://schemas.microsoft.com/office/drawing/2014/main" id="{DB75C452-96EC-4B85-86D1-A3E817E6A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pic>
        <p:nvPicPr>
          <p:cNvPr id="8214" name="Picture 22">
            <a:extLst>
              <a:ext uri="{FF2B5EF4-FFF2-40B4-BE49-F238E27FC236}">
                <a16:creationId xmlns:a16="http://schemas.microsoft.com/office/drawing/2014/main" id="{B4662F94-98DB-4835-827C-56136D29E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25" y="5524500"/>
            <a:ext cx="139065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215" name="Rectangle 23">
            <a:extLst>
              <a:ext uri="{FF2B5EF4-FFF2-40B4-BE49-F238E27FC236}">
                <a16:creationId xmlns:a16="http://schemas.microsoft.com/office/drawing/2014/main" id="{BA8F7E0B-AED1-4076-BD32-DEBBB5B31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0100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10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mph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 additive="repl">
                                        <p:cTn id="25" dur="2000" fill="hold"/>
                                        <p:tgtEl>
                                          <p:spTgt spid="8198"/>
                                        </p:tgtEl>
                                      </p:cBhvr>
                                      <p:to x="25000" y="25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additive="repl">
                                        <p:cTn id="27" dur="2000" fill="hold" masterRel="sameClick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C00"/>
                                      </p:to>
                                    </p:animClr>
                                    <p:set>
                                      <p:cBhvr additive="repl">
                                        <p:cTn id="28" dur="20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2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3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6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>
            <a:extLst>
              <a:ext uri="{FF2B5EF4-FFF2-40B4-BE49-F238E27FC236}">
                <a16:creationId xmlns:a16="http://schemas.microsoft.com/office/drawing/2014/main" id="{9131AB32-417D-484C-8594-283FAEA8D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179388"/>
            <a:ext cx="8278813" cy="89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8000"/>
              </a:lnSpc>
              <a:buClrTx/>
              <a:buFontTx/>
              <a:buNone/>
            </a:pPr>
            <a:r>
              <a:rPr lang="nl-BE" altLang="nl-NL" sz="2800" b="1">
                <a:solidFill>
                  <a:srgbClr val="003D64"/>
                </a:solidFill>
                <a:latin typeface="FreeSans" pitchFamily="32" charset="0"/>
              </a:rPr>
              <a:t>Genereren van 3D-Fractalen</a:t>
            </a:r>
          </a:p>
        </p:txBody>
      </p:sp>
      <p:sp>
        <p:nvSpPr>
          <p:cNvPr id="9218" name="Text Box 2">
            <a:extLst>
              <a:ext uri="{FF2B5EF4-FFF2-40B4-BE49-F238E27FC236}">
                <a16:creationId xmlns:a16="http://schemas.microsoft.com/office/drawing/2014/main" id="{2A05B07D-A95D-4668-8A5F-C25BA633D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260475"/>
            <a:ext cx="6894512" cy="530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57600" rIns="0" bIns="0"/>
          <a:lstStyle>
            <a:lvl1pPr marL="338138" indent="-338138"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914400" indent="-457200"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indent="-223838"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3838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3838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3838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3838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nl-BE" altLang="nl-NL" sz="2400" b="1">
                <a:solidFill>
                  <a:srgbClr val="003D64"/>
                </a:solidFill>
                <a:latin typeface="FreeSans" pitchFamily="32" charset="0"/>
              </a:rPr>
              <a:t>Voor elk punt P</a:t>
            </a:r>
            <a:r>
              <a:rPr lang="nl-BE" altLang="nl-NL" sz="2400" b="1" baseline="-25000">
                <a:solidFill>
                  <a:srgbClr val="003D64"/>
                </a:solidFill>
                <a:latin typeface="FreeSans" pitchFamily="32" charset="0"/>
              </a:rPr>
              <a:t>i</a:t>
            </a:r>
            <a:r>
              <a:rPr lang="nl-BE" altLang="nl-NL" sz="2400" b="1">
                <a:solidFill>
                  <a:srgbClr val="003D64"/>
                </a:solidFill>
                <a:latin typeface="FreeSans" pitchFamily="32" charset="0"/>
              </a:rPr>
              <a:t> in de oorspronkelijke figuur:</a:t>
            </a:r>
          </a:p>
          <a:p>
            <a:pPr lvl="1"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Font typeface="FreeSans" pitchFamily="32" charset="0"/>
              <a:buAutoNum type="arabicPeriod" startAt="3"/>
            </a:pPr>
            <a:r>
              <a:rPr lang="nl-BE" altLang="nl-NL" sz="220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Verplaats de nieuwe figuur naar de juiste plaats</a:t>
            </a:r>
          </a:p>
          <a:p>
            <a:pPr lvl="2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 panose="02020603050405020304" pitchFamily="18" charset="0"/>
              <a:buChar char="•"/>
            </a:pPr>
            <a:r>
              <a:rPr lang="nl-BE" altLang="nl-NL" sz="200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Maak gebruik van:</a:t>
            </a:r>
          </a:p>
          <a:p>
            <a:pPr lvl="3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 panose="02020603050405020304" pitchFamily="18" charset="0"/>
              <a:buChar char="–"/>
            </a:pPr>
            <a:r>
              <a:rPr lang="nl-BE" altLang="nl-NL" sz="1600">
                <a:solidFill>
                  <a:srgbClr val="005032"/>
                </a:solidFill>
                <a:latin typeface="Courier New" panose="02070309020205020404" pitchFamily="49" charset="0"/>
              </a:rPr>
              <a:t>Matrix</a:t>
            </a:r>
            <a:r>
              <a:rPr lang="nl-BE" altLang="nl-NL" sz="1600">
                <a:solidFill>
                  <a:srgbClr val="003D64"/>
                </a:solidFill>
                <a:latin typeface="Courier New" panose="02070309020205020404" pitchFamily="49" charset="0"/>
              </a:rPr>
              <a:t> </a:t>
            </a:r>
            <a:r>
              <a:rPr lang="nl-BE" altLang="nl-NL" sz="1600" b="1">
                <a:solidFill>
                  <a:srgbClr val="000000"/>
                </a:solidFill>
                <a:latin typeface="Courier New" panose="02070309020205020404" pitchFamily="49" charset="0"/>
              </a:rPr>
              <a:t>translate</a:t>
            </a:r>
            <a:r>
              <a:rPr lang="nl-BE" altLang="nl-NL" sz="160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nl-BE" altLang="nl-NL" sz="1600" b="1">
                <a:solidFill>
                  <a:srgbClr val="7F0055"/>
                </a:solidFill>
                <a:latin typeface="Courier New" panose="02070309020205020404" pitchFamily="49" charset="0"/>
              </a:rPr>
              <a:t>const </a:t>
            </a:r>
            <a:r>
              <a:rPr lang="nl-BE" altLang="nl-NL" sz="1600">
                <a:solidFill>
                  <a:srgbClr val="005032"/>
                </a:solidFill>
                <a:latin typeface="Courier New" panose="02070309020205020404" pitchFamily="49" charset="0"/>
              </a:rPr>
              <a:t>Vector3D &amp;</a:t>
            </a:r>
            <a:r>
              <a:rPr lang="nl-BE" altLang="nl-NL" sz="1600">
                <a:solidFill>
                  <a:srgbClr val="000000"/>
                </a:solidFill>
                <a:latin typeface="Courier New" panose="02070309020205020404" pitchFamily="49" charset="0"/>
              </a:rPr>
              <a:t>vector);</a:t>
            </a:r>
          </a:p>
          <a:p>
            <a:pPr lvl="3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 panose="02020603050405020304" pitchFamily="18" charset="0"/>
              <a:buChar char="–"/>
            </a:pPr>
            <a:r>
              <a:rPr lang="nl-BE" altLang="nl-NL" sz="1600" b="1">
                <a:solidFill>
                  <a:srgbClr val="7F0055"/>
                </a:solidFill>
                <a:latin typeface="Courier New" panose="02070309020205020404" pitchFamily="49" charset="0"/>
              </a:rPr>
              <a:t>void</a:t>
            </a:r>
            <a:r>
              <a:rPr lang="nl-BE" altLang="nl-NL" sz="16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nl-BE" altLang="nl-NL" sz="1600" b="1">
                <a:solidFill>
                  <a:srgbClr val="000000"/>
                </a:solidFill>
                <a:latin typeface="Courier New" panose="02070309020205020404" pitchFamily="49" charset="0"/>
              </a:rPr>
              <a:t>applyTransformation</a:t>
            </a:r>
            <a:r>
              <a:rPr lang="nl-BE" altLang="nl-NL" sz="160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br>
              <a:rPr lang="nl-BE" altLang="nl-NL" sz="160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nl-BE" altLang="nl-NL" sz="160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nl-BE" altLang="nl-NL" sz="1600">
                <a:solidFill>
                  <a:srgbClr val="005032"/>
                </a:solidFill>
                <a:latin typeface="Courier New" panose="02070309020205020404" pitchFamily="49" charset="0"/>
              </a:rPr>
              <a:t>Figure </a:t>
            </a:r>
            <a:r>
              <a:rPr lang="nl-BE" altLang="nl-NL" sz="1600">
                <a:solidFill>
                  <a:srgbClr val="000000"/>
                </a:solidFill>
                <a:latin typeface="Courier New" panose="02070309020205020404" pitchFamily="49" charset="0"/>
              </a:rPr>
              <a:t>&amp;, </a:t>
            </a:r>
            <a:r>
              <a:rPr lang="nl-BE" altLang="nl-NL" sz="1600" b="1">
                <a:solidFill>
                  <a:srgbClr val="7F0055"/>
                </a:solidFill>
                <a:latin typeface="Courier New" panose="02070309020205020404" pitchFamily="49" charset="0"/>
              </a:rPr>
              <a:t>const</a:t>
            </a:r>
            <a:r>
              <a:rPr lang="nl-BE" altLang="nl-NL" sz="160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nl-BE" altLang="nl-NL" sz="1600">
                <a:solidFill>
                  <a:srgbClr val="005032"/>
                </a:solidFill>
                <a:latin typeface="Courier New" panose="02070309020205020404" pitchFamily="49" charset="0"/>
              </a:rPr>
              <a:t>Matrix </a:t>
            </a:r>
            <a:r>
              <a:rPr lang="nl-BE" altLang="nl-NL" sz="1600">
                <a:solidFill>
                  <a:srgbClr val="000000"/>
                </a:solidFill>
                <a:latin typeface="Courier New" panose="02070309020205020404" pitchFamily="49" charset="0"/>
              </a:rPr>
              <a:t>&amp;);</a:t>
            </a:r>
          </a:p>
          <a:p>
            <a:pPr lvl="2" indent="-227013">
              <a:lnSpc>
                <a:spcPct val="81000"/>
              </a:lnSpc>
              <a:spcAft>
                <a:spcPts val="850"/>
              </a:spcAft>
              <a:buClrTx/>
              <a:buFontTx/>
              <a:buNone/>
            </a:pPr>
            <a:endParaRPr lang="nl-BE" altLang="nl-NL" sz="2000">
              <a:solidFill>
                <a:srgbClr val="003D64"/>
              </a:solidFill>
              <a:latin typeface="FreeSans" pitchFamily="32" charset="0"/>
              <a:cs typeface="WenQuanYi Zen Hei" charset="0"/>
            </a:endParaRPr>
          </a:p>
          <a:p>
            <a:pPr lvl="2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 panose="02020603050405020304" pitchFamily="18" charset="0"/>
              <a:buChar char="•"/>
            </a:pPr>
            <a:r>
              <a:rPr lang="nl-BE" altLang="nl-NL" sz="200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Na translatie moet P’</a:t>
            </a:r>
            <a:r>
              <a:rPr lang="nl-BE" altLang="nl-NL" sz="2000" baseline="-2500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i</a:t>
            </a:r>
            <a:r>
              <a:rPr lang="nl-BE" altLang="nl-NL" sz="200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 samenvallen </a:t>
            </a:r>
            <a:br>
              <a:rPr lang="nl-BE" altLang="nl-NL" sz="200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</a:br>
            <a:r>
              <a:rPr lang="nl-BE" altLang="nl-NL" sz="200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met P</a:t>
            </a:r>
            <a:r>
              <a:rPr lang="nl-BE" altLang="nl-NL" sz="2000" baseline="-2500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i</a:t>
            </a:r>
          </a:p>
          <a:p>
            <a:pPr lvl="3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 panose="02020603050405020304" pitchFamily="18" charset="0"/>
              <a:buChar char="–"/>
            </a:pPr>
            <a:r>
              <a:rPr lang="nl-BE" altLang="nl-NL" sz="200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Verschuif over vector:</a:t>
            </a:r>
          </a:p>
          <a:p>
            <a:pPr lvl="4">
              <a:lnSpc>
                <a:spcPct val="81000"/>
              </a:lnSpc>
              <a:spcAft>
                <a:spcPts val="288"/>
              </a:spcAft>
              <a:buClrTx/>
              <a:buFontTx/>
              <a:buNone/>
            </a:pPr>
            <a:br>
              <a:rPr lang="nl-BE" altLang="nl-NL" sz="200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</a:br>
            <a:endParaRPr lang="nl-BE" altLang="nl-NL" sz="2000">
              <a:solidFill>
                <a:srgbClr val="003D64"/>
              </a:solidFill>
              <a:latin typeface="FreeSans" pitchFamily="32" charset="0"/>
              <a:cs typeface="WenQuanYi Zen Hei" charset="0"/>
            </a:endParaRPr>
          </a:p>
          <a:p>
            <a:pPr lvl="3" indent="-227013">
              <a:lnSpc>
                <a:spcPct val="81000"/>
              </a:lnSpc>
              <a:spcAft>
                <a:spcPts val="575"/>
              </a:spcAft>
              <a:buClrTx/>
              <a:buFontTx/>
              <a:buNone/>
            </a:pPr>
            <a:endParaRPr lang="nl-BE" altLang="nl-NL" sz="2000">
              <a:solidFill>
                <a:srgbClr val="003D64"/>
              </a:solidFill>
              <a:latin typeface="FreeSans" pitchFamily="32" charset="0"/>
              <a:cs typeface="WenQuanYi Zen Hei" charset="0"/>
            </a:endParaRPr>
          </a:p>
          <a:p>
            <a:pPr lvl="3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 panose="02020603050405020304" pitchFamily="18" charset="0"/>
              <a:buChar char="–"/>
            </a:pPr>
            <a:r>
              <a:rPr lang="nl-BE" altLang="nl-NL" sz="200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Transformatiematrix: </a:t>
            </a:r>
          </a:p>
          <a:p>
            <a:pPr lvl="4" indent="-225425"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Font typeface="Arial" panose="020B0604020202020204" pitchFamily="34" charset="0"/>
              <a:buChar char="-"/>
            </a:pPr>
            <a:r>
              <a:rPr lang="nl-BE" altLang="nl-NL" sz="200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 </a:t>
            </a:r>
          </a:p>
          <a:p>
            <a:pPr lvl="4">
              <a:lnSpc>
                <a:spcPct val="81000"/>
              </a:lnSpc>
              <a:spcAft>
                <a:spcPts val="288"/>
              </a:spcAft>
              <a:buClrTx/>
              <a:buFontTx/>
              <a:buNone/>
            </a:pPr>
            <a:endParaRPr lang="nl-BE" altLang="nl-NL" sz="2000">
              <a:solidFill>
                <a:srgbClr val="003D64"/>
              </a:solidFill>
              <a:latin typeface="FreeSans" pitchFamily="32" charset="0"/>
              <a:cs typeface="WenQuanYi Zen Hei" charset="0"/>
            </a:endParaRPr>
          </a:p>
        </p:txBody>
      </p:sp>
      <p:sp>
        <p:nvSpPr>
          <p:cNvPr id="9219" name="Text Box 3">
            <a:extLst>
              <a:ext uri="{FF2B5EF4-FFF2-40B4-BE49-F238E27FC236}">
                <a16:creationId xmlns:a16="http://schemas.microsoft.com/office/drawing/2014/main" id="{FAF5553D-CABA-4F4D-A83F-16A51C921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9588" y="7199313"/>
            <a:ext cx="5221287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lnSpc>
                <a:spcPct val="108000"/>
              </a:lnSpc>
              <a:buClrTx/>
              <a:buFontTx/>
              <a:buNone/>
            </a:pPr>
            <a:r>
              <a:rPr lang="en-US" altLang="nl-NL" sz="1400" i="1">
                <a:latin typeface="FreeSans" pitchFamily="32" charset="0"/>
                <a:cs typeface="WenQuanYi Zen Hei" charset="0"/>
              </a:rPr>
              <a:t>Practicum Computer Graphics: 3D-Fractalen</a:t>
            </a:r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3DE2EC47-0E51-4484-9DD9-4034FFDA3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0263" y="7199313"/>
            <a:ext cx="1068387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>
              <a:lnSpc>
                <a:spcPct val="108000"/>
              </a:lnSpc>
              <a:buClrTx/>
              <a:buFontTx/>
              <a:buNone/>
            </a:pPr>
            <a:fld id="{A32C50D8-A75B-4A06-80B9-790CAE5EBE7C}" type="slidenum">
              <a:rPr lang="en-GB" altLang="nl-NL" sz="1400">
                <a:latin typeface="FreeSans" pitchFamily="32" charset="0"/>
              </a:rPr>
              <a:pPr eaLnBrk="1">
                <a:lnSpc>
                  <a:spcPct val="108000"/>
                </a:lnSpc>
                <a:buClrTx/>
                <a:buFontTx/>
                <a:buNone/>
              </a:pPr>
              <a:t>5</a:t>
            </a:fld>
            <a:endParaRPr lang="en-GB" altLang="nl-NL" sz="1400">
              <a:latin typeface="FreeSans" pitchFamily="32" charset="0"/>
            </a:endParaRPr>
          </a:p>
        </p:txBody>
      </p:sp>
      <p:sp>
        <p:nvSpPr>
          <p:cNvPr id="9221" name="AutoShape 5">
            <a:extLst>
              <a:ext uri="{FF2B5EF4-FFF2-40B4-BE49-F238E27FC236}">
                <a16:creationId xmlns:a16="http://schemas.microsoft.com/office/drawing/2014/main" id="{65EC8FC1-F111-4DBE-B828-F397EEB52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0" y="3851275"/>
            <a:ext cx="714375" cy="714375"/>
          </a:xfrm>
          <a:prstGeom prst="cube">
            <a:avLst>
              <a:gd name="adj" fmla="val 25000"/>
            </a:avLst>
          </a:prstGeom>
          <a:solidFill>
            <a:srgbClr val="FFC000"/>
          </a:solidFill>
          <a:ln w="381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9222" name="AutoShape 6">
            <a:extLst>
              <a:ext uri="{FF2B5EF4-FFF2-40B4-BE49-F238E27FC236}">
                <a16:creationId xmlns:a16="http://schemas.microsoft.com/office/drawing/2014/main" id="{40C91984-7D22-4545-869B-A522398B4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0" y="2708275"/>
            <a:ext cx="714375" cy="714375"/>
          </a:xfrm>
          <a:prstGeom prst="cube">
            <a:avLst>
              <a:gd name="adj" fmla="val 25000"/>
            </a:avLst>
          </a:prstGeom>
          <a:solidFill>
            <a:srgbClr val="FFC000"/>
          </a:solidFill>
          <a:ln w="38160" cap="sq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9223" name="Text Box 7">
            <a:extLst>
              <a:ext uri="{FF2B5EF4-FFF2-40B4-BE49-F238E27FC236}">
                <a16:creationId xmlns:a16="http://schemas.microsoft.com/office/drawing/2014/main" id="{04D5F8B7-15B5-4470-B2D0-65EB00E76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4200" y="2636838"/>
            <a:ext cx="36195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>
              <a:lnSpc>
                <a:spcPct val="93000"/>
              </a:lnSpc>
              <a:buClrTx/>
              <a:buFontTx/>
              <a:buNone/>
            </a:pPr>
            <a:r>
              <a:rPr lang="nl-BE" altLang="nl-NL">
                <a:solidFill>
                  <a:srgbClr val="000000"/>
                </a:solidFill>
              </a:rPr>
              <a:t>P</a:t>
            </a:r>
            <a:r>
              <a:rPr lang="nl-BE" altLang="nl-NL" baseline="-25000">
                <a:solidFill>
                  <a:srgbClr val="000000"/>
                </a:solidFill>
              </a:rPr>
              <a:t>i</a:t>
            </a:r>
          </a:p>
        </p:txBody>
      </p:sp>
      <p:sp>
        <p:nvSpPr>
          <p:cNvPr id="9224" name="Text Box 8">
            <a:extLst>
              <a:ext uri="{FF2B5EF4-FFF2-40B4-BE49-F238E27FC236}">
                <a16:creationId xmlns:a16="http://schemas.microsoft.com/office/drawing/2014/main" id="{E78EF6F8-8BAB-4DB6-ACDF-8552544F4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2788" y="3779838"/>
            <a:ext cx="41275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>
              <a:lnSpc>
                <a:spcPct val="93000"/>
              </a:lnSpc>
              <a:buClrTx/>
              <a:buFontTx/>
              <a:buNone/>
            </a:pPr>
            <a:r>
              <a:rPr lang="nl-BE" altLang="nl-NL">
                <a:solidFill>
                  <a:srgbClr val="000000"/>
                </a:solidFill>
              </a:rPr>
              <a:t>P’</a:t>
            </a:r>
            <a:r>
              <a:rPr lang="nl-BE" altLang="nl-NL" baseline="-25000">
                <a:solidFill>
                  <a:srgbClr val="000000"/>
                </a:solidFill>
              </a:rPr>
              <a:t>i</a:t>
            </a:r>
          </a:p>
        </p:txBody>
      </p:sp>
      <p:sp>
        <p:nvSpPr>
          <p:cNvPr id="9225" name="Rectangle 9">
            <a:extLst>
              <a:ext uri="{FF2B5EF4-FFF2-40B4-BE49-F238E27FC236}">
                <a16:creationId xmlns:a16="http://schemas.microsoft.com/office/drawing/2014/main" id="{AFE69E43-1500-43C7-9C10-75DA66E3E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9226" name="Rectangle 10">
            <a:extLst>
              <a:ext uri="{FF2B5EF4-FFF2-40B4-BE49-F238E27FC236}">
                <a16:creationId xmlns:a16="http://schemas.microsoft.com/office/drawing/2014/main" id="{98A7E772-5D12-4BAC-ADDA-21CEDCA4B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202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F2173F3D-B6F5-4D65-AFDC-FBAD89260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3E021A3C-89CD-43FF-84A1-EC5D50480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202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E6830AA7-05A3-4E92-99EE-46DFB59D0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9230" name="Rectangle 14">
            <a:extLst>
              <a:ext uri="{FF2B5EF4-FFF2-40B4-BE49-F238E27FC236}">
                <a16:creationId xmlns:a16="http://schemas.microsoft.com/office/drawing/2014/main" id="{2F634279-23F9-4ECF-BC76-400637EDA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202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9231" name="Rectangle 15">
            <a:extLst>
              <a:ext uri="{FF2B5EF4-FFF2-40B4-BE49-F238E27FC236}">
                <a16:creationId xmlns:a16="http://schemas.microsoft.com/office/drawing/2014/main" id="{EE25B030-8986-4B88-B5FD-2BD46F361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9232" name="Rectangle 16">
            <a:extLst>
              <a:ext uri="{FF2B5EF4-FFF2-40B4-BE49-F238E27FC236}">
                <a16:creationId xmlns:a16="http://schemas.microsoft.com/office/drawing/2014/main" id="{11549E5E-70B9-4A80-AA91-43948F36C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0100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9233" name="Rectangle 17">
            <a:extLst>
              <a:ext uri="{FF2B5EF4-FFF2-40B4-BE49-F238E27FC236}">
                <a16:creationId xmlns:a16="http://schemas.microsoft.com/office/drawing/2014/main" id="{3A2AA1D1-EEDD-4E4C-A72B-385F73E44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9234" name="Rectangle 18">
            <a:extLst>
              <a:ext uri="{FF2B5EF4-FFF2-40B4-BE49-F238E27FC236}">
                <a16:creationId xmlns:a16="http://schemas.microsoft.com/office/drawing/2014/main" id="{666352F2-C0DF-454C-95ED-1E9AD27E0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77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9235" name="Rectangle 19">
            <a:extLst>
              <a:ext uri="{FF2B5EF4-FFF2-40B4-BE49-F238E27FC236}">
                <a16:creationId xmlns:a16="http://schemas.microsoft.com/office/drawing/2014/main" id="{E2EFBCD0-077F-4FA8-BA46-B78D459F3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pic>
        <p:nvPicPr>
          <p:cNvPr id="9236" name="Picture 20">
            <a:extLst>
              <a:ext uri="{FF2B5EF4-FFF2-40B4-BE49-F238E27FC236}">
                <a16:creationId xmlns:a16="http://schemas.microsoft.com/office/drawing/2014/main" id="{9DB359E7-21E9-4C0B-922D-0E541F95B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5780088"/>
            <a:ext cx="1857375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237" name="Rectangle 21">
            <a:extLst>
              <a:ext uri="{FF2B5EF4-FFF2-40B4-BE49-F238E27FC236}">
                <a16:creationId xmlns:a16="http://schemas.microsoft.com/office/drawing/2014/main" id="{D0AB9312-565C-41DC-B3D8-D59B23A38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0100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9238" name="Rectangle 22">
            <a:extLst>
              <a:ext uri="{FF2B5EF4-FFF2-40B4-BE49-F238E27FC236}">
                <a16:creationId xmlns:a16="http://schemas.microsoft.com/office/drawing/2014/main" id="{8E64BAA9-C18F-48B8-9317-F599D60FF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9239" name="Rectangle 23">
            <a:extLst>
              <a:ext uri="{FF2B5EF4-FFF2-40B4-BE49-F238E27FC236}">
                <a16:creationId xmlns:a16="http://schemas.microsoft.com/office/drawing/2014/main" id="{503A8EC7-CA1E-4537-BD74-E427B0F0F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77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9240" name="Rectangle 24">
            <a:extLst>
              <a:ext uri="{FF2B5EF4-FFF2-40B4-BE49-F238E27FC236}">
                <a16:creationId xmlns:a16="http://schemas.microsoft.com/office/drawing/2014/main" id="{B5FE1F3B-B85B-41D4-AA1E-C9C50EEAC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pic>
        <p:nvPicPr>
          <p:cNvPr id="9241" name="Picture 25">
            <a:extLst>
              <a:ext uri="{FF2B5EF4-FFF2-40B4-BE49-F238E27FC236}">
                <a16:creationId xmlns:a16="http://schemas.microsoft.com/office/drawing/2014/main" id="{635B2865-244B-40BD-84DC-D8329F85E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4637088"/>
            <a:ext cx="1838325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242" name="Rectangle 26">
            <a:extLst>
              <a:ext uri="{FF2B5EF4-FFF2-40B4-BE49-F238E27FC236}">
                <a16:creationId xmlns:a16="http://schemas.microsoft.com/office/drawing/2014/main" id="{386CEEA6-2D4E-4842-91B3-BA368BF0C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77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9243" name="AutoShape 27">
            <a:extLst>
              <a:ext uri="{FF2B5EF4-FFF2-40B4-BE49-F238E27FC236}">
                <a16:creationId xmlns:a16="http://schemas.microsoft.com/office/drawing/2014/main" id="{273C6479-A3EB-4B89-BE88-62AB119C7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500" y="2708275"/>
            <a:ext cx="3000375" cy="3000375"/>
          </a:xfrm>
          <a:prstGeom prst="cube">
            <a:avLst>
              <a:gd name="adj" fmla="val 25000"/>
            </a:avLst>
          </a:prstGeom>
          <a:noFill/>
          <a:ln w="38160" cap="sq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cxnSp>
        <p:nvCxnSpPr>
          <p:cNvPr id="9244" name="AutoShape 28">
            <a:extLst>
              <a:ext uri="{FF2B5EF4-FFF2-40B4-BE49-F238E27FC236}">
                <a16:creationId xmlns:a16="http://schemas.microsoft.com/office/drawing/2014/main" id="{5A3FDF74-F8FE-4223-9ECD-9B82C88A692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396288" y="2708275"/>
            <a:ext cx="1143000" cy="1143000"/>
          </a:xfrm>
          <a:prstGeom prst="straightConnector1">
            <a:avLst/>
          </a:prstGeom>
          <a:noFill/>
          <a:ln w="57240" cap="sq">
            <a:solidFill>
              <a:srgbClr val="000000"/>
            </a:solidFill>
            <a:prstDash val="sysDot"/>
            <a:miter lim="800000"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1" dur="500"/>
                                        <p:tgtEl>
                                          <p:spTgt spid="9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6" presetClass="path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1357E-6 -4.07477E-7 L 0.1129 -0.15228">
                                      <p:cBhvr additive="repl">
                                        <p:cTn id="37" dur="2000" fill="hold"/>
                                        <p:tgtEl>
                                          <p:spTgt spid="922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" presetClass="exit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0" presetClass="exit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 additive="repl">
                                        <p:cTn id="45" dur="1000"/>
                                        <p:tgtEl>
                                          <p:spTgt spid="9244"/>
                                        </p:tgtEl>
                                      </p:cBhvr>
                                    </p:animEffect>
                                    <p:set>
                                      <p:cBhvr additive="repl"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B9FD1F5-EC13-4A67-A325-1D4E14D5EEB1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rPr lang="en-US" altLang="nl-NL"/>
              <a:t>Practicum Computer Graphics: 3D-Fractalen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E001F7-2376-4083-8084-A3A19C7D2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912" y="2065337"/>
            <a:ext cx="3501601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057C226-6DD6-4D04-9FD6-ED47A9F84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112" y="2065337"/>
            <a:ext cx="4333875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DD6490-DE70-496A-8F1A-FEC30CB8D2F7}"/>
              </a:ext>
            </a:extLst>
          </p:cNvPr>
          <p:cNvSpPr txBox="1"/>
          <p:nvPr/>
        </p:nvSpPr>
        <p:spPr>
          <a:xfrm>
            <a:off x="1799681" y="1417637"/>
            <a:ext cx="6224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>
                <a:solidFill>
                  <a:srgbClr val="002060"/>
                </a:solidFill>
              </a:rPr>
              <a:t>Mengerspons                                                        Bucky ball</a:t>
            </a:r>
          </a:p>
        </p:txBody>
      </p:sp>
    </p:spTree>
    <p:extLst>
      <p:ext uri="{BB962C8B-B14F-4D97-AF65-F5344CB8AC3E}">
        <p14:creationId xmlns:p14="http://schemas.microsoft.com/office/powerpoint/2010/main" val="280493216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toorthema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nl-NL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nl-NL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lnDef>
  </a:objectDefaults>
  <a:extraClrSchemeLst>
    <a:extraClrScheme>
      <a:clrScheme name="Kantoorthem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antoorthem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antoorthem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antoorthem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antoorthem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antoorthem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antoorthem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them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toorthema">
      <a:majorFont>
        <a:latin typeface="FreeSans"/>
        <a:ea typeface="ＭＳ Ｐゴシック"/>
        <a:cs typeface=""/>
      </a:majorFont>
      <a:minorFont>
        <a:latin typeface="FreeSan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nl-NL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nl-NL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lnDef>
  </a:objectDefaults>
  <a:extraClrSchemeLst>
    <a:extraClrScheme>
      <a:clrScheme name="Kantoorthem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antoorthem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antoorthem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antoorthem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antoorthem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antoorthem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antoorthem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329</Words>
  <Application>Microsoft Macintosh PowerPoint</Application>
  <PresentationFormat>Custom</PresentationFormat>
  <Paragraphs>80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Courier New</vt:lpstr>
      <vt:lpstr>FreeSans</vt:lpstr>
      <vt:lpstr>Times New Roman</vt:lpstr>
      <vt:lpstr>Verdana</vt:lpstr>
      <vt:lpstr>WenQuanYi Zen Hei</vt:lpstr>
      <vt:lpstr>Kantoorthema</vt:lpstr>
      <vt:lpstr>Kantoorthema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goes here</dc:title>
  <cp:lastModifiedBy>Tim Apers</cp:lastModifiedBy>
  <cp:revision>575</cp:revision>
  <cp:lastPrinted>1601-01-01T00:00:00Z</cp:lastPrinted>
  <dcterms:created xsi:type="dcterms:W3CDTF">2011-10-06T12:04:05Z</dcterms:created>
  <dcterms:modified xsi:type="dcterms:W3CDTF">2026-04-14T12:06:24Z</dcterms:modified>
</cp:coreProperties>
</file>